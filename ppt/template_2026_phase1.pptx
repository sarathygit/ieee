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6"/>
  </p:notesMasterIdLst>
  <p:sldIdLst>
    <p:sldId id="256" r:id="rId2"/>
    <p:sldId id="257" r:id="rId3"/>
    <p:sldId id="258" r:id="rId4"/>
    <p:sldId id="259" r:id="rId5"/>
    <p:sldId id="260" r:id="rId6"/>
    <p:sldId id="276" r:id="rId7"/>
    <p:sldId id="266" r:id="rId8"/>
    <p:sldId id="267" r:id="rId9"/>
    <p:sldId id="268" r:id="rId10"/>
    <p:sldId id="269" r:id="rId11"/>
    <p:sldId id="270" r:id="rId12"/>
    <p:sldId id="271" r:id="rId13"/>
    <p:sldId id="272" r:id="rId14"/>
    <p:sldId id="274" r:id="rId1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90951E-888E-4E4A-AB0E-B8263742497D}">
  <a:tblStyle styleId="{CB90951E-888E-4E4A-AB0E-B8263742497D}" styleName="Table_0">
    <a:wholeTbl>
      <a:tcTxStyle b="off" i="off">
        <a:font>
          <a:latin typeface="Calibri"/>
          <a:ea typeface="Calibri"/>
          <a:cs typeface="Calibri"/>
        </a:font>
        <a:schemeClr val="dk1"/>
      </a:tcTxStyle>
      <a:tcStyle>
        <a:tcBdr>
          <a:left>
            <a:ln w="12700" cap="flat" cmpd="sng">
              <a:solidFill>
                <a:schemeClr val="accent3"/>
              </a:solidFill>
              <a:prstDash val="solid"/>
              <a:round/>
              <a:headEnd type="none" w="sm" len="sm"/>
              <a:tailEnd type="none" w="sm" len="sm"/>
            </a:ln>
          </a:left>
          <a:right>
            <a:ln w="12700" cap="flat" cmpd="sng">
              <a:solidFill>
                <a:schemeClr val="accent3"/>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12700" cap="flat" cmpd="sng">
              <a:solidFill>
                <a:schemeClr val="accent3"/>
              </a:solidFill>
              <a:prstDash val="solid"/>
              <a:round/>
              <a:headEnd type="none" w="sm" len="sm"/>
              <a:tailEnd type="none" w="sm" len="sm"/>
            </a:ln>
          </a:insideH>
          <a:insideV>
            <a:ln w="12700"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20000"/>
            </a:schemeClr>
          </a:solidFill>
        </a:fill>
      </a:tcStyle>
    </a:band1H>
    <a:band2H>
      <a:tcTxStyle/>
      <a:tcStyle>
        <a:tcBdr/>
      </a:tcStyle>
    </a:band2H>
    <a:band1V>
      <a:tcTxStyle/>
      <a:tcStyle>
        <a:tcBdr/>
        <a:fill>
          <a:solidFill>
            <a:schemeClr val="accent3">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3"/>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3"/>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E43DB06B-603F-4C97-AB98-BA22BC9FC4E0}"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790" y="7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f95b3139f2_0_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g3f95b3139f2_0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f95b3139f2_0_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g3f95b3139f2_0_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 name="Google Shape;20;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 name="Google Shape;26;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 name="Google Shape;43;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4" name="Google Shape;44;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2" name="Google Shape;52;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3" name="Google Shape;53;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3" name="Google Shape;63;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4" name="Google Shape;6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0"/>
          <p:cNvSpPr>
            <a:spLocks noGrp="1"/>
          </p:cNvSpPr>
          <p:nvPr>
            <p:ph type="pic" idx="2"/>
          </p:nvPr>
        </p:nvSpPr>
        <p:spPr>
          <a:xfrm>
            <a:off x="1792288" y="612775"/>
            <a:ext cx="5486400" cy="4114800"/>
          </a:xfrm>
          <a:prstGeom prst="rect">
            <a:avLst/>
          </a:prstGeom>
          <a:noFill/>
          <a:ln>
            <a:noFill/>
          </a:ln>
        </p:spPr>
      </p:sp>
      <p:sp>
        <p:nvSpPr>
          <p:cNvPr id="70" name="Google Shape;70;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1" name="Google Shape;71;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86"/>
        <p:cNvGrpSpPr/>
        <p:nvPr/>
      </p:nvGrpSpPr>
      <p:grpSpPr>
        <a:xfrm>
          <a:off x="0" y="0"/>
          <a:ext cx="0" cy="0"/>
          <a:chOff x="0" y="0"/>
          <a:chExt cx="0" cy="0"/>
        </a:xfrm>
      </p:grpSpPr>
      <p:sp>
        <p:nvSpPr>
          <p:cNvPr id="87" name="Google Shape;87;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13"/>
          <p:cNvSpPr txBox="1">
            <a:spLocks noGrp="1"/>
          </p:cNvSpPr>
          <p:nvPr>
            <p:ph type="dt" idx="10"/>
          </p:nvPr>
        </p:nvSpPr>
        <p:spPr>
          <a:xfrm>
            <a:off x="457200" y="6356350"/>
            <a:ext cx="2133600" cy="365125"/>
          </a:xfrm>
          <a:prstGeom prst="rect">
            <a:avLst/>
          </a:prstGeom>
          <a:noFill/>
          <a:ln>
            <a:noFill/>
          </a:ln>
          <a:effectLst>
            <a:outerShdw blurRad="50800" dist="50800" dir="54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solidFill>
                  <a:srgbClr val="97480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97480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974806"/>
                </a:solidFill>
                <a:latin typeface="Calibri"/>
                <a:ea typeface="Calibri"/>
                <a:cs typeface="Calibri"/>
                <a:sym typeface="Calibri"/>
              </a:defRPr>
            </a:lvl1pPr>
            <a:lvl2pPr marL="0" lvl="1" indent="0" algn="r">
              <a:spcBef>
                <a:spcPts val="0"/>
              </a:spcBef>
              <a:buNone/>
              <a:defRPr sz="1200">
                <a:solidFill>
                  <a:srgbClr val="974806"/>
                </a:solidFill>
                <a:latin typeface="Calibri"/>
                <a:ea typeface="Calibri"/>
                <a:cs typeface="Calibri"/>
                <a:sym typeface="Calibri"/>
              </a:defRPr>
            </a:lvl2pPr>
            <a:lvl3pPr marL="0" lvl="2" indent="0" algn="r">
              <a:spcBef>
                <a:spcPts val="0"/>
              </a:spcBef>
              <a:buNone/>
              <a:defRPr sz="1200">
                <a:solidFill>
                  <a:srgbClr val="974806"/>
                </a:solidFill>
                <a:latin typeface="Calibri"/>
                <a:ea typeface="Calibri"/>
                <a:cs typeface="Calibri"/>
                <a:sym typeface="Calibri"/>
              </a:defRPr>
            </a:lvl3pPr>
            <a:lvl4pPr marL="0" lvl="3" indent="0" algn="r">
              <a:spcBef>
                <a:spcPts val="0"/>
              </a:spcBef>
              <a:buNone/>
              <a:defRPr sz="1200">
                <a:solidFill>
                  <a:srgbClr val="974806"/>
                </a:solidFill>
                <a:latin typeface="Calibri"/>
                <a:ea typeface="Calibri"/>
                <a:cs typeface="Calibri"/>
                <a:sym typeface="Calibri"/>
              </a:defRPr>
            </a:lvl4pPr>
            <a:lvl5pPr marL="0" lvl="4" indent="0" algn="r">
              <a:spcBef>
                <a:spcPts val="0"/>
              </a:spcBef>
              <a:buNone/>
              <a:defRPr sz="1200">
                <a:solidFill>
                  <a:srgbClr val="974806"/>
                </a:solidFill>
                <a:latin typeface="Calibri"/>
                <a:ea typeface="Calibri"/>
                <a:cs typeface="Calibri"/>
                <a:sym typeface="Calibri"/>
              </a:defRPr>
            </a:lvl5pPr>
            <a:lvl6pPr marL="0" lvl="5" indent="0" algn="r">
              <a:spcBef>
                <a:spcPts val="0"/>
              </a:spcBef>
              <a:buNone/>
              <a:defRPr sz="1200">
                <a:solidFill>
                  <a:srgbClr val="974806"/>
                </a:solidFill>
                <a:latin typeface="Calibri"/>
                <a:ea typeface="Calibri"/>
                <a:cs typeface="Calibri"/>
                <a:sym typeface="Calibri"/>
              </a:defRPr>
            </a:lvl6pPr>
            <a:lvl7pPr marL="0" lvl="6" indent="0" algn="r">
              <a:spcBef>
                <a:spcPts val="0"/>
              </a:spcBef>
              <a:buNone/>
              <a:defRPr sz="1200">
                <a:solidFill>
                  <a:srgbClr val="974806"/>
                </a:solidFill>
                <a:latin typeface="Calibri"/>
                <a:ea typeface="Calibri"/>
                <a:cs typeface="Calibri"/>
                <a:sym typeface="Calibri"/>
              </a:defRPr>
            </a:lvl7pPr>
            <a:lvl8pPr marL="0" lvl="7" indent="0" algn="r">
              <a:spcBef>
                <a:spcPts val="0"/>
              </a:spcBef>
              <a:buNone/>
              <a:defRPr sz="1200">
                <a:solidFill>
                  <a:srgbClr val="974806"/>
                </a:solidFill>
                <a:latin typeface="Calibri"/>
                <a:ea typeface="Calibri"/>
                <a:cs typeface="Calibri"/>
                <a:sym typeface="Calibri"/>
              </a:defRPr>
            </a:lvl8pPr>
            <a:lvl9pPr marL="0" lvl="8" indent="0" algn="r">
              <a:spcBef>
                <a:spcPts val="0"/>
              </a:spcBef>
              <a:buNone/>
              <a:defRPr sz="1200">
                <a:solidFill>
                  <a:srgbClr val="97480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
          <p:cNvSpPr/>
          <p:nvPr/>
        </p:nvSpPr>
        <p:spPr>
          <a:xfrm>
            <a:off x="298940" y="177143"/>
            <a:ext cx="8610600" cy="6553200"/>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6" name="Google Shape;16;p1"/>
          <p:cNvCxnSpPr/>
          <p:nvPr/>
        </p:nvCxnSpPr>
        <p:spPr>
          <a:xfrm>
            <a:off x="298940" y="1219200"/>
            <a:ext cx="8610600" cy="1588"/>
          </a:xfrm>
          <a:prstGeom prst="straightConnector1">
            <a:avLst/>
          </a:prstGeom>
          <a:noFill/>
          <a:ln w="25400" cap="flat" cmpd="sng">
            <a:solidFill>
              <a:schemeClr val="dk2"/>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ctrTitle"/>
          </p:nvPr>
        </p:nvSpPr>
        <p:spPr>
          <a:xfrm>
            <a:off x="571500" y="253797"/>
            <a:ext cx="7772400" cy="79972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44061"/>
              </a:buClr>
              <a:buSzPct val="100000"/>
              <a:buFont typeface="Arial"/>
              <a:buNone/>
            </a:pPr>
            <a:br>
              <a:rPr lang="en-US" sz="2000">
                <a:solidFill>
                  <a:srgbClr val="244061"/>
                </a:solidFill>
                <a:latin typeface="Arial"/>
                <a:ea typeface="Arial"/>
                <a:cs typeface="Arial"/>
                <a:sym typeface="Arial"/>
              </a:rPr>
            </a:br>
            <a:br>
              <a:rPr lang="en-US" sz="2400">
                <a:solidFill>
                  <a:srgbClr val="244061"/>
                </a:solidFill>
                <a:latin typeface="Arial"/>
                <a:ea typeface="Arial"/>
                <a:cs typeface="Arial"/>
                <a:sym typeface="Arial"/>
              </a:rPr>
            </a:br>
            <a:endParaRPr sz="2400">
              <a:solidFill>
                <a:srgbClr val="244061"/>
              </a:solidFill>
              <a:latin typeface="Arial"/>
              <a:ea typeface="Arial"/>
              <a:cs typeface="Arial"/>
              <a:sym typeface="Arial"/>
            </a:endParaRPr>
          </a:p>
        </p:txBody>
      </p:sp>
      <p:sp>
        <p:nvSpPr>
          <p:cNvPr id="97" name="Google Shape;97;p14"/>
          <p:cNvSpPr txBox="1">
            <a:spLocks noGrp="1"/>
          </p:cNvSpPr>
          <p:nvPr>
            <p:ph type="subTitle" idx="1"/>
          </p:nvPr>
        </p:nvSpPr>
        <p:spPr>
          <a:xfrm>
            <a:off x="1217428" y="2477946"/>
            <a:ext cx="6709143" cy="885409"/>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lnSpc>
                <a:spcPct val="170000"/>
              </a:lnSpc>
              <a:spcBef>
                <a:spcPts val="0"/>
              </a:spcBef>
              <a:spcAft>
                <a:spcPts val="0"/>
              </a:spcAft>
              <a:buClr>
                <a:srgbClr val="888888"/>
              </a:buClr>
              <a:buSzPct val="100000"/>
              <a:buNone/>
            </a:pPr>
            <a:endParaRPr sz="2800" dirty="0">
              <a:solidFill>
                <a:schemeClr val="dk1"/>
              </a:solidFill>
              <a:latin typeface="Arial"/>
              <a:ea typeface="Arial"/>
              <a:cs typeface="Arial"/>
              <a:sym typeface="Arial"/>
            </a:endParaRPr>
          </a:p>
          <a:p>
            <a:pPr marL="0" lvl="0" indent="0" algn="ctr" rtl="0">
              <a:lnSpc>
                <a:spcPct val="170000"/>
              </a:lnSpc>
              <a:spcBef>
                <a:spcPts val="140"/>
              </a:spcBef>
              <a:spcAft>
                <a:spcPts val="0"/>
              </a:spcAft>
              <a:buClr>
                <a:srgbClr val="888888"/>
              </a:buClr>
              <a:buSzPct val="100000"/>
              <a:buNone/>
            </a:pPr>
            <a:endParaRPr sz="2800" dirty="0">
              <a:solidFill>
                <a:schemeClr val="dk1"/>
              </a:solidFill>
              <a:latin typeface="Arial"/>
              <a:ea typeface="Arial"/>
              <a:cs typeface="Arial"/>
              <a:sym typeface="Arial"/>
            </a:endParaRPr>
          </a:p>
          <a:p>
            <a:pPr marL="0" lvl="0" indent="0" algn="ctr" rtl="0">
              <a:lnSpc>
                <a:spcPct val="170000"/>
              </a:lnSpc>
              <a:spcBef>
                <a:spcPts val="355"/>
              </a:spcBef>
              <a:spcAft>
                <a:spcPts val="0"/>
              </a:spcAft>
              <a:buClr>
                <a:schemeClr val="dk2"/>
              </a:buClr>
              <a:buSzPct val="100000"/>
              <a:buNone/>
            </a:pPr>
            <a:r>
              <a:rPr lang="en-US" sz="7100" dirty="0">
                <a:solidFill>
                  <a:schemeClr val="dk2"/>
                </a:solidFill>
                <a:latin typeface="Arial"/>
                <a:ea typeface="Arial"/>
                <a:cs typeface="Arial"/>
                <a:sym typeface="Arial"/>
              </a:rPr>
              <a:t>MULTIMODAL MEDICINAL PLANT RECOGNITION AND AYURVEDIC KNOWLEDGE REASONING USING VISION TRANSFORMERS AND LLMS</a:t>
            </a:r>
            <a:endParaRPr dirty="0"/>
          </a:p>
        </p:txBody>
      </p:sp>
      <p:sp>
        <p:nvSpPr>
          <p:cNvPr id="98" name="Google Shape;98;p14"/>
          <p:cNvSpPr txBox="1">
            <a:spLocks noGrp="1"/>
          </p:cNvSpPr>
          <p:nvPr>
            <p:ph type="dt" idx="10"/>
          </p:nvPr>
        </p:nvSpPr>
        <p:spPr>
          <a:xfrm>
            <a:off x="457200" y="6356350"/>
            <a:ext cx="2133600" cy="365125"/>
          </a:xfrm>
          <a:prstGeom prst="rect">
            <a:avLst/>
          </a:prstGeom>
          <a:noFill/>
          <a:ln>
            <a:noFill/>
          </a:ln>
          <a:effectLst>
            <a:outerShdw blurRad="50800" dist="50800" dir="5400000" algn="ctr" rotWithShape="0">
              <a:schemeClr val="lt1"/>
            </a:outerShdw>
          </a:effectLst>
        </p:spPr>
        <p:txBody>
          <a:bodyPr spcFirstLastPara="1" wrap="square" lIns="91425" tIns="45700" rIns="91425" bIns="45700" anchor="ctr" anchorCtr="0">
            <a:noAutofit/>
          </a:bodyPr>
          <a:lstStyle/>
          <a:p>
            <a:pPr marL="0" lvl="0" indent="0" algn="l" rtl="0">
              <a:spcBef>
                <a:spcPts val="0"/>
              </a:spcBef>
              <a:spcAft>
                <a:spcPts val="0"/>
              </a:spcAft>
              <a:buNone/>
            </a:pPr>
            <a:r>
              <a:rPr lang="en-US" dirty="0"/>
              <a:t>23 July 2026</a:t>
            </a:r>
            <a:endParaRPr dirty="0"/>
          </a:p>
        </p:txBody>
      </p:sp>
      <p:sp>
        <p:nvSpPr>
          <p:cNvPr id="99" name="Google Shape;9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00" name="Google Shape;10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102" name="Google Shape;102;p14"/>
          <p:cNvSpPr txBox="1"/>
          <p:nvPr/>
        </p:nvSpPr>
        <p:spPr>
          <a:xfrm>
            <a:off x="457200" y="4901084"/>
            <a:ext cx="8381999" cy="1487883"/>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2400"/>
              <a:buFont typeface="Arial"/>
              <a:buNone/>
            </a:pPr>
            <a:r>
              <a:rPr lang="en-US" sz="2400" b="1" u="none" dirty="0">
                <a:solidFill>
                  <a:schemeClr val="dk1"/>
                </a:solidFill>
                <a:latin typeface="Calibri"/>
                <a:ea typeface="Calibri"/>
                <a:cs typeface="Calibri"/>
                <a:sym typeface="Calibri"/>
              </a:rPr>
              <a:t>PROJECT STUDENTS                                                          GUIDE</a:t>
            </a:r>
            <a:endParaRPr lang="en-US" dirty="0"/>
          </a:p>
          <a:p>
            <a:pPr marL="0" marR="0" lvl="0" indent="0" algn="l" rtl="0">
              <a:spcBef>
                <a:spcPts val="400"/>
              </a:spcBef>
              <a:spcAft>
                <a:spcPts val="0"/>
              </a:spcAft>
              <a:buClr>
                <a:schemeClr val="dk1"/>
              </a:buClr>
              <a:buSzPts val="2000"/>
              <a:buFont typeface="Arial"/>
              <a:buNone/>
            </a:pPr>
            <a:r>
              <a:rPr lang="en-US" sz="2000" b="1" u="none" dirty="0">
                <a:solidFill>
                  <a:schemeClr val="dk1"/>
                </a:solidFill>
                <a:latin typeface="Calibri"/>
                <a:ea typeface="Calibri"/>
                <a:cs typeface="Calibri"/>
                <a:sym typeface="Calibri"/>
              </a:rPr>
              <a:t>Name1,  43111027                                                          </a:t>
            </a:r>
            <a:r>
              <a:rPr lang="en-US" sz="2000" b="1" u="none" dirty="0" err="1">
                <a:solidFill>
                  <a:schemeClr val="dk1"/>
                </a:solidFill>
                <a:latin typeface="Calibri"/>
                <a:ea typeface="Calibri"/>
                <a:cs typeface="Calibri"/>
                <a:sym typeface="Calibri"/>
              </a:rPr>
              <a:t>Dr.D.Menaka</a:t>
            </a:r>
            <a:r>
              <a:rPr lang="en-US" sz="2000" b="1" u="none" dirty="0">
                <a:solidFill>
                  <a:schemeClr val="dk1"/>
                </a:solidFill>
                <a:latin typeface="Calibri"/>
                <a:ea typeface="Calibri"/>
                <a:cs typeface="Calibri"/>
                <a:sym typeface="Calibri"/>
              </a:rPr>
              <a:t> M.E.,</a:t>
            </a:r>
            <a:r>
              <a:rPr lang="en-US" sz="2000" b="1" u="none" dirty="0" err="1">
                <a:solidFill>
                  <a:schemeClr val="dk1"/>
                </a:solidFill>
                <a:latin typeface="Calibri"/>
                <a:ea typeface="Calibri"/>
                <a:cs typeface="Calibri"/>
                <a:sym typeface="Calibri"/>
              </a:rPr>
              <a:t>Ph.D</a:t>
            </a:r>
            <a:r>
              <a:rPr lang="en-US" sz="2000" b="1" u="none" dirty="0">
                <a:solidFill>
                  <a:schemeClr val="dk1"/>
                </a:solidFill>
                <a:latin typeface="Calibri"/>
                <a:ea typeface="Calibri"/>
                <a:cs typeface="Calibri"/>
                <a:sym typeface="Calibri"/>
              </a:rPr>
              <a:t>.,                                     Name2, 43110863                                                           Assistant Professor, CSE</a:t>
            </a:r>
            <a:endParaRPr lang="en-US" sz="2000" b="0" u="none" dirty="0">
              <a:solidFill>
                <a:schemeClr val="dk1"/>
              </a:solidFill>
              <a:latin typeface="Calibri"/>
              <a:ea typeface="Calibri"/>
              <a:cs typeface="Calibri"/>
              <a:sym typeface="Calibri"/>
            </a:endParaRPr>
          </a:p>
        </p:txBody>
      </p:sp>
      <p:sp>
        <p:nvSpPr>
          <p:cNvPr id="103" name="Google Shape;103;p14"/>
          <p:cNvSpPr txBox="1"/>
          <p:nvPr/>
        </p:nvSpPr>
        <p:spPr>
          <a:xfrm>
            <a:off x="323848" y="1369442"/>
            <a:ext cx="8763000" cy="13849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chemeClr val="dk1"/>
                </a:solidFill>
                <a:latin typeface="Calibri"/>
                <a:ea typeface="Calibri"/>
                <a:cs typeface="Calibri"/>
                <a:sym typeface="Calibri"/>
              </a:rPr>
              <a:t>DEPARTMENT OF COMPUTER SCIENCE AND ENGINEERING WITH SPECIALIZATION IN DS/AIML/AIR</a:t>
            </a:r>
            <a:endParaRPr dirty="0"/>
          </a:p>
          <a:p>
            <a:pPr marL="0" marR="0" lvl="0" indent="0" algn="ctr" rtl="0">
              <a:spcBef>
                <a:spcPts val="0"/>
              </a:spcBef>
              <a:spcAft>
                <a:spcPts val="0"/>
              </a:spcAft>
              <a:buNone/>
            </a:pPr>
            <a:r>
              <a:rPr lang="en-US" sz="2800" b="1" dirty="0">
                <a:solidFill>
                  <a:schemeClr val="dk1"/>
                </a:solidFill>
                <a:latin typeface="Calibri"/>
                <a:ea typeface="Calibri"/>
                <a:cs typeface="Calibri"/>
                <a:sym typeface="Calibri"/>
              </a:rPr>
              <a:t>PROJECT PHASE-I</a:t>
            </a:r>
            <a:endParaRPr dirty="0"/>
          </a:p>
        </p:txBody>
      </p:sp>
      <p:pic>
        <p:nvPicPr>
          <p:cNvPr id="104" name="Google Shape;104;p14"/>
          <p:cNvPicPr preferRelativeResize="0"/>
          <p:nvPr/>
        </p:nvPicPr>
        <p:blipFill rotWithShape="1">
          <a:blip r:embed="rId3">
            <a:alphaModFix/>
          </a:blip>
          <a:srcRect/>
          <a:stretch/>
        </p:blipFill>
        <p:spPr>
          <a:xfrm>
            <a:off x="571499" y="253797"/>
            <a:ext cx="8267699" cy="9654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AGENDA</a:t>
            </a:r>
            <a:endParaRPr/>
          </a:p>
        </p:txBody>
      </p:sp>
      <p:sp>
        <p:nvSpPr>
          <p:cNvPr id="110" name="Google Shape;110;p15"/>
          <p:cNvSpPr txBox="1">
            <a:spLocks noGrp="1"/>
          </p:cNvSpPr>
          <p:nvPr>
            <p:ph type="body" idx="1"/>
          </p:nvPr>
        </p:nvSpPr>
        <p:spPr>
          <a:xfrm>
            <a:off x="457200" y="1600993"/>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Abstract</a:t>
            </a:r>
            <a:endParaRPr/>
          </a:p>
          <a:p>
            <a:pPr marL="342900" lvl="0" indent="-342900" algn="l" rtl="0">
              <a:spcBef>
                <a:spcPts val="640"/>
              </a:spcBef>
              <a:spcAft>
                <a:spcPts val="0"/>
              </a:spcAft>
              <a:buClr>
                <a:schemeClr val="dk1"/>
              </a:buClr>
              <a:buSzPts val="3200"/>
              <a:buChar char="•"/>
            </a:pPr>
            <a:r>
              <a:rPr lang="en-US"/>
              <a:t>Objective(s)</a:t>
            </a:r>
            <a:endParaRPr/>
          </a:p>
          <a:p>
            <a:pPr marL="342900" lvl="0" indent="-342900" algn="l" rtl="0">
              <a:spcBef>
                <a:spcPts val="640"/>
              </a:spcBef>
              <a:spcAft>
                <a:spcPts val="0"/>
              </a:spcAft>
              <a:buClr>
                <a:schemeClr val="dk1"/>
              </a:buClr>
              <a:buSzPts val="3200"/>
              <a:buChar char="•"/>
            </a:pPr>
            <a:r>
              <a:rPr lang="en-US"/>
              <a:t>Literature Survey</a:t>
            </a:r>
            <a:endParaRPr/>
          </a:p>
          <a:p>
            <a:pPr marL="342900" lvl="0" indent="-342900" algn="l" rtl="0">
              <a:spcBef>
                <a:spcPts val="640"/>
              </a:spcBef>
              <a:spcAft>
                <a:spcPts val="0"/>
              </a:spcAft>
              <a:buClr>
                <a:schemeClr val="dk1"/>
              </a:buClr>
              <a:buSzPts val="3200"/>
              <a:buChar char="•"/>
            </a:pPr>
            <a:r>
              <a:rPr lang="en-US"/>
              <a:t>Inferences from Literature Survey</a:t>
            </a:r>
            <a:endParaRPr/>
          </a:p>
          <a:p>
            <a:pPr marL="342900" lvl="0" indent="-342900" algn="l" rtl="0">
              <a:spcBef>
                <a:spcPts val="640"/>
              </a:spcBef>
              <a:spcAft>
                <a:spcPts val="0"/>
              </a:spcAft>
              <a:buClr>
                <a:schemeClr val="dk1"/>
              </a:buClr>
              <a:buSzPts val="3200"/>
              <a:buChar char="•"/>
            </a:pPr>
            <a:r>
              <a:rPr lang="en-US"/>
              <a:t>Proposed System</a:t>
            </a:r>
            <a:endParaRPr/>
          </a:p>
          <a:p>
            <a:pPr marL="342900" lvl="0" indent="-342900" algn="l" rtl="0">
              <a:spcBef>
                <a:spcPts val="640"/>
              </a:spcBef>
              <a:spcAft>
                <a:spcPts val="0"/>
              </a:spcAft>
              <a:buClr>
                <a:schemeClr val="dk1"/>
              </a:buClr>
              <a:buSzPts val="3200"/>
              <a:buChar char="•"/>
            </a:pPr>
            <a:r>
              <a:rPr lang="en-US"/>
              <a:t>References</a:t>
            </a: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p:txBody>
      </p:sp>
      <p:sp>
        <p:nvSpPr>
          <p:cNvPr id="111" name="Google Shape;11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12" name="Google Shape;11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113" name="Google Shape;11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ABSTRACT</a:t>
            </a:r>
            <a:endParaRPr>
              <a:solidFill>
                <a:srgbClr val="0F243E"/>
              </a:solidFill>
            </a:endParaRPr>
          </a:p>
        </p:txBody>
      </p:sp>
      <p:sp>
        <p:nvSpPr>
          <p:cNvPr id="119" name="Google Shape;119;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6875" lnSpcReduction="10000"/>
          </a:bodyPr>
          <a:lstStyle/>
          <a:p>
            <a:pPr marL="0" lvl="0" indent="0" algn="just" rtl="0">
              <a:lnSpc>
                <a:spcPct val="120000"/>
              </a:lnSpc>
              <a:spcBef>
                <a:spcPts val="0"/>
              </a:spcBef>
              <a:spcAft>
                <a:spcPts val="0"/>
              </a:spcAft>
              <a:buClr>
                <a:schemeClr val="dk1"/>
              </a:buClr>
              <a:buSzPct val="100000"/>
              <a:buNone/>
            </a:pPr>
            <a:r>
              <a:rPr lang="en-US" sz="2000" dirty="0"/>
              <a:t>Medicinal plants play a vital role in </a:t>
            </a:r>
            <a:r>
              <a:rPr lang="en-US" sz="2000" dirty="0" err="1"/>
              <a:t>Ayurvedic</a:t>
            </a:r>
            <a:r>
              <a:rPr lang="en-US" sz="2000" dirty="0"/>
              <a:t> healthcare, but identifying them accurately often requires expert botanical knowledge. This project presents an AI-powered platform that automates medicinal plant identification using a </a:t>
            </a:r>
            <a:r>
              <a:rPr lang="en-US" sz="2000" b="1" dirty="0"/>
              <a:t>Vision Transformer (</a:t>
            </a:r>
            <a:r>
              <a:rPr lang="en-US" sz="2000" b="1" dirty="0" err="1"/>
              <a:t>ViT</a:t>
            </a:r>
            <a:r>
              <a:rPr lang="en-US" sz="2000" b="1" dirty="0"/>
              <a:t>)</a:t>
            </a:r>
            <a:r>
              <a:rPr lang="en-US" sz="2000" dirty="0"/>
              <a:t> model, which accurately recognizes plants from leaf images. Based on the identified plant or a selected disease, the system recommends suitable medicinal plants and provides detailed </a:t>
            </a:r>
            <a:r>
              <a:rPr lang="en-US" sz="2000" dirty="0" err="1"/>
              <a:t>Ayurvedic</a:t>
            </a:r>
            <a:r>
              <a:rPr lang="en-US" sz="2000" dirty="0"/>
              <a:t> medicinal guidance using the </a:t>
            </a:r>
            <a:r>
              <a:rPr lang="en-US" sz="2000" b="1" dirty="0"/>
              <a:t>Google Gemini</a:t>
            </a:r>
            <a:r>
              <a:rPr lang="en-US" sz="2000" dirty="0"/>
              <a:t> Large Language Model. By combining computer vision and generative AI, the proposed system offers an accessible, accurate, and intelligent solution for healthcare, education, and agricultural applications, making medicinal plant knowledge available to a wider audience.</a:t>
            </a:r>
          </a:p>
          <a:p>
            <a:pPr marL="0" lvl="0" indent="0" algn="just" rtl="0">
              <a:lnSpc>
                <a:spcPct val="120000"/>
              </a:lnSpc>
              <a:spcBef>
                <a:spcPts val="0"/>
              </a:spcBef>
              <a:spcAft>
                <a:spcPts val="0"/>
              </a:spcAft>
              <a:buClr>
                <a:schemeClr val="dk1"/>
              </a:buClr>
              <a:buSzPct val="100000"/>
              <a:buNone/>
            </a:pPr>
            <a:endParaRPr lang="en-US" sz="2000" dirty="0"/>
          </a:p>
          <a:p>
            <a:pPr marL="0" indent="0" algn="just">
              <a:lnSpc>
                <a:spcPct val="120000"/>
              </a:lnSpc>
              <a:spcBef>
                <a:spcPts val="0"/>
              </a:spcBef>
              <a:buSzPct val="100000"/>
              <a:buNone/>
            </a:pPr>
            <a:r>
              <a:rPr lang="en-US" sz="2000" b="1" dirty="0">
                <a:latin typeface="Arial" panose="020B0604020202020204" pitchFamily="34" charset="0"/>
                <a:cs typeface="Arial" panose="020B0604020202020204" pitchFamily="34" charset="0"/>
              </a:rPr>
              <a:t>(Elaborate objective of the Work and the advantages of your proposed work should be written as ABSTRACT)</a:t>
            </a:r>
          </a:p>
          <a:p>
            <a:pPr marL="0" lvl="0" indent="0" algn="just" rtl="0">
              <a:lnSpc>
                <a:spcPct val="120000"/>
              </a:lnSpc>
              <a:spcBef>
                <a:spcPts val="0"/>
              </a:spcBef>
              <a:spcAft>
                <a:spcPts val="0"/>
              </a:spcAft>
              <a:buClr>
                <a:schemeClr val="dk1"/>
              </a:buClr>
              <a:buSzPct val="100000"/>
              <a:buNone/>
            </a:pPr>
            <a:endParaRPr sz="2000" dirty="0">
              <a:solidFill>
                <a:srgbClr val="0F243E"/>
              </a:solidFill>
            </a:endParaRPr>
          </a:p>
        </p:txBody>
      </p:sp>
      <p:sp>
        <p:nvSpPr>
          <p:cNvPr id="120" name="Google Shape;12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21" name="Google Shape;12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122" name="Google Shape;12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7"/>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OBJECTIVE(S)</a:t>
            </a:r>
            <a:endParaRPr>
              <a:solidFill>
                <a:srgbClr val="0F243E"/>
              </a:solidFill>
            </a:endParaRPr>
          </a:p>
        </p:txBody>
      </p:sp>
      <p:sp>
        <p:nvSpPr>
          <p:cNvPr id="128" name="Google Shape;128;p17"/>
          <p:cNvSpPr txBox="1">
            <a:spLocks noGrp="1"/>
          </p:cNvSpPr>
          <p:nvPr>
            <p:ph type="body" idx="1"/>
          </p:nvPr>
        </p:nvSpPr>
        <p:spPr>
          <a:xfrm>
            <a:off x="457200" y="1600200"/>
            <a:ext cx="8229600" cy="4603652"/>
          </a:xfrm>
          <a:prstGeom prst="rect">
            <a:avLst/>
          </a:prstGeom>
          <a:noFill/>
          <a:ln>
            <a:noFill/>
          </a:ln>
        </p:spPr>
        <p:txBody>
          <a:bodyPr spcFirstLastPara="1" wrap="square" lIns="91425" tIns="45700" rIns="91425" bIns="45700" anchor="t" anchorCtr="0">
            <a:normAutofit fontScale="81875" lnSpcReduction="20000"/>
          </a:bodyPr>
          <a:lstStyle/>
          <a:p>
            <a:pPr marL="342900" lvl="0" indent="-342900" algn="just" rtl="0">
              <a:lnSpc>
                <a:spcPct val="120000"/>
              </a:lnSpc>
              <a:spcBef>
                <a:spcPts val="0"/>
              </a:spcBef>
              <a:spcAft>
                <a:spcPts val="0"/>
              </a:spcAft>
              <a:buClr>
                <a:schemeClr val="dk1"/>
              </a:buClr>
              <a:buSzPct val="100000"/>
              <a:buChar char="•"/>
            </a:pPr>
            <a:r>
              <a:rPr lang="en-US" sz="2900" dirty="0"/>
              <a:t>Develop an AI-powered system for accurate medicinal plant identification using Vision Transformer.</a:t>
            </a:r>
            <a:endParaRPr sz="2900" dirty="0"/>
          </a:p>
          <a:p>
            <a:pPr marL="342900" lvl="0" indent="-342900" algn="just" rtl="0">
              <a:lnSpc>
                <a:spcPct val="120000"/>
              </a:lnSpc>
              <a:spcBef>
                <a:spcPts val="476"/>
              </a:spcBef>
              <a:spcAft>
                <a:spcPts val="0"/>
              </a:spcAft>
              <a:buClr>
                <a:schemeClr val="dk1"/>
              </a:buClr>
              <a:buSzPct val="100000"/>
              <a:buChar char="•"/>
            </a:pPr>
            <a:r>
              <a:rPr lang="en-US" sz="2900" dirty="0"/>
              <a:t>Build a structured </a:t>
            </a:r>
            <a:r>
              <a:rPr lang="en-US" sz="2900" dirty="0" err="1"/>
              <a:t>Ayurvedic</a:t>
            </a:r>
            <a:r>
              <a:rPr lang="en-US" sz="2900" dirty="0"/>
              <a:t> knowledge base containing medicinal properties, diseases treated, and preparation methods.</a:t>
            </a:r>
            <a:endParaRPr sz="2900" dirty="0"/>
          </a:p>
          <a:p>
            <a:pPr marL="342900" lvl="0" indent="-342900" algn="just" rtl="0">
              <a:lnSpc>
                <a:spcPct val="120000"/>
              </a:lnSpc>
              <a:spcBef>
                <a:spcPts val="476"/>
              </a:spcBef>
              <a:spcAft>
                <a:spcPts val="0"/>
              </a:spcAft>
              <a:buClr>
                <a:schemeClr val="dk1"/>
              </a:buClr>
              <a:buSzPct val="100000"/>
              <a:buChar char="•"/>
            </a:pPr>
            <a:r>
              <a:rPr lang="en-US" sz="2900" dirty="0"/>
              <a:t>Implement disease-based medicinal plant recommendation using a searchable plant database.</a:t>
            </a:r>
            <a:endParaRPr sz="2900" dirty="0"/>
          </a:p>
          <a:p>
            <a:pPr marL="342900" lvl="0" indent="-342900" algn="just" rtl="0">
              <a:lnSpc>
                <a:spcPct val="120000"/>
              </a:lnSpc>
              <a:spcBef>
                <a:spcPts val="476"/>
              </a:spcBef>
              <a:spcAft>
                <a:spcPts val="0"/>
              </a:spcAft>
              <a:buClr>
                <a:schemeClr val="dk1"/>
              </a:buClr>
              <a:buSzPct val="100000"/>
              <a:buChar char="•"/>
            </a:pPr>
            <a:r>
              <a:rPr lang="en-US" sz="2900" dirty="0"/>
              <a:t>Integrate Google Gemini to generate intelligent medicinal recommendations and safety guidelines.</a:t>
            </a:r>
          </a:p>
          <a:p>
            <a:pPr marL="0" indent="0">
              <a:buNone/>
            </a:pPr>
            <a:endParaRPr lang="en-US" b="1" dirty="0"/>
          </a:p>
          <a:p>
            <a:pPr marL="0" indent="0">
              <a:buNone/>
            </a:pPr>
            <a:r>
              <a:rPr lang="en-US" b="1" dirty="0"/>
              <a:t>(Four – Five lines only)</a:t>
            </a:r>
          </a:p>
          <a:p>
            <a:pPr marL="342900" lvl="0" indent="-342900" algn="just" rtl="0">
              <a:lnSpc>
                <a:spcPct val="120000"/>
              </a:lnSpc>
              <a:spcBef>
                <a:spcPts val="476"/>
              </a:spcBef>
              <a:spcAft>
                <a:spcPts val="0"/>
              </a:spcAft>
              <a:buClr>
                <a:schemeClr val="dk1"/>
              </a:buClr>
              <a:buSzPct val="100000"/>
              <a:buChar char="•"/>
            </a:pPr>
            <a:endParaRPr lang="en-US" dirty="0"/>
          </a:p>
          <a:p>
            <a:pPr marL="342900" lvl="0" indent="-342900" algn="just" rtl="0">
              <a:lnSpc>
                <a:spcPct val="120000"/>
              </a:lnSpc>
              <a:spcBef>
                <a:spcPts val="476"/>
              </a:spcBef>
              <a:spcAft>
                <a:spcPts val="0"/>
              </a:spcAft>
              <a:buClr>
                <a:schemeClr val="dk1"/>
              </a:buClr>
              <a:buSzPct val="100000"/>
              <a:buChar char="•"/>
            </a:pPr>
            <a:endParaRPr dirty="0"/>
          </a:p>
        </p:txBody>
      </p:sp>
      <p:sp>
        <p:nvSpPr>
          <p:cNvPr id="129" name="Google Shape;129;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30" name="Google Shape;13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131" name="Google Shape;131;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381000" y="381000"/>
            <a:ext cx="8229600" cy="655500"/>
          </a:xfrm>
          <a:prstGeom prst="rect">
            <a:avLst/>
          </a:prstGeom>
          <a:noFill/>
          <a:ln>
            <a:noFill/>
          </a:ln>
        </p:spPr>
        <p:txBody>
          <a:bodyPr spcFirstLastPara="1" wrap="square" lIns="91425" tIns="45700" rIns="91425" bIns="45700" anchor="ctr" anchorCtr="0">
            <a:normAutofit fontScale="90000"/>
          </a:bodyPr>
          <a:lstStyle/>
          <a:p>
            <a:pPr marL="0" lvl="0" indent="0" rtl="0">
              <a:spcBef>
                <a:spcPts val="0"/>
              </a:spcBef>
              <a:spcAft>
                <a:spcPts val="0"/>
              </a:spcAft>
              <a:buClr>
                <a:schemeClr val="dk1"/>
              </a:buClr>
              <a:buSzPct val="100000"/>
              <a:buFont typeface="Arial"/>
              <a:buNone/>
            </a:pPr>
            <a:r>
              <a:rPr lang="en-US" dirty="0">
                <a:latin typeface="Arial"/>
                <a:ea typeface="Arial"/>
                <a:cs typeface="Arial"/>
                <a:sym typeface="Arial"/>
              </a:rPr>
              <a:t>Base Paper Details</a:t>
            </a:r>
            <a:endParaRPr dirty="0"/>
          </a:p>
        </p:txBody>
      </p:sp>
      <p:sp>
        <p:nvSpPr>
          <p:cNvPr id="137" name="Google Shape;137;p1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38" name="Google Shape;138;p1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139" name="Google Shape;139;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40" name="Google Shape;140;p18"/>
          <p:cNvSpPr txBox="1"/>
          <p:nvPr/>
        </p:nvSpPr>
        <p:spPr>
          <a:xfrm>
            <a:off x="381000" y="1308295"/>
            <a:ext cx="8509782" cy="5289453"/>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400" b="1" dirty="0">
                <a:solidFill>
                  <a:schemeClr val="dk1"/>
                </a:solidFill>
              </a:rPr>
              <a:t>Base Paper Title: </a:t>
            </a:r>
            <a:r>
              <a:rPr lang="en-US" sz="2400" dirty="0" err="1">
                <a:solidFill>
                  <a:schemeClr val="dk1"/>
                </a:solidFill>
              </a:rPr>
              <a:t>HerbGuard</a:t>
            </a:r>
            <a:r>
              <a:rPr lang="en-US" sz="2400" dirty="0">
                <a:solidFill>
                  <a:schemeClr val="dk1"/>
                </a:solidFill>
              </a:rPr>
              <a:t>: An Ensemble Deep Learning Framework With </a:t>
            </a:r>
            <a:r>
              <a:rPr lang="en-US" sz="2400" dirty="0" err="1">
                <a:solidFill>
                  <a:schemeClr val="dk1"/>
                </a:solidFill>
              </a:rPr>
              <a:t>EfficientNet</a:t>
            </a:r>
            <a:r>
              <a:rPr lang="en-US" sz="2400" dirty="0">
                <a:solidFill>
                  <a:schemeClr val="dk1"/>
                </a:solidFill>
              </a:rPr>
              <a:t> and Vision Transformers for Fine-Grained Classification of Medicinal and Poisonous Plants</a:t>
            </a:r>
            <a:endParaRPr sz="2400" dirty="0">
              <a:solidFill>
                <a:schemeClr val="dk1"/>
              </a:solidFill>
            </a:endParaRPr>
          </a:p>
          <a:p>
            <a:pPr marL="0" lvl="0" indent="0" algn="l" rtl="0">
              <a:lnSpc>
                <a:spcPct val="115000"/>
              </a:lnSpc>
              <a:spcBef>
                <a:spcPts val="1200"/>
              </a:spcBef>
              <a:spcAft>
                <a:spcPts val="0"/>
              </a:spcAft>
              <a:buNone/>
            </a:pPr>
            <a:r>
              <a:rPr lang="en-US" sz="2400" b="1" dirty="0">
                <a:solidFill>
                  <a:schemeClr val="dk1"/>
                </a:solidFill>
              </a:rPr>
              <a:t>Year: </a:t>
            </a:r>
            <a:r>
              <a:rPr lang="en-US" sz="2400" dirty="0">
                <a:solidFill>
                  <a:schemeClr val="dk1"/>
                </a:solidFill>
              </a:rPr>
              <a:t>2025</a:t>
            </a:r>
            <a:endParaRPr sz="2400" dirty="0">
              <a:solidFill>
                <a:schemeClr val="dk1"/>
              </a:solidFill>
            </a:endParaRPr>
          </a:p>
          <a:p>
            <a:pPr marL="0" lvl="0" indent="0" algn="l" rtl="0">
              <a:lnSpc>
                <a:spcPct val="115000"/>
              </a:lnSpc>
              <a:spcBef>
                <a:spcPts val="1200"/>
              </a:spcBef>
              <a:spcAft>
                <a:spcPts val="1200"/>
              </a:spcAft>
              <a:buNone/>
            </a:pPr>
            <a:r>
              <a:rPr lang="en-US" sz="2400" b="1" dirty="0">
                <a:solidFill>
                  <a:schemeClr val="dk1"/>
                </a:solidFill>
              </a:rPr>
              <a:t>Journal Name: </a:t>
            </a:r>
            <a:r>
              <a:rPr lang="en-US" sz="2400" dirty="0">
                <a:solidFill>
                  <a:schemeClr val="dk1"/>
                </a:solidFill>
              </a:rPr>
              <a:t>IEEE Access</a:t>
            </a:r>
          </a:p>
          <a:p>
            <a:pPr algn="just"/>
            <a:r>
              <a:rPr lang="en-US" sz="2400" b="1" dirty="0"/>
              <a:t>Year:2026 or 2025 </a:t>
            </a:r>
          </a:p>
          <a:p>
            <a:endParaRPr lang="en-US" sz="2400" b="1" dirty="0"/>
          </a:p>
          <a:p>
            <a:r>
              <a:rPr lang="en-US" sz="2400" b="1" dirty="0" err="1"/>
              <a:t>JournalName</a:t>
            </a:r>
            <a:r>
              <a:rPr lang="en-US" sz="2400" b="1" dirty="0"/>
              <a:t>:(</a:t>
            </a:r>
            <a:r>
              <a:rPr lang="en-US" sz="2400" b="1" dirty="0" err="1"/>
              <a:t>ScienceDirect</a:t>
            </a:r>
            <a:r>
              <a:rPr lang="en-US" sz="2400" b="1" dirty="0"/>
              <a:t>/IEEE Transaction/Springer/ Elsevier) </a:t>
            </a:r>
          </a:p>
          <a:p>
            <a:endParaRPr lang="en-US" sz="2400" b="1" dirty="0"/>
          </a:p>
          <a:p>
            <a:pPr marL="0" lvl="0" indent="0" algn="l" rtl="0">
              <a:lnSpc>
                <a:spcPct val="115000"/>
              </a:lnSpc>
              <a:spcBef>
                <a:spcPts val="1200"/>
              </a:spcBef>
              <a:spcAft>
                <a:spcPts val="1200"/>
              </a:spcAft>
              <a:buNone/>
            </a:pPr>
            <a:endParaRPr lang="en-US" sz="2400" b="1" dirty="0">
              <a:solidFill>
                <a:schemeClr val="dk1"/>
              </a:solidFill>
            </a:endParaRPr>
          </a:p>
          <a:p>
            <a:pPr marL="0" lvl="0" indent="0" algn="l" rtl="0">
              <a:lnSpc>
                <a:spcPct val="115000"/>
              </a:lnSpc>
              <a:spcBef>
                <a:spcPts val="1200"/>
              </a:spcBef>
              <a:spcAft>
                <a:spcPts val="1200"/>
              </a:spcAft>
              <a:buNone/>
            </a:pPr>
            <a:endParaRPr sz="2400"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B47D1-FA1F-26D8-7F2F-797059919670}"/>
            </a:ext>
          </a:extLst>
        </p:cNvPr>
        <p:cNvGrpSpPr/>
        <p:nvPr/>
      </p:nvGrpSpPr>
      <p:grpSpPr>
        <a:xfrm>
          <a:off x="0" y="0"/>
          <a:ext cx="0" cy="0"/>
          <a:chOff x="0" y="0"/>
          <a:chExt cx="0" cy="0"/>
        </a:xfrm>
      </p:grpSpPr>
      <p:sp>
        <p:nvSpPr>
          <p:cNvPr id="1048612" name="Title 1">
            <a:extLst>
              <a:ext uri="{FF2B5EF4-FFF2-40B4-BE49-F238E27FC236}">
                <a16:creationId xmlns:a16="http://schemas.microsoft.com/office/drawing/2014/main" id="{525BE7D6-0538-9B1D-08DD-19B888BB1C18}"/>
              </a:ext>
            </a:extLst>
          </p:cNvPr>
          <p:cNvSpPr>
            <a:spLocks noGrp="1"/>
          </p:cNvSpPr>
          <p:nvPr>
            <p:ph type="title"/>
          </p:nvPr>
        </p:nvSpPr>
        <p:spPr>
          <a:xfrm>
            <a:off x="381000" y="381000"/>
            <a:ext cx="8229600" cy="655638"/>
          </a:xfrm>
        </p:spPr>
        <p:txBody>
          <a:bodyPr>
            <a:normAutofit fontScale="90000"/>
          </a:bodyPr>
          <a:lstStyle/>
          <a:p>
            <a:r>
              <a:rPr lang="en-IN" dirty="0">
                <a:cs typeface="Arial" panose="020B0604020202020204" pitchFamily="34" charset="0"/>
              </a:rPr>
              <a:t>LITERATURE SURVEY(1/5)</a:t>
            </a:r>
            <a:endParaRPr lang="en-US" dirty="0">
              <a:latin typeface="Arial" pitchFamily="34" charset="0"/>
              <a:cs typeface="Arial" pitchFamily="34" charset="0"/>
            </a:endParaRPr>
          </a:p>
        </p:txBody>
      </p:sp>
      <p:sp>
        <p:nvSpPr>
          <p:cNvPr id="1048613" name="Date Placeholder 6">
            <a:extLst>
              <a:ext uri="{FF2B5EF4-FFF2-40B4-BE49-F238E27FC236}">
                <a16:creationId xmlns:a16="http://schemas.microsoft.com/office/drawing/2014/main" id="{F3992BD0-B30D-B2D9-7D6F-56E12768BBAA}"/>
              </a:ext>
            </a:extLst>
          </p:cNvPr>
          <p:cNvSpPr>
            <a:spLocks noGrp="1"/>
          </p:cNvSpPr>
          <p:nvPr>
            <p:ph type="dt" sz="half" idx="10"/>
          </p:nvPr>
        </p:nvSpPr>
        <p:spPr/>
        <p:txBody>
          <a:bodyPr/>
          <a:lstStyle/>
          <a:p>
            <a:r>
              <a:rPr lang="en-US" dirty="0"/>
              <a:t>23 July 2026</a:t>
            </a:r>
          </a:p>
        </p:txBody>
      </p:sp>
      <p:sp>
        <p:nvSpPr>
          <p:cNvPr id="1048614" name="Footer Placeholder 7">
            <a:extLst>
              <a:ext uri="{FF2B5EF4-FFF2-40B4-BE49-F238E27FC236}">
                <a16:creationId xmlns:a16="http://schemas.microsoft.com/office/drawing/2014/main" id="{405B25C5-C757-4B96-739B-6650D43C026D}"/>
              </a:ext>
            </a:extLst>
          </p:cNvPr>
          <p:cNvSpPr>
            <a:spLocks noGrp="1"/>
          </p:cNvSpPr>
          <p:nvPr>
            <p:ph type="ftr" sz="quarter" idx="11"/>
          </p:nvPr>
        </p:nvSpPr>
        <p:spPr/>
        <p:txBody>
          <a:bodyPr/>
          <a:lstStyle/>
          <a:p>
            <a:r>
              <a:rPr lang="en-US"/>
              <a:t>School of Computing</a:t>
            </a:r>
          </a:p>
        </p:txBody>
      </p:sp>
      <p:sp>
        <p:nvSpPr>
          <p:cNvPr id="1048615" name="Slide Number Placeholder 8">
            <a:extLst>
              <a:ext uri="{FF2B5EF4-FFF2-40B4-BE49-F238E27FC236}">
                <a16:creationId xmlns:a16="http://schemas.microsoft.com/office/drawing/2014/main" id="{54423F12-9A3F-462D-22C1-EDC01F223DD5}"/>
              </a:ext>
            </a:extLst>
          </p:cNvPr>
          <p:cNvSpPr>
            <a:spLocks noGrp="1"/>
          </p:cNvSpPr>
          <p:nvPr>
            <p:ph type="sldNum" sz="quarter" idx="12"/>
          </p:nvPr>
        </p:nvSpPr>
        <p:spPr/>
        <p:txBody>
          <a:bodyPr/>
          <a:lstStyle/>
          <a:p>
            <a:fld id="{7B28076C-CE04-4A00-BFAA-A90EA8355859}" type="slidenum">
              <a:rPr lang="en-US" smtClean="0"/>
              <a:t>6</a:t>
            </a:fld>
            <a:endParaRPr lang="en-US"/>
          </a:p>
        </p:txBody>
      </p:sp>
      <p:graphicFrame>
        <p:nvGraphicFramePr>
          <p:cNvPr id="4194304" name="Table 11">
            <a:extLst>
              <a:ext uri="{FF2B5EF4-FFF2-40B4-BE49-F238E27FC236}">
                <a16:creationId xmlns:a16="http://schemas.microsoft.com/office/drawing/2014/main" id="{B3383093-F43F-2894-B4F4-E2776A6C2539}"/>
              </a:ext>
            </a:extLst>
          </p:cNvPr>
          <p:cNvGraphicFramePr>
            <a:graphicFrameLocks noGrp="1"/>
          </p:cNvGraphicFramePr>
          <p:nvPr/>
        </p:nvGraphicFramePr>
        <p:xfrm>
          <a:off x="380999" y="1209822"/>
          <a:ext cx="8305801" cy="5181600"/>
        </p:xfrm>
        <a:graphic>
          <a:graphicData uri="http://schemas.openxmlformats.org/drawingml/2006/table">
            <a:tbl>
              <a:tblPr firstRow="1" bandRow="1">
                <a:tableStyleId>{8799B23B-EC83-4686-B30A-512413B5E67A}</a:tableStyleId>
              </a:tblPr>
              <a:tblGrid>
                <a:gridCol w="1046400">
                  <a:extLst>
                    <a:ext uri="{9D8B030D-6E8A-4147-A177-3AD203B41FA5}">
                      <a16:colId xmlns:a16="http://schemas.microsoft.com/office/drawing/2014/main" val="20000"/>
                    </a:ext>
                  </a:extLst>
                </a:gridCol>
                <a:gridCol w="1260767">
                  <a:extLst>
                    <a:ext uri="{9D8B030D-6E8A-4147-A177-3AD203B41FA5}">
                      <a16:colId xmlns:a16="http://schemas.microsoft.com/office/drawing/2014/main" val="20001"/>
                    </a:ext>
                  </a:extLst>
                </a:gridCol>
                <a:gridCol w="1615017">
                  <a:extLst>
                    <a:ext uri="{9D8B030D-6E8A-4147-A177-3AD203B41FA5}">
                      <a16:colId xmlns:a16="http://schemas.microsoft.com/office/drawing/2014/main" val="20002"/>
                    </a:ext>
                  </a:extLst>
                </a:gridCol>
                <a:gridCol w="1636817">
                  <a:extLst>
                    <a:ext uri="{9D8B030D-6E8A-4147-A177-3AD203B41FA5}">
                      <a16:colId xmlns:a16="http://schemas.microsoft.com/office/drawing/2014/main" val="20003"/>
                    </a:ext>
                  </a:extLst>
                </a:gridCol>
                <a:gridCol w="1208689">
                  <a:extLst>
                    <a:ext uri="{9D8B030D-6E8A-4147-A177-3AD203B41FA5}">
                      <a16:colId xmlns:a16="http://schemas.microsoft.com/office/drawing/2014/main" val="20004"/>
                    </a:ext>
                  </a:extLst>
                </a:gridCol>
                <a:gridCol w="1538111">
                  <a:extLst>
                    <a:ext uri="{9D8B030D-6E8A-4147-A177-3AD203B41FA5}">
                      <a16:colId xmlns:a16="http://schemas.microsoft.com/office/drawing/2014/main" val="20005"/>
                    </a:ext>
                  </a:extLst>
                </a:gridCol>
              </a:tblGrid>
              <a:tr h="955941">
                <a:tc>
                  <a:txBody>
                    <a:bodyPr/>
                    <a:lstStyle/>
                    <a:p>
                      <a:pPr>
                        <a:buNone/>
                      </a:pPr>
                      <a:r>
                        <a:rPr lang="en-IN" sz="1400" b="1" dirty="0"/>
                        <a:t>AUTHOR</a:t>
                      </a:r>
                      <a:endParaRPr lang="en-IN" sz="140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JOURNAL NAME &amp;</a:t>
                      </a:r>
                      <a:endParaRPr lang="en-IN" sz="1400" dirty="0"/>
                    </a:p>
                    <a:p>
                      <a:pPr>
                        <a:buNone/>
                      </a:pPr>
                      <a:r>
                        <a:rPr lang="en-IN" sz="1400" b="1" dirty="0"/>
                        <a:t>YEAR OF PUBLICATION</a:t>
                      </a:r>
                      <a:endParaRPr lang="en-IN" sz="1400" dirty="0"/>
                    </a:p>
                  </a:txBody>
                  <a:tcPr anchor="ctr"/>
                </a:tc>
                <a:tc>
                  <a:txBody>
                    <a:bodyPr/>
                    <a:lstStyle/>
                    <a:p>
                      <a:pPr>
                        <a:buNone/>
                      </a:pPr>
                      <a:r>
                        <a:rPr lang="en-US" sz="1400" dirty="0"/>
                        <a:t>TITLE</a:t>
                      </a:r>
                      <a:endParaRPr lang="en-IN" sz="1400" dirty="0"/>
                    </a:p>
                  </a:txBody>
                  <a:tcPr anchor="ctr"/>
                </a:tc>
                <a:tc>
                  <a:txBody>
                    <a:bodyPr/>
                    <a:lstStyle/>
                    <a:p>
                      <a:pPr>
                        <a:buNone/>
                      </a:pPr>
                      <a:r>
                        <a:rPr lang="en-IN" sz="1400" b="1" dirty="0"/>
                        <a:t>DESCRIPTIONS</a:t>
                      </a:r>
                      <a:endParaRPr lang="en-IN" sz="1400" dirty="0"/>
                    </a:p>
                  </a:txBody>
                  <a:tcPr anchor="ctr"/>
                </a:tc>
                <a:tc>
                  <a:txBody>
                    <a:bodyPr/>
                    <a:lstStyle/>
                    <a:p>
                      <a:pPr>
                        <a:buNone/>
                      </a:pPr>
                      <a:r>
                        <a:rPr lang="en-IN" sz="1400" b="1"/>
                        <a:t>PROS</a:t>
                      </a:r>
                      <a:endParaRPr lang="en-IN" sz="1400"/>
                    </a:p>
                  </a:txBody>
                  <a:tcPr anchor="ctr"/>
                </a:tc>
                <a:tc>
                  <a:txBody>
                    <a:bodyPr/>
                    <a:lstStyle/>
                    <a:p>
                      <a:pPr>
                        <a:buNone/>
                      </a:pPr>
                      <a:r>
                        <a:rPr lang="en-IN" sz="1400" b="1"/>
                        <a:t>CONS</a:t>
                      </a:r>
                      <a:endParaRPr lang="en-IN" sz="1400"/>
                    </a:p>
                  </a:txBody>
                  <a:tcPr anchor="ctr"/>
                </a:tc>
                <a:extLst>
                  <a:ext uri="{0D108BD9-81ED-4DB2-BD59-A6C34878D82A}">
                    <a16:rowId xmlns:a16="http://schemas.microsoft.com/office/drawing/2014/main" val="10000"/>
                  </a:ext>
                </a:extLst>
              </a:tr>
              <a:tr h="1660319">
                <a:tc>
                  <a:txBody>
                    <a:bodyPr/>
                    <a:lstStyle/>
                    <a:p>
                      <a:pPr marL="0" lvl="0" indent="0" algn="l" rtl="0">
                        <a:spcBef>
                          <a:spcPts val="0"/>
                        </a:spcBef>
                        <a:spcAft>
                          <a:spcPts val="0"/>
                        </a:spcAft>
                        <a:buNone/>
                      </a:pPr>
                      <a:r>
                        <a:rPr lang="en-US" sz="1400" b="1" dirty="0"/>
                        <a:t>Faisal Firdous et al.</a:t>
                      </a:r>
                    </a:p>
                  </a:txBody>
                  <a:tcPr anchor="ctr"/>
                </a:tc>
                <a:tc>
                  <a:txBody>
                    <a:bodyPr/>
                    <a:lstStyle/>
                    <a:p>
                      <a:pPr marL="0" lvl="0" indent="0" algn="l" rtl="0">
                        <a:spcBef>
                          <a:spcPts val="0"/>
                        </a:spcBef>
                        <a:spcAft>
                          <a:spcPts val="0"/>
                        </a:spcAft>
                        <a:buNone/>
                      </a:pPr>
                      <a:r>
                        <a:rPr lang="en-US" sz="1400" dirty="0"/>
                        <a:t>ECTI Transactions on Computer and Information Technology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dirty="0"/>
                    </a:p>
                    <a:p>
                      <a:pPr>
                        <a:buNone/>
                      </a:pPr>
                      <a:r>
                        <a:rPr lang="en-IN" sz="1400" b="1" dirty="0"/>
                        <a:t>2026</a:t>
                      </a:r>
                      <a:endParaRPr lang="en-IN" sz="1400" dirty="0"/>
                    </a:p>
                  </a:txBody>
                  <a:tcPr anchor="ctr"/>
                </a:tc>
                <a:tc>
                  <a:txBody>
                    <a:bodyPr/>
                    <a:lstStyle/>
                    <a:p>
                      <a:pPr marL="0" lvl="0" indent="0" algn="l" rtl="0">
                        <a:spcBef>
                          <a:spcPts val="0"/>
                        </a:spcBef>
                        <a:spcAft>
                          <a:spcPts val="0"/>
                        </a:spcAft>
                        <a:buNone/>
                      </a:pPr>
                      <a:r>
                        <a:rPr lang="en-US" sz="1400" dirty="0"/>
                        <a:t>AI-Based Smart Identification of Medicinal Plants Using Vision Transformer and </a:t>
                      </a:r>
                      <a:r>
                        <a:rPr lang="en-US" sz="1400" dirty="0" err="1"/>
                        <a:t>CatBoost</a:t>
                      </a:r>
                      <a:r>
                        <a:rPr lang="en-US" sz="1400" dirty="0"/>
                        <a:t> for Biodiversity and Healthcare</a:t>
                      </a:r>
                    </a:p>
                  </a:txBody>
                  <a:tcPr anchor="ctr"/>
                </a:tc>
                <a:tc>
                  <a:txBody>
                    <a:bodyPr/>
                    <a:lstStyle/>
                    <a:p>
                      <a:pPr marL="0" lvl="0" indent="0" algn="l" rtl="0">
                        <a:spcBef>
                          <a:spcPts val="0"/>
                        </a:spcBef>
                        <a:spcAft>
                          <a:spcPts val="0"/>
                        </a:spcAft>
                        <a:buNone/>
                      </a:pPr>
                      <a:r>
                        <a:rPr lang="en-US" sz="1400" dirty="0"/>
                        <a:t>Vision Transformer (</a:t>
                      </a:r>
                      <a:r>
                        <a:rPr lang="en-US" sz="1400" dirty="0" err="1"/>
                        <a:t>ViT</a:t>
                      </a:r>
                      <a:r>
                        <a:rPr lang="en-US" sz="1400" dirty="0"/>
                        <a:t>) + </a:t>
                      </a:r>
                      <a:r>
                        <a:rPr lang="en-US" sz="1400" dirty="0" err="1"/>
                        <a:t>CatBoost</a:t>
                      </a:r>
                      <a:r>
                        <a:rPr lang="en-US" sz="1400" dirty="0"/>
                        <a:t> classifier (</a:t>
                      </a:r>
                      <a:r>
                        <a:rPr lang="en-US" sz="1400" dirty="0" err="1"/>
                        <a:t>Optuna</a:t>
                      </a:r>
                      <a:r>
                        <a:rPr lang="en-US" sz="1400" dirty="0"/>
                        <a:t> hyperparameter tuning)</a:t>
                      </a:r>
                    </a:p>
                  </a:txBody>
                  <a:tcPr anchor="ctr"/>
                </a:tc>
                <a:tc>
                  <a:txBody>
                    <a:bodyPr/>
                    <a:lstStyle/>
                    <a:p>
                      <a:pPr marL="0" lvl="0" indent="0" algn="l" rtl="0">
                        <a:spcBef>
                          <a:spcPts val="0"/>
                        </a:spcBef>
                        <a:spcAft>
                          <a:spcPts val="0"/>
                        </a:spcAft>
                        <a:buNone/>
                      </a:pPr>
                      <a:r>
                        <a:rPr lang="en-US" sz="1400" dirty="0"/>
                        <a:t>High medicinal plant classification accuracy (93%), reduced false positives.</a:t>
                      </a:r>
                    </a:p>
                  </a:txBody>
                  <a:tcPr anchor="ctr"/>
                </a:tc>
                <a:tc>
                  <a:txBody>
                    <a:bodyPr/>
                    <a:lstStyle/>
                    <a:p>
                      <a:pPr marL="0" lvl="0" indent="0" algn="l" rtl="0">
                        <a:spcBef>
                          <a:spcPts val="0"/>
                        </a:spcBef>
                        <a:spcAft>
                          <a:spcPts val="0"/>
                        </a:spcAft>
                        <a:buNone/>
                      </a:pPr>
                      <a:r>
                        <a:rPr lang="en-US" sz="1400" dirty="0"/>
                        <a:t>Supports only five medicinal plant species, does not include disease diagnosis or AI recommendation module</a:t>
                      </a:r>
                    </a:p>
                  </a:txBody>
                  <a:tcPr anchor="ctr"/>
                </a:tc>
                <a:extLst>
                  <a:ext uri="{0D108BD9-81ED-4DB2-BD59-A6C34878D82A}">
                    <a16:rowId xmlns:a16="http://schemas.microsoft.com/office/drawing/2014/main" val="10001"/>
                  </a:ext>
                </a:extLst>
              </a:tr>
              <a:tr h="1660319">
                <a:tc>
                  <a:txBody>
                    <a:bodyPr/>
                    <a:lstStyle/>
                    <a:p>
                      <a:pPr marL="0" lvl="0" indent="0" algn="l" rtl="0">
                        <a:spcBef>
                          <a:spcPts val="0"/>
                        </a:spcBef>
                        <a:spcAft>
                          <a:spcPts val="0"/>
                        </a:spcAft>
                        <a:buNone/>
                      </a:pPr>
                      <a:r>
                        <a:rPr lang="en-US" sz="1400" b="1" dirty="0" err="1"/>
                        <a:t>Mhd</a:t>
                      </a:r>
                      <a:r>
                        <a:rPr lang="en-US" sz="1400" b="1" dirty="0"/>
                        <a:t>. Furqan et al.</a:t>
                      </a:r>
                    </a:p>
                  </a:txBody>
                  <a:tcPr anchor="ctr"/>
                </a:tc>
                <a:tc>
                  <a:txBody>
                    <a:bodyPr/>
                    <a:lstStyle/>
                    <a:p>
                      <a:pPr marL="0" lvl="0" indent="0" algn="l" rtl="0">
                        <a:spcBef>
                          <a:spcPts val="0"/>
                        </a:spcBef>
                        <a:spcAft>
                          <a:spcPts val="0"/>
                        </a:spcAft>
                        <a:buNone/>
                      </a:pPr>
                      <a:r>
                        <a:rPr lang="en-US" sz="1400" dirty="0"/>
                        <a:t>Journal of Applied Data Sciences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p>
                    <a:p>
                      <a:pPr>
                        <a:buNone/>
                      </a:pPr>
                      <a:r>
                        <a:rPr lang="en-IN" sz="1400" b="1" dirty="0"/>
                        <a:t>2026</a:t>
                      </a:r>
                      <a:endParaRPr lang="en-IN" sz="1400" dirty="0"/>
                    </a:p>
                  </a:txBody>
                  <a:tcPr anchor="ctr"/>
                </a:tc>
                <a:tc>
                  <a:txBody>
                    <a:bodyPr/>
                    <a:lstStyle/>
                    <a:p>
                      <a:pPr marL="0" lvl="0" indent="0" algn="l" rtl="0">
                        <a:spcBef>
                          <a:spcPts val="0"/>
                        </a:spcBef>
                        <a:spcAft>
                          <a:spcPts val="0"/>
                        </a:spcAft>
                        <a:buNone/>
                      </a:pPr>
                      <a:r>
                        <a:rPr lang="en-US" sz="1400" dirty="0"/>
                        <a:t>Multiclass Skin Lesion Classification Algorithm using Attention-Based Vision Transformer with Metadata Fusion</a:t>
                      </a:r>
                    </a:p>
                  </a:txBody>
                  <a:tcPr anchor="ctr"/>
                </a:tc>
                <a:tc>
                  <a:txBody>
                    <a:bodyPr/>
                    <a:lstStyle/>
                    <a:p>
                      <a:pPr>
                        <a:buNone/>
                      </a:pPr>
                      <a:r>
                        <a:rPr lang="en-US" sz="1400" dirty="0"/>
                        <a:t>Attention-based Vision Transformer (</a:t>
                      </a:r>
                      <a:r>
                        <a:rPr lang="en-US" sz="1400" dirty="0" err="1"/>
                        <a:t>ViT</a:t>
                      </a:r>
                      <a:r>
                        <a:rPr lang="en-US" sz="1400" dirty="0"/>
                        <a:t>) with metadata fusion and mutual-attention mechanism</a:t>
                      </a:r>
                    </a:p>
                  </a:txBody>
                  <a:tcPr anchor="ctr"/>
                </a:tc>
                <a:tc>
                  <a:txBody>
                    <a:bodyPr/>
                    <a:lstStyle/>
                    <a:p>
                      <a:pPr marL="0" lvl="0" indent="0" algn="l" rtl="0">
                        <a:spcBef>
                          <a:spcPts val="0"/>
                        </a:spcBef>
                        <a:spcAft>
                          <a:spcPts val="0"/>
                        </a:spcAft>
                        <a:buNone/>
                      </a:pPr>
                      <a:r>
                        <a:rPr lang="en-US" sz="1400" dirty="0"/>
                        <a:t>Improved classification accuracy, utilizes clinical metadata .</a:t>
                      </a:r>
                    </a:p>
                  </a:txBody>
                  <a:tcPr anchor="ctr"/>
                </a:tc>
                <a:tc>
                  <a:txBody>
                    <a:bodyPr/>
                    <a:lstStyle/>
                    <a:p>
                      <a:pPr marL="0" lvl="0" indent="0" algn="l" rtl="0">
                        <a:spcBef>
                          <a:spcPts val="0"/>
                        </a:spcBef>
                        <a:spcAft>
                          <a:spcPts val="0"/>
                        </a:spcAft>
                        <a:buNone/>
                      </a:pPr>
                      <a:r>
                        <a:rPr lang="en-US" sz="1400" dirty="0"/>
                        <a:t>Designed for skin lesion classification rather than plant diseases; evaluated only on the HAM10000 skin lesion dataset</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2694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4"/>
          <p:cNvSpPr txBox="1">
            <a:spLocks noGrp="1"/>
          </p:cNvSpPr>
          <p:nvPr>
            <p:ph type="title"/>
          </p:nvPr>
        </p:nvSpPr>
        <p:spPr>
          <a:xfrm>
            <a:off x="381000" y="381000"/>
            <a:ext cx="8229600" cy="655500"/>
          </a:xfrm>
          <a:prstGeom prst="rect">
            <a:avLst/>
          </a:prstGeom>
          <a:noFill/>
          <a:ln>
            <a:noFill/>
          </a:ln>
        </p:spPr>
        <p:txBody>
          <a:bodyPr spcFirstLastPara="1" wrap="square" lIns="91425" tIns="45700" rIns="91425" bIns="45700" anchor="ctr" anchorCtr="0">
            <a:normAutofit fontScale="90000"/>
          </a:bodyPr>
          <a:lstStyle/>
          <a:p>
            <a:pPr lvl="0">
              <a:buSzPct val="100000"/>
            </a:pPr>
            <a:r>
              <a:rPr lang="en-IN" dirty="0">
                <a:cs typeface="Arial" panose="020B0604020202020204" pitchFamily="34" charset="0"/>
              </a:rPr>
              <a:t>LITERATURE SURVEY(2/5)</a:t>
            </a:r>
            <a:endParaRPr dirty="0"/>
          </a:p>
        </p:txBody>
      </p:sp>
      <p:sp>
        <p:nvSpPr>
          <p:cNvPr id="191" name="Google Shape;191;p2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192" name="Google Shape;192;p2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193" name="Google Shape;193;p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2" name="Rectangle 1"/>
          <p:cNvSpPr/>
          <p:nvPr/>
        </p:nvSpPr>
        <p:spPr>
          <a:xfrm>
            <a:off x="647114" y="1406769"/>
            <a:ext cx="7963486" cy="4401205"/>
          </a:xfrm>
          <a:prstGeom prst="rect">
            <a:avLst/>
          </a:prstGeom>
        </p:spPr>
        <p:txBody>
          <a:bodyPr wrap="square">
            <a:spAutoFit/>
          </a:bodyPr>
          <a:lstStyle/>
          <a:p>
            <a:pPr marL="0" indent="0" algn="just">
              <a:buNone/>
            </a:pPr>
            <a:r>
              <a:rPr lang="en-US" b="1" dirty="0"/>
              <a:t>NOTE: 4 – 5 Slides for Literature Survey.</a:t>
            </a:r>
          </a:p>
          <a:p>
            <a:pPr marL="0" indent="0" algn="just">
              <a:buNone/>
            </a:pPr>
            <a:r>
              <a:rPr lang="en-US" b="1" dirty="0"/>
              <a:t>IN Heading (2/5) indicates that this slide is the second slide out of total 5 slides of Literature Survey.</a:t>
            </a:r>
          </a:p>
          <a:p>
            <a:pPr marL="0" indent="0" algn="just">
              <a:buNone/>
            </a:pPr>
            <a:r>
              <a:rPr lang="en-US" b="1" dirty="0"/>
              <a:t>Minimum 12 papers should be referred</a:t>
            </a:r>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r>
              <a:rPr lang="en-US" b="1" dirty="0">
                <a:solidFill>
                  <a:srgbClr val="FF0000"/>
                </a:solidFill>
              </a:rPr>
              <a:t>*Note: Literature should be cited in References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5"/>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Calibri"/>
              <a:buNone/>
            </a:pPr>
            <a:r>
              <a:rPr lang="en-US" sz="3600"/>
              <a:t>INFERENCES FROM LITERATURE SURVEY</a:t>
            </a:r>
            <a:endParaRPr sz="3600"/>
          </a:p>
        </p:txBody>
      </p:sp>
      <p:sp>
        <p:nvSpPr>
          <p:cNvPr id="200" name="Google Shape;200;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1875" lnSpcReduction="20000"/>
          </a:bodyPr>
          <a:lstStyle/>
          <a:p>
            <a:pPr marL="342900" lvl="0" indent="-342900" algn="just" rtl="0">
              <a:spcBef>
                <a:spcPts val="0"/>
              </a:spcBef>
              <a:spcAft>
                <a:spcPts val="0"/>
              </a:spcAft>
              <a:buClr>
                <a:schemeClr val="dk1"/>
              </a:buClr>
              <a:buSzPct val="100000"/>
              <a:buChar char="•"/>
            </a:pPr>
            <a:r>
              <a:rPr lang="en-US" dirty="0"/>
              <a:t>Vision Transformer has emerged as one of the most effective architectures for plant image classification.</a:t>
            </a:r>
            <a:endParaRPr dirty="0"/>
          </a:p>
          <a:p>
            <a:pPr marL="342900" lvl="0" indent="-342900" algn="just" rtl="0">
              <a:spcBef>
                <a:spcPts val="524"/>
              </a:spcBef>
              <a:spcAft>
                <a:spcPts val="0"/>
              </a:spcAft>
              <a:buClr>
                <a:schemeClr val="dk1"/>
              </a:buClr>
              <a:buSzPct val="100000"/>
              <a:buChar char="•"/>
            </a:pPr>
            <a:r>
              <a:rPr lang="en-US" dirty="0"/>
              <a:t>Attention mechanisms significantly improve feature extraction from complex leaf structures.</a:t>
            </a:r>
            <a:endParaRPr dirty="0"/>
          </a:p>
          <a:p>
            <a:pPr marL="342900" lvl="0" indent="-342900" algn="just" rtl="0">
              <a:spcBef>
                <a:spcPts val="524"/>
              </a:spcBef>
              <a:spcAft>
                <a:spcPts val="0"/>
              </a:spcAft>
              <a:buClr>
                <a:schemeClr val="dk1"/>
              </a:buClr>
              <a:buSzPct val="100000"/>
              <a:buChar char="•"/>
            </a:pPr>
            <a:r>
              <a:rPr lang="en-US" dirty="0"/>
              <a:t>Existing studies mainly focus on classification accuracy while neglecting practical medicinal recommendation capabilities.</a:t>
            </a:r>
            <a:endParaRPr dirty="0"/>
          </a:p>
          <a:p>
            <a:pPr marL="342900" lvl="0" indent="-342900" algn="just" rtl="0">
              <a:spcBef>
                <a:spcPts val="524"/>
              </a:spcBef>
              <a:spcAft>
                <a:spcPts val="0"/>
              </a:spcAft>
              <a:buClr>
                <a:schemeClr val="dk1"/>
              </a:buClr>
              <a:buSzPct val="100000"/>
              <a:buChar char="•"/>
            </a:pPr>
            <a:r>
              <a:rPr lang="en-US" dirty="0"/>
              <a:t>Structured botanical knowledge is rarely integrated with deep learning-based identification systems.</a:t>
            </a:r>
            <a:endParaRPr dirty="0"/>
          </a:p>
          <a:p>
            <a:pPr marL="342900" lvl="0" indent="-342900" algn="just" rtl="0">
              <a:spcBef>
                <a:spcPts val="524"/>
              </a:spcBef>
              <a:spcAft>
                <a:spcPts val="0"/>
              </a:spcAft>
              <a:buClr>
                <a:schemeClr val="dk1"/>
              </a:buClr>
              <a:buSzPct val="100000"/>
              <a:buChar char="•"/>
            </a:pPr>
            <a:r>
              <a:rPr lang="en-US" dirty="0"/>
              <a:t>Large Language Models remain largely unexplored for generating personalized </a:t>
            </a:r>
            <a:r>
              <a:rPr lang="en-US" dirty="0" err="1"/>
              <a:t>Ayurvedic</a:t>
            </a:r>
            <a:r>
              <a:rPr lang="en-US" dirty="0"/>
              <a:t> medicinal recommendations.</a:t>
            </a:r>
            <a:endParaRPr dirty="0"/>
          </a:p>
        </p:txBody>
      </p:sp>
      <p:sp>
        <p:nvSpPr>
          <p:cNvPr id="201" name="Google Shape;20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02" name="Google Shape;20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03" name="Google Shape;20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495300" y="381000"/>
            <a:ext cx="8229600" cy="65563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Calibri"/>
              <a:buNone/>
            </a:pPr>
            <a:r>
              <a:rPr lang="en-US" sz="4000"/>
              <a:t>PROPOSED SYSTEM (1/4)</a:t>
            </a:r>
            <a:endParaRPr/>
          </a:p>
        </p:txBody>
      </p:sp>
      <p:sp>
        <p:nvSpPr>
          <p:cNvPr id="209" name="Google Shape;20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10" name="Google Shape;21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 - CSE</a:t>
            </a:r>
            <a:endParaRPr/>
          </a:p>
        </p:txBody>
      </p:sp>
      <p:sp>
        <p:nvSpPr>
          <p:cNvPr id="211" name="Google Shape;21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12" name="Google Shape;212;p26"/>
          <p:cNvSpPr txBox="1">
            <a:spLocks noGrp="1"/>
          </p:cNvSpPr>
          <p:nvPr>
            <p:ph type="body" idx="1"/>
          </p:nvPr>
        </p:nvSpPr>
        <p:spPr>
          <a:xfrm>
            <a:off x="457200" y="1371600"/>
            <a:ext cx="8229600" cy="4984750"/>
          </a:xfrm>
          <a:prstGeom prst="rect">
            <a:avLst/>
          </a:prstGeom>
          <a:noFill/>
          <a:ln>
            <a:noFill/>
          </a:ln>
        </p:spPr>
        <p:txBody>
          <a:bodyPr spcFirstLastPara="1" wrap="square" lIns="91425" tIns="45700" rIns="91425" bIns="45700" anchor="t" anchorCtr="0">
            <a:normAutofit fontScale="92500" lnSpcReduction="10000"/>
          </a:bodyPr>
          <a:lstStyle/>
          <a:p>
            <a:pPr marL="342900" algn="just">
              <a:spcBef>
                <a:spcPts val="0"/>
              </a:spcBef>
              <a:buSzPct val="100000"/>
            </a:pPr>
            <a:r>
              <a:rPr lang="en-US" sz="2400" dirty="0"/>
              <a:t>Preprocesses the uploaded leaf image through resizing and normalization before extracting discriminative visual features using a Vision Transformer (</a:t>
            </a:r>
            <a:r>
              <a:rPr lang="en-US" sz="2400" dirty="0" err="1"/>
              <a:t>ViT</a:t>
            </a:r>
            <a:r>
              <a:rPr lang="en-US" sz="2400" dirty="0"/>
              <a:t>).</a:t>
            </a:r>
          </a:p>
          <a:p>
            <a:pPr marL="342900" algn="just">
              <a:spcBef>
                <a:spcPts val="0"/>
              </a:spcBef>
              <a:buSzPct val="100000"/>
            </a:pPr>
            <a:r>
              <a:rPr lang="en-US" sz="2400" dirty="0"/>
              <a:t>……….</a:t>
            </a:r>
          </a:p>
          <a:p>
            <a:pPr marL="342900" lvl="0" algn="just">
              <a:lnSpc>
                <a:spcPct val="110000"/>
              </a:lnSpc>
              <a:spcBef>
                <a:spcPts val="0"/>
              </a:spcBef>
              <a:buSzPct val="100000"/>
            </a:pPr>
            <a:r>
              <a:rPr lang="en-US" sz="2400" dirty="0"/>
              <a:t>Finally, a Large Language Model (Google </a:t>
            </a:r>
            <a:r>
              <a:rPr lang="en-US" sz="2400" dirty="0" err="1"/>
              <a:t>Gemin</a:t>
            </a:r>
            <a:r>
              <a:rPr lang="en-US" sz="2400" dirty="0"/>
              <a:t>..</a:t>
            </a:r>
            <a:r>
              <a:rPr lang="en-US" sz="2400" dirty="0" err="1"/>
              <a:t>i</a:t>
            </a:r>
            <a:r>
              <a:rPr lang="en-US" sz="2400" dirty="0"/>
              <a:t>) generates detailed </a:t>
            </a:r>
            <a:r>
              <a:rPr lang="en-US" sz="2400" dirty="0" err="1"/>
              <a:t>Ayurvedic</a:t>
            </a:r>
            <a:r>
              <a:rPr lang="en-US" sz="2400" dirty="0"/>
              <a:t> explanations, preparation methods, dosage recommendations, and safety precautions. </a:t>
            </a:r>
          </a:p>
          <a:p>
            <a:pPr marL="0" lvl="0" indent="0" algn="l" rtl="0">
              <a:lnSpc>
                <a:spcPct val="120000"/>
              </a:lnSpc>
              <a:spcBef>
                <a:spcPts val="1200"/>
              </a:spcBef>
              <a:spcAft>
                <a:spcPts val="0"/>
              </a:spcAft>
              <a:buNone/>
            </a:pPr>
            <a:r>
              <a:rPr lang="en-US" sz="2600" b="1" dirty="0"/>
              <a:t>Advantages of Proposed System</a:t>
            </a:r>
            <a:endParaRPr sz="2600" dirty="0"/>
          </a:p>
          <a:p>
            <a:pPr marL="342900" algn="just">
              <a:lnSpc>
                <a:spcPct val="120000"/>
              </a:lnSpc>
              <a:spcBef>
                <a:spcPts val="0"/>
              </a:spcBef>
              <a:buSzPct val="100000"/>
            </a:pPr>
            <a:r>
              <a:rPr lang="en-US" sz="2400" dirty="0"/>
              <a:t>Integrates disease recommendation with plant recognition.</a:t>
            </a:r>
            <a:endParaRPr sz="2400" dirty="0"/>
          </a:p>
          <a:p>
            <a:pPr marL="342900" algn="just">
              <a:lnSpc>
                <a:spcPct val="120000"/>
              </a:lnSpc>
              <a:spcBef>
                <a:spcPts val="0"/>
              </a:spcBef>
              <a:buSzPct val="100000"/>
            </a:pPr>
            <a:r>
              <a:rPr lang="en-US" sz="2400" dirty="0"/>
              <a:t>Generates AI-powered </a:t>
            </a:r>
            <a:r>
              <a:rPr lang="en-US" sz="2400" dirty="0" err="1"/>
              <a:t>Ayurvedic</a:t>
            </a:r>
            <a:r>
              <a:rPr lang="en-US" sz="2400" dirty="0"/>
              <a:t> medicinal guidance.</a:t>
            </a:r>
            <a:endParaRPr sz="2400" dirty="0"/>
          </a:p>
          <a:p>
            <a:pPr marL="342900" algn="just">
              <a:lnSpc>
                <a:spcPct val="120000"/>
              </a:lnSpc>
              <a:spcBef>
                <a:spcPts val="0"/>
              </a:spcBef>
              <a:buSzPct val="100000"/>
            </a:pPr>
            <a:r>
              <a:rPr lang="en-US" sz="2400" dirty="0"/>
              <a:t>Provides preparation methods and dosage information.</a:t>
            </a:r>
            <a:endParaRPr sz="2400" dirty="0"/>
          </a:p>
          <a:p>
            <a:pPr marL="342900" algn="just">
              <a:lnSpc>
                <a:spcPct val="120000"/>
              </a:lnSpc>
              <a:spcBef>
                <a:spcPts val="0"/>
              </a:spcBef>
              <a:buSzPct val="100000"/>
            </a:pPr>
            <a:r>
              <a:rPr lang="en-US" sz="2400" dirty="0"/>
              <a:t>Supports conversational knowledge reasoning.</a:t>
            </a:r>
            <a:endParaRPr sz="2400" dirty="0"/>
          </a:p>
          <a:p>
            <a:pPr marL="342900" algn="just">
              <a:lnSpc>
                <a:spcPct val="120000"/>
              </a:lnSpc>
              <a:spcBef>
                <a:spcPts val="0"/>
              </a:spcBef>
              <a:buSzPct val="100000"/>
            </a:pPr>
            <a:r>
              <a:rPr lang="en-US" sz="2400" dirty="0"/>
              <a:t>Improves practical usability beyond image classification.</a:t>
            </a:r>
            <a:endParaRP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7"/>
          <p:cNvSpPr txBox="1">
            <a:spLocks noGrp="1"/>
          </p:cNvSpPr>
          <p:nvPr>
            <p:ph type="title"/>
          </p:nvPr>
        </p:nvSpPr>
        <p:spPr>
          <a:xfrm>
            <a:off x="381000" y="381000"/>
            <a:ext cx="8229600" cy="609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PROPOSED SYSTEM(2/4)</a:t>
            </a:r>
            <a:endParaRPr/>
          </a:p>
        </p:txBody>
      </p:sp>
      <p:sp>
        <p:nvSpPr>
          <p:cNvPr id="219" name="Google Shape;219;p27"/>
          <p:cNvSpPr txBox="1">
            <a:spLocks noGrp="1"/>
          </p:cNvSpPr>
          <p:nvPr>
            <p:ph type="body" idx="1"/>
          </p:nvPr>
        </p:nvSpPr>
        <p:spPr>
          <a:xfrm>
            <a:off x="1295400" y="2971800"/>
            <a:ext cx="5410200" cy="761999"/>
          </a:xfrm>
          <a:prstGeom prst="rect">
            <a:avLst/>
          </a:prstGeom>
          <a:noFill/>
          <a:ln>
            <a:noFill/>
          </a:ln>
        </p:spPr>
        <p:txBody>
          <a:bodyPr spcFirstLastPara="1" wrap="square" lIns="91425" tIns="45700" rIns="91425" bIns="45700" anchor="t" anchorCtr="0">
            <a:normAutofit/>
          </a:bodyPr>
          <a:lstStyle/>
          <a:p>
            <a:pPr marL="0" lvl="0" indent="0" algn="just" rtl="0">
              <a:lnSpc>
                <a:spcPct val="80000"/>
              </a:lnSpc>
              <a:spcBef>
                <a:spcPts val="0"/>
              </a:spcBef>
              <a:spcAft>
                <a:spcPts val="0"/>
              </a:spcAft>
              <a:buClr>
                <a:schemeClr val="dk1"/>
              </a:buClr>
              <a:buSzPts val="2800"/>
              <a:buNone/>
            </a:pPr>
            <a:r>
              <a:rPr lang="en-US" sz="2800"/>
              <a:t>             </a:t>
            </a:r>
            <a:endParaRPr/>
          </a:p>
        </p:txBody>
      </p:sp>
      <p:sp>
        <p:nvSpPr>
          <p:cNvPr id="220" name="Google Shape;220;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21" name="Google Shape;221;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22" name="Google Shape;222;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223" name="Google Shape;223;p27"/>
          <p:cNvPicPr preferRelativeResize="0"/>
          <p:nvPr/>
        </p:nvPicPr>
        <p:blipFill>
          <a:blip r:embed="rId3">
            <a:alphaModFix/>
          </a:blip>
          <a:stretch>
            <a:fillRect/>
          </a:stretch>
        </p:blipFill>
        <p:spPr>
          <a:xfrm>
            <a:off x="772400" y="1220150"/>
            <a:ext cx="7599199" cy="5066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8"/>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PROPOSED SYSTEM(3/4)</a:t>
            </a:r>
            <a:endParaRPr/>
          </a:p>
        </p:txBody>
      </p:sp>
      <p:sp>
        <p:nvSpPr>
          <p:cNvPr id="229" name="Google Shape;229;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30" name="Google Shape;230;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31" name="Google Shape;231;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aphicFrame>
        <p:nvGraphicFramePr>
          <p:cNvPr id="232" name="Google Shape;232;p28"/>
          <p:cNvGraphicFramePr/>
          <p:nvPr>
            <p:extLst>
              <p:ext uri="{D42A27DB-BD31-4B8C-83A1-F6EECF244321}">
                <p14:modId xmlns:p14="http://schemas.microsoft.com/office/powerpoint/2010/main" val="1749736187"/>
              </p:ext>
            </p:extLst>
          </p:nvPr>
        </p:nvGraphicFramePr>
        <p:xfrm>
          <a:off x="800364" y="1600201"/>
          <a:ext cx="7543250" cy="4526000"/>
        </p:xfrm>
        <a:graphic>
          <a:graphicData uri="http://schemas.openxmlformats.org/drawingml/2006/table">
            <a:tbl>
              <a:tblPr>
                <a:noFill/>
                <a:tableStyleId>{E43DB06B-603F-4C97-AB98-BA22BC9FC4E0}</a:tableStyleId>
              </a:tblPr>
              <a:tblGrid>
                <a:gridCol w="2095225">
                  <a:extLst>
                    <a:ext uri="{9D8B030D-6E8A-4147-A177-3AD203B41FA5}">
                      <a16:colId xmlns:a16="http://schemas.microsoft.com/office/drawing/2014/main" val="20000"/>
                    </a:ext>
                  </a:extLst>
                </a:gridCol>
                <a:gridCol w="5448025">
                  <a:extLst>
                    <a:ext uri="{9D8B030D-6E8A-4147-A177-3AD203B41FA5}">
                      <a16:colId xmlns:a16="http://schemas.microsoft.com/office/drawing/2014/main" val="20001"/>
                    </a:ext>
                  </a:extLst>
                </a:gridCol>
              </a:tblGrid>
              <a:tr h="335250">
                <a:tc>
                  <a:txBody>
                    <a:bodyPr/>
                    <a:lstStyle/>
                    <a:p>
                      <a:pPr marL="0" marR="0" lvl="0" indent="0" algn="l" rtl="0">
                        <a:spcBef>
                          <a:spcPts val="0"/>
                        </a:spcBef>
                        <a:spcAft>
                          <a:spcPts val="0"/>
                        </a:spcAft>
                        <a:buClr>
                          <a:schemeClr val="dk1"/>
                        </a:buClr>
                        <a:buSzPts val="1600"/>
                        <a:buFont typeface="Calibri"/>
                        <a:buNone/>
                      </a:pPr>
                      <a:r>
                        <a:rPr lang="en-US" sz="1600" b="1" u="none" strike="noStrike" cap="none" dirty="0">
                          <a:latin typeface="Calibri" panose="020F0502020204030204" pitchFamily="34" charset="0"/>
                          <a:ea typeface="Calibri" panose="020F0502020204030204" pitchFamily="34" charset="0"/>
                          <a:cs typeface="Calibri" panose="020F0502020204030204" pitchFamily="34" charset="0"/>
                        </a:rPr>
                        <a:t>Modules</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b="1" u="none" strike="noStrike" cap="none">
                          <a:latin typeface="Calibri" panose="020F0502020204030204" pitchFamily="34" charset="0"/>
                          <a:ea typeface="Calibri" panose="020F0502020204030204" pitchFamily="34" charset="0"/>
                          <a:cs typeface="Calibri" panose="020F0502020204030204" pitchFamily="34" charset="0"/>
                        </a:rPr>
                        <a:t>Activities</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838150">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Requirement Analysis</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Collect medicinal plant datasets, define project objectives, and analyze system requirements.</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38150">
                <a:tc>
                  <a:txBody>
                    <a:bodyPr/>
                    <a:lstStyle/>
                    <a:p>
                      <a:pPr marL="0" marR="0" lvl="0" indent="0" algn="l" rtl="0">
                        <a:spcBef>
                          <a:spcPts val="0"/>
                        </a:spcBef>
                        <a:spcAft>
                          <a:spcPts val="0"/>
                        </a:spcAft>
                        <a:buClr>
                          <a:schemeClr val="dk1"/>
                        </a:buClr>
                        <a:buSzPts val="1600"/>
                        <a:buFont typeface="Calibri"/>
                        <a:buNone/>
                      </a:pPr>
                      <a:r>
                        <a:rPr lang="en-US" sz="1600" u="none" strike="noStrike" cap="none">
                          <a:latin typeface="Calibri" panose="020F0502020204030204" pitchFamily="34" charset="0"/>
                          <a:ea typeface="Calibri" panose="020F0502020204030204" pitchFamily="34" charset="0"/>
                          <a:cs typeface="Calibri" panose="020F0502020204030204" pitchFamily="34" charset="0"/>
                        </a:rPr>
                        <a:t>Data Preparation</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Organize botanical datasets, disease mappings, and preprocess plant images for training.</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38150">
                <a:tc>
                  <a:txBody>
                    <a:bodyPr/>
                    <a:lstStyle/>
                    <a:p>
                      <a:pPr marL="0" marR="0" lvl="0" indent="0" algn="l" rtl="0">
                        <a:spcBef>
                          <a:spcPts val="0"/>
                        </a:spcBef>
                        <a:spcAft>
                          <a:spcPts val="0"/>
                        </a:spcAft>
                        <a:buClr>
                          <a:schemeClr val="dk1"/>
                        </a:buClr>
                        <a:buSzPts val="1600"/>
                        <a:buFont typeface="Calibri"/>
                        <a:buNone/>
                      </a:pPr>
                      <a:r>
                        <a:rPr lang="en-US" sz="1600" u="none" strike="noStrike" cap="none">
                          <a:latin typeface="Calibri" panose="020F0502020204030204" pitchFamily="34" charset="0"/>
                          <a:ea typeface="Calibri" panose="020F0502020204030204" pitchFamily="34" charset="0"/>
                          <a:cs typeface="Calibri" panose="020F0502020204030204" pitchFamily="34" charset="0"/>
                        </a:rPr>
                        <a:t>Model Development</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Train and fine-tune the Vision Transformer model for medicinal plant identification.</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38150">
                <a:tc>
                  <a:txBody>
                    <a:bodyPr/>
                    <a:lstStyle/>
                    <a:p>
                      <a:pPr marL="0" marR="0" lvl="0" indent="0" algn="l" rtl="0">
                        <a:spcBef>
                          <a:spcPts val="0"/>
                        </a:spcBef>
                        <a:spcAft>
                          <a:spcPts val="0"/>
                        </a:spcAft>
                        <a:buClr>
                          <a:schemeClr val="dk1"/>
                        </a:buClr>
                        <a:buSzPts val="1600"/>
                        <a:buFont typeface="Calibri"/>
                        <a:buNone/>
                      </a:pPr>
                      <a:r>
                        <a:rPr lang="en-US" sz="1600" u="none" strike="noStrike" cap="none">
                          <a:latin typeface="Calibri" panose="020F0502020204030204" pitchFamily="34" charset="0"/>
                          <a:ea typeface="Calibri" panose="020F0502020204030204" pitchFamily="34" charset="0"/>
                          <a:cs typeface="Calibri" panose="020F0502020204030204" pitchFamily="34" charset="0"/>
                        </a:rPr>
                        <a:t>System Integration</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Integrate Flask backend, knowledge base, disease search, and Google Gemini recommendation module.</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38150">
                <a:tc>
                  <a:txBody>
                    <a:bodyPr/>
                    <a:lstStyle/>
                    <a:p>
                      <a:pPr marL="0" marR="0" lvl="0" indent="0" algn="l" rtl="0">
                        <a:spcBef>
                          <a:spcPts val="0"/>
                        </a:spcBef>
                        <a:spcAft>
                          <a:spcPts val="0"/>
                        </a:spcAft>
                        <a:buClr>
                          <a:schemeClr val="dk1"/>
                        </a:buClr>
                        <a:buSzPts val="1600"/>
                        <a:buFont typeface="Calibri"/>
                        <a:buNone/>
                      </a:pPr>
                      <a:r>
                        <a:rPr lang="en-US" sz="1600" u="none" strike="noStrike" cap="none">
                          <a:latin typeface="Calibri" panose="020F0502020204030204" pitchFamily="34" charset="0"/>
                          <a:ea typeface="Calibri" panose="020F0502020204030204" pitchFamily="34" charset="0"/>
                          <a:cs typeface="Calibri" panose="020F0502020204030204" pitchFamily="34" charset="0"/>
                        </a:rPr>
                        <a:t>Testing &amp; Deployment</a:t>
                      </a:r>
                      <a:endParaRPr>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600"/>
                        <a:buFont typeface="Calibri"/>
                        <a:buNone/>
                      </a:pPr>
                      <a:r>
                        <a:rPr lang="en-US" sz="1600" u="none" strike="noStrike" cap="none" dirty="0">
                          <a:latin typeface="Calibri" panose="020F0502020204030204" pitchFamily="34" charset="0"/>
                          <a:ea typeface="Calibri" panose="020F0502020204030204" pitchFamily="34" charset="0"/>
                          <a:cs typeface="Calibri" panose="020F0502020204030204" pitchFamily="34" charset="0"/>
                        </a:rPr>
                        <a:t>Validate classification accuracy, evaluate recommendation quality, and deploy the complete web application.</a:t>
                      </a:r>
                      <a:endParaRPr dirty="0">
                        <a:latin typeface="Calibri" panose="020F0502020204030204" pitchFamily="34" charset="0"/>
                        <a:ea typeface="Calibri" panose="020F0502020204030204" pitchFamily="34" charset="0"/>
                        <a:cs typeface="Calibri" panose="020F0502020204030204" pitchFamily="34" charset="0"/>
                      </a:endParaRPr>
                    </a:p>
                  </a:txBody>
                  <a:tcPr marL="83825" marR="83825" marT="41900" marB="419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9"/>
          <p:cNvSpPr txBox="1">
            <a:spLocks noGrp="1"/>
          </p:cNvSpPr>
          <p:nvPr>
            <p:ph type="title"/>
          </p:nvPr>
        </p:nvSpPr>
        <p:spPr>
          <a:xfrm>
            <a:off x="495300" y="381000"/>
            <a:ext cx="8229600" cy="65563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PROPOSED SYSTEM-Algorithm(4/4)</a:t>
            </a:r>
            <a:endParaRPr dirty="0">
              <a:latin typeface="Arial"/>
              <a:ea typeface="Arial"/>
              <a:cs typeface="Arial"/>
              <a:sym typeface="Arial"/>
            </a:endParaRPr>
          </a:p>
        </p:txBody>
      </p:sp>
      <p:sp>
        <p:nvSpPr>
          <p:cNvPr id="238" name="Google Shape;238;p29"/>
          <p:cNvSpPr txBox="1">
            <a:spLocks noGrp="1"/>
          </p:cNvSpPr>
          <p:nvPr>
            <p:ph type="body" idx="1"/>
          </p:nvPr>
        </p:nvSpPr>
        <p:spPr>
          <a:xfrm>
            <a:off x="533400" y="1505243"/>
            <a:ext cx="8001000" cy="4590757"/>
          </a:xfrm>
          <a:prstGeom prst="rect">
            <a:avLst/>
          </a:prstGeom>
          <a:noFill/>
          <a:ln>
            <a:noFill/>
          </a:ln>
        </p:spPr>
        <p:txBody>
          <a:bodyPr spcFirstLastPara="1" wrap="square" lIns="91425" tIns="45700" rIns="91425" bIns="45700" anchor="t" anchorCtr="0">
            <a:normAutofit fontScale="85000" lnSpcReduction="20000"/>
          </a:bodyPr>
          <a:lstStyle/>
          <a:p>
            <a:pPr marL="342900" lvl="0" indent="-406400" algn="just" rtl="0">
              <a:lnSpc>
                <a:spcPct val="110000"/>
              </a:lnSpc>
              <a:spcBef>
                <a:spcPts val="478"/>
              </a:spcBef>
              <a:spcAft>
                <a:spcPts val="0"/>
              </a:spcAft>
              <a:buSzPts val="2800"/>
              <a:buChar char="•"/>
            </a:pPr>
            <a:r>
              <a:rPr lang="en-US" sz="2800" dirty="0"/>
              <a:t>Image Preprocessing (Resizing, Normalization)</a:t>
            </a:r>
            <a:endParaRPr sz="2800" dirty="0"/>
          </a:p>
          <a:p>
            <a:pPr marL="342900" lvl="0" indent="-406400" algn="just" rtl="0">
              <a:lnSpc>
                <a:spcPct val="110000"/>
              </a:lnSpc>
              <a:spcBef>
                <a:spcPts val="478"/>
              </a:spcBef>
              <a:spcAft>
                <a:spcPts val="0"/>
              </a:spcAft>
              <a:buSzPts val="2800"/>
              <a:buChar char="•"/>
            </a:pPr>
            <a:r>
              <a:rPr lang="en-US" sz="2800" dirty="0"/>
              <a:t>Vision Transformer (</a:t>
            </a:r>
            <a:r>
              <a:rPr lang="en-US" sz="2800" dirty="0" err="1"/>
              <a:t>ViT</a:t>
            </a:r>
            <a:r>
              <a:rPr lang="en-US" sz="2800" dirty="0"/>
              <a:t>) for Feature Extraction</a:t>
            </a:r>
            <a:endParaRPr sz="2800" dirty="0"/>
          </a:p>
          <a:p>
            <a:pPr marL="342900" lvl="0" indent="-406400" algn="just" rtl="0">
              <a:lnSpc>
                <a:spcPct val="110000"/>
              </a:lnSpc>
              <a:spcBef>
                <a:spcPts val="478"/>
              </a:spcBef>
              <a:spcAft>
                <a:spcPts val="0"/>
              </a:spcAft>
              <a:buSzPts val="2800"/>
              <a:buChar char="•"/>
            </a:pPr>
            <a:r>
              <a:rPr lang="en-US" sz="2800" dirty="0"/>
              <a:t>Deep Learning-based Plant Classification</a:t>
            </a:r>
            <a:endParaRPr sz="2800" dirty="0"/>
          </a:p>
          <a:p>
            <a:pPr marL="342900" lvl="0" indent="-406400" algn="just" rtl="0">
              <a:lnSpc>
                <a:spcPct val="110000"/>
              </a:lnSpc>
              <a:spcBef>
                <a:spcPts val="478"/>
              </a:spcBef>
              <a:spcAft>
                <a:spcPts val="0"/>
              </a:spcAft>
              <a:buSzPts val="2800"/>
              <a:buChar char="•"/>
            </a:pPr>
            <a:r>
              <a:rPr lang="en-US" sz="2800" dirty="0"/>
              <a:t>Disease Recommendation Algorithm</a:t>
            </a:r>
            <a:endParaRPr sz="2800" dirty="0"/>
          </a:p>
          <a:p>
            <a:pPr marL="342900" lvl="0" indent="-406400" algn="just" rtl="0">
              <a:lnSpc>
                <a:spcPct val="110000"/>
              </a:lnSpc>
              <a:spcBef>
                <a:spcPts val="478"/>
              </a:spcBef>
              <a:spcAft>
                <a:spcPts val="0"/>
              </a:spcAft>
              <a:buSzPts val="2800"/>
              <a:buChar char="•"/>
            </a:pPr>
            <a:r>
              <a:rPr lang="en-US" sz="2800" dirty="0" err="1"/>
              <a:t>Ayurvedic</a:t>
            </a:r>
            <a:r>
              <a:rPr lang="en-US" sz="2800" dirty="0"/>
              <a:t> Knowledge Retrieval</a:t>
            </a:r>
            <a:endParaRPr sz="2800" dirty="0"/>
          </a:p>
          <a:p>
            <a:pPr marL="342900" lvl="0" indent="-406400" algn="just" rtl="0">
              <a:lnSpc>
                <a:spcPct val="110000"/>
              </a:lnSpc>
              <a:spcBef>
                <a:spcPts val="478"/>
              </a:spcBef>
              <a:spcAft>
                <a:spcPts val="0"/>
              </a:spcAft>
              <a:buSzPts val="2800"/>
              <a:buChar char="•"/>
            </a:pPr>
            <a:r>
              <a:rPr lang="en-US" sz="2800" dirty="0"/>
              <a:t>Large Language Model (Google Gemini) Recommendation</a:t>
            </a:r>
            <a:endParaRPr sz="2800" dirty="0"/>
          </a:p>
          <a:p>
            <a:pPr marL="342900" lvl="0" indent="-406400" algn="just" rtl="0">
              <a:lnSpc>
                <a:spcPct val="110000"/>
              </a:lnSpc>
              <a:spcBef>
                <a:spcPts val="478"/>
              </a:spcBef>
              <a:spcAft>
                <a:spcPts val="0"/>
              </a:spcAft>
              <a:buSzPts val="2800"/>
              <a:buChar char="•"/>
            </a:pPr>
            <a:r>
              <a:rPr lang="en-US" sz="2800" dirty="0"/>
              <a:t>Natural Language Generation for Medicinal Guidance</a:t>
            </a:r>
          </a:p>
          <a:p>
            <a:pPr marL="342900" indent="-406400" algn="just">
              <a:lnSpc>
                <a:spcPct val="110000"/>
              </a:lnSpc>
              <a:spcBef>
                <a:spcPts val="478"/>
              </a:spcBef>
              <a:buSzPts val="2800"/>
            </a:pPr>
            <a:endParaRPr lang="en-US" sz="2800" dirty="0"/>
          </a:p>
          <a:p>
            <a:pPr marL="342900" indent="-406400" algn="just">
              <a:lnSpc>
                <a:spcPct val="110000"/>
              </a:lnSpc>
              <a:spcBef>
                <a:spcPts val="478"/>
              </a:spcBef>
              <a:buSzPts val="2800"/>
            </a:pPr>
            <a:r>
              <a:rPr lang="en-US" sz="2800" dirty="0"/>
              <a:t>*</a:t>
            </a:r>
            <a:r>
              <a:rPr lang="en-US" sz="2800" b="1" dirty="0"/>
              <a:t>Please mention the </a:t>
            </a:r>
            <a:r>
              <a:rPr lang="en-US" sz="2800" b="1" i="1" dirty="0"/>
              <a:t>specific algorithm or method </a:t>
            </a:r>
            <a:r>
              <a:rPr lang="en-US" sz="2800" b="1" dirty="0"/>
              <a:t>used in the proposed work to overcome the limitations identified in the existing work.</a:t>
            </a:r>
          </a:p>
          <a:p>
            <a:pPr marL="342900" lvl="0" indent="-406400" algn="just" rtl="0">
              <a:lnSpc>
                <a:spcPct val="110000"/>
              </a:lnSpc>
              <a:spcBef>
                <a:spcPts val="478"/>
              </a:spcBef>
              <a:spcAft>
                <a:spcPts val="0"/>
              </a:spcAft>
              <a:buSzPts val="2800"/>
              <a:buChar char="•"/>
            </a:pPr>
            <a:endParaRPr sz="2800" dirty="0"/>
          </a:p>
        </p:txBody>
      </p:sp>
      <p:sp>
        <p:nvSpPr>
          <p:cNvPr id="239" name="Google Shape;239;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40" name="Google Shape;24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41" name="Google Shape;24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0"/>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References</a:t>
            </a:r>
            <a:endParaRPr/>
          </a:p>
        </p:txBody>
      </p:sp>
      <p:sp>
        <p:nvSpPr>
          <p:cNvPr id="247" name="Google Shape;247;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48" name="Google Shape;248;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49" name="Google Shape;249;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250" name="Google Shape;250;p30"/>
          <p:cNvSpPr/>
          <p:nvPr/>
        </p:nvSpPr>
        <p:spPr>
          <a:xfrm>
            <a:off x="609600" y="1828800"/>
            <a:ext cx="7467600" cy="3749040"/>
          </a:xfrm>
          <a:prstGeom prst="rect">
            <a:avLst/>
          </a:prstGeom>
          <a:noFill/>
          <a:ln>
            <a:noFill/>
          </a:ln>
        </p:spPr>
        <p:txBody>
          <a:bodyPr spcFirstLastPara="1" wrap="square" lIns="91425" tIns="45700" rIns="91425" bIns="45700" anchor="t" anchorCtr="0">
            <a:noAutofit/>
          </a:bodyPr>
          <a:lstStyle/>
          <a:p>
            <a:pPr marL="457200" lvl="0" indent="-317500" algn="just" rtl="0">
              <a:spcBef>
                <a:spcPts val="0"/>
              </a:spcBef>
              <a:spcAft>
                <a:spcPts val="0"/>
              </a:spcAft>
              <a:buClr>
                <a:schemeClr val="dk1"/>
              </a:buClr>
              <a:buSzPts val="1400"/>
              <a:buFont typeface="Calibri"/>
              <a:buChar char="●"/>
            </a:pPr>
            <a:r>
              <a:rPr lang="en-US" dirty="0">
                <a:solidFill>
                  <a:schemeClr val="dk1"/>
                </a:solidFill>
                <a:latin typeface="Calibri"/>
                <a:ea typeface="Calibri"/>
                <a:cs typeface="Calibri"/>
                <a:sym typeface="Calibri"/>
              </a:rPr>
              <a:t>Al </a:t>
            </a:r>
            <a:r>
              <a:rPr lang="en-US" dirty="0" err="1">
                <a:solidFill>
                  <a:schemeClr val="dk1"/>
                </a:solidFill>
                <a:latin typeface="Calibri"/>
                <a:ea typeface="Calibri"/>
                <a:cs typeface="Calibri"/>
                <a:sym typeface="Calibri"/>
              </a:rPr>
              <a:t>Mamun</a:t>
            </a:r>
            <a:r>
              <a:rPr lang="en-US" dirty="0">
                <a:solidFill>
                  <a:schemeClr val="dk1"/>
                </a:solidFill>
                <a:latin typeface="Calibri"/>
                <a:ea typeface="Calibri"/>
                <a:cs typeface="Calibri"/>
                <a:sym typeface="Calibri"/>
              </a:rPr>
              <a:t>, A., Zhang, M., </a:t>
            </a:r>
            <a:r>
              <a:rPr lang="en-US" dirty="0" err="1">
                <a:solidFill>
                  <a:schemeClr val="dk1"/>
                </a:solidFill>
                <a:latin typeface="Calibri"/>
                <a:ea typeface="Calibri"/>
                <a:cs typeface="Calibri"/>
                <a:sym typeface="Calibri"/>
              </a:rPr>
              <a:t>Ahmedt-Aristizabal</a:t>
            </a:r>
            <a:r>
              <a:rPr lang="en-US" dirty="0">
                <a:solidFill>
                  <a:schemeClr val="dk1"/>
                </a:solidFill>
                <a:latin typeface="Calibri"/>
                <a:ea typeface="Calibri"/>
                <a:cs typeface="Calibri"/>
                <a:sym typeface="Calibri"/>
              </a:rPr>
              <a:t>, D., </a:t>
            </a:r>
            <a:r>
              <a:rPr lang="en-US" dirty="0" err="1">
                <a:solidFill>
                  <a:schemeClr val="dk1"/>
                </a:solidFill>
                <a:latin typeface="Calibri"/>
                <a:ea typeface="Calibri"/>
                <a:cs typeface="Calibri"/>
                <a:sym typeface="Calibri"/>
              </a:rPr>
              <a:t>Hayder</a:t>
            </a:r>
            <a:r>
              <a:rPr lang="en-US" dirty="0">
                <a:solidFill>
                  <a:schemeClr val="dk1"/>
                </a:solidFill>
                <a:latin typeface="Calibri"/>
                <a:ea typeface="Calibri"/>
                <a:cs typeface="Calibri"/>
                <a:sym typeface="Calibri"/>
              </a:rPr>
              <a:t>, Z., &amp; </a:t>
            </a:r>
            <a:r>
              <a:rPr lang="en-US" dirty="0" err="1">
                <a:solidFill>
                  <a:schemeClr val="dk1"/>
                </a:solidFill>
                <a:latin typeface="Calibri"/>
                <a:ea typeface="Calibri"/>
                <a:cs typeface="Calibri"/>
                <a:sym typeface="Calibri"/>
              </a:rPr>
              <a:t>Awrangjeb</a:t>
            </a:r>
            <a:r>
              <a:rPr lang="en-US" dirty="0">
                <a:solidFill>
                  <a:schemeClr val="dk1"/>
                </a:solidFill>
                <a:latin typeface="Calibri"/>
                <a:ea typeface="Calibri"/>
                <a:cs typeface="Calibri"/>
                <a:sym typeface="Calibri"/>
              </a:rPr>
              <a:t>, M. (2026). </a:t>
            </a:r>
            <a:r>
              <a:rPr lang="en-US" dirty="0" err="1">
                <a:solidFill>
                  <a:schemeClr val="dk1"/>
                </a:solidFill>
                <a:latin typeface="Calibri"/>
                <a:ea typeface="Calibri"/>
                <a:cs typeface="Calibri"/>
                <a:sym typeface="Calibri"/>
              </a:rPr>
              <a:t>Conmamba</a:t>
            </a:r>
            <a:r>
              <a:rPr lang="en-US" dirty="0">
                <a:solidFill>
                  <a:schemeClr val="dk1"/>
                </a:solidFill>
                <a:latin typeface="Calibri"/>
                <a:ea typeface="Calibri"/>
                <a:cs typeface="Calibri"/>
                <a:sym typeface="Calibri"/>
              </a:rPr>
              <a:t>: Contrastive vision mamba for plant disease detection. Pattern Recognition, 113177.</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err="1">
                <a:solidFill>
                  <a:schemeClr val="dk1"/>
                </a:solidFill>
                <a:latin typeface="Calibri"/>
                <a:ea typeface="Calibri"/>
                <a:cs typeface="Calibri"/>
                <a:sym typeface="Calibri"/>
              </a:rPr>
              <a:t>Anjum</a:t>
            </a:r>
            <a:r>
              <a:rPr lang="en-US" dirty="0">
                <a:solidFill>
                  <a:schemeClr val="dk1"/>
                </a:solidFill>
                <a:latin typeface="Calibri"/>
                <a:ea typeface="Calibri"/>
                <a:cs typeface="Calibri"/>
                <a:sym typeface="Calibri"/>
              </a:rPr>
              <a:t>, M. N., &amp; </a:t>
            </a:r>
            <a:r>
              <a:rPr lang="en-US" dirty="0" err="1">
                <a:solidFill>
                  <a:schemeClr val="dk1"/>
                </a:solidFill>
                <a:latin typeface="Calibri"/>
                <a:ea typeface="Calibri"/>
                <a:cs typeface="Calibri"/>
                <a:sym typeface="Calibri"/>
              </a:rPr>
              <a:t>Akther</a:t>
            </a:r>
            <a:r>
              <a:rPr lang="en-US" dirty="0">
                <a:solidFill>
                  <a:schemeClr val="dk1"/>
                </a:solidFill>
                <a:latin typeface="Calibri"/>
                <a:ea typeface="Calibri"/>
                <a:cs typeface="Calibri"/>
                <a:sym typeface="Calibri"/>
              </a:rPr>
              <a:t>, S. (2026). Enhanced Vision Transformer Model with Multi-Scale Attention for Robust Plant Leaf Disease Identification and Classification.</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err="1">
                <a:solidFill>
                  <a:schemeClr val="dk1"/>
                </a:solidFill>
                <a:latin typeface="Calibri"/>
                <a:ea typeface="Calibri"/>
                <a:cs typeface="Calibri"/>
                <a:sym typeface="Calibri"/>
              </a:rPr>
              <a:t>Firdous</a:t>
            </a:r>
            <a:r>
              <a:rPr lang="en-US" dirty="0">
                <a:solidFill>
                  <a:schemeClr val="dk1"/>
                </a:solidFill>
                <a:latin typeface="Calibri"/>
                <a:ea typeface="Calibri"/>
                <a:cs typeface="Calibri"/>
                <a:sym typeface="Calibri"/>
              </a:rPr>
              <a:t>, F., Gupta, D., &amp; </a:t>
            </a:r>
            <a:r>
              <a:rPr lang="en-US" dirty="0" err="1">
                <a:solidFill>
                  <a:schemeClr val="dk1"/>
                </a:solidFill>
                <a:latin typeface="Calibri"/>
                <a:ea typeface="Calibri"/>
                <a:cs typeface="Calibri"/>
                <a:sym typeface="Calibri"/>
              </a:rPr>
              <a:t>Sood</a:t>
            </a:r>
            <a:r>
              <a:rPr lang="en-US" dirty="0">
                <a:solidFill>
                  <a:schemeClr val="dk1"/>
                </a:solidFill>
                <a:latin typeface="Calibri"/>
                <a:ea typeface="Calibri"/>
                <a:cs typeface="Calibri"/>
                <a:sym typeface="Calibri"/>
              </a:rPr>
              <a:t>, H. (2026). AI-Based Smart Identification of Medicinal Plants Using Vision Transformer and </a:t>
            </a:r>
            <a:r>
              <a:rPr lang="en-US" dirty="0" err="1">
                <a:solidFill>
                  <a:schemeClr val="dk1"/>
                </a:solidFill>
                <a:latin typeface="Calibri"/>
                <a:ea typeface="Calibri"/>
                <a:cs typeface="Calibri"/>
                <a:sym typeface="Calibri"/>
              </a:rPr>
              <a:t>CatBoost</a:t>
            </a:r>
            <a:r>
              <a:rPr lang="en-US" dirty="0">
                <a:solidFill>
                  <a:schemeClr val="dk1"/>
                </a:solidFill>
                <a:latin typeface="Calibri"/>
                <a:ea typeface="Calibri"/>
                <a:cs typeface="Calibri"/>
                <a:sym typeface="Calibri"/>
              </a:rPr>
              <a:t> for Biodiversity and Healthcare. ECTI Transactions on Computer and Information Technology (ECTI-CIT), 20(1), 1–14.</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err="1">
                <a:solidFill>
                  <a:schemeClr val="dk1"/>
                </a:solidFill>
                <a:latin typeface="Calibri"/>
                <a:ea typeface="Calibri"/>
                <a:cs typeface="Calibri"/>
                <a:sym typeface="Calibri"/>
              </a:rPr>
              <a:t>Furqan</a:t>
            </a:r>
            <a:r>
              <a:rPr lang="en-US" dirty="0">
                <a:solidFill>
                  <a:schemeClr val="dk1"/>
                </a:solidFill>
                <a:latin typeface="Calibri"/>
                <a:ea typeface="Calibri"/>
                <a:cs typeface="Calibri"/>
                <a:sym typeface="Calibri"/>
              </a:rPr>
              <a:t>, M., </a:t>
            </a:r>
            <a:r>
              <a:rPr lang="en-US" dirty="0" err="1">
                <a:solidFill>
                  <a:schemeClr val="dk1"/>
                </a:solidFill>
                <a:latin typeface="Calibri"/>
                <a:ea typeface="Calibri"/>
                <a:cs typeface="Calibri"/>
                <a:sym typeface="Calibri"/>
              </a:rPr>
              <a:t>Katuk</a:t>
            </a:r>
            <a:r>
              <a:rPr lang="en-US" dirty="0">
                <a:solidFill>
                  <a:schemeClr val="dk1"/>
                </a:solidFill>
                <a:latin typeface="Calibri"/>
                <a:ea typeface="Calibri"/>
                <a:cs typeface="Calibri"/>
                <a:sym typeface="Calibri"/>
              </a:rPr>
              <a:t>, N., &amp; </a:t>
            </a:r>
            <a:r>
              <a:rPr lang="en-US" dirty="0" err="1">
                <a:solidFill>
                  <a:schemeClr val="dk1"/>
                </a:solidFill>
                <a:latin typeface="Calibri"/>
                <a:ea typeface="Calibri"/>
                <a:cs typeface="Calibri"/>
                <a:sym typeface="Calibri"/>
              </a:rPr>
              <a:t>Hartama</a:t>
            </a:r>
            <a:r>
              <a:rPr lang="en-US" dirty="0">
                <a:solidFill>
                  <a:schemeClr val="dk1"/>
                </a:solidFill>
                <a:latin typeface="Calibri"/>
                <a:ea typeface="Calibri"/>
                <a:cs typeface="Calibri"/>
                <a:sym typeface="Calibri"/>
              </a:rPr>
              <a:t>, D. (2026). Multiclass Skin Lesion Classification Algorithm using Attention-Based Vision Transformer with Metadata Fusion. Journal of Applied Data Sciences, 7(1), 203–217.</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err="1">
                <a:solidFill>
                  <a:schemeClr val="dk1"/>
                </a:solidFill>
                <a:latin typeface="Calibri"/>
                <a:ea typeface="Calibri"/>
                <a:cs typeface="Calibri"/>
                <a:sym typeface="Calibri"/>
              </a:rPr>
              <a:t>Gerz</a:t>
            </a:r>
            <a:r>
              <a:rPr lang="en-US" dirty="0">
                <a:solidFill>
                  <a:schemeClr val="dk1"/>
                </a:solidFill>
                <a:latin typeface="Calibri"/>
                <a:ea typeface="Calibri"/>
                <a:cs typeface="Calibri"/>
                <a:sym typeface="Calibri"/>
              </a:rPr>
              <a:t>, F., Schneider, M. G., &amp; </a:t>
            </a:r>
            <a:r>
              <a:rPr lang="en-US" dirty="0" err="1">
                <a:solidFill>
                  <a:schemeClr val="dk1"/>
                </a:solidFill>
                <a:latin typeface="Calibri"/>
                <a:ea typeface="Calibri"/>
                <a:cs typeface="Calibri"/>
                <a:sym typeface="Calibri"/>
              </a:rPr>
              <a:t>Jelali</a:t>
            </a:r>
            <a:r>
              <a:rPr lang="en-US" dirty="0">
                <a:solidFill>
                  <a:schemeClr val="dk1"/>
                </a:solidFill>
                <a:latin typeface="Calibri"/>
                <a:ea typeface="Calibri"/>
                <a:cs typeface="Calibri"/>
                <a:sym typeface="Calibri"/>
              </a:rPr>
              <a:t>, M. (2026). Integration of Vision Transformer Networks in YOLOv8 for Object Detection: Comparative Study on Plant Disease Detection. IEEE Access.</a:t>
            </a:r>
            <a:endParaRPr dirty="0">
              <a:solidFill>
                <a:schemeClr val="dk1"/>
              </a:solidFill>
              <a:latin typeface="Calibri"/>
              <a:ea typeface="Calibri"/>
              <a:cs typeface="Calibri"/>
              <a:sym typeface="Calibri"/>
            </a:endParaRPr>
          </a:p>
          <a:p>
            <a:pPr marL="457200" lvl="0" indent="-317500" algn="just" rtl="0">
              <a:spcBef>
                <a:spcPts val="0"/>
              </a:spcBef>
              <a:spcAft>
                <a:spcPts val="0"/>
              </a:spcAft>
              <a:buClr>
                <a:schemeClr val="dk1"/>
              </a:buClr>
              <a:buSzPts val="1400"/>
              <a:buFont typeface="Calibri"/>
              <a:buChar char="●"/>
            </a:pPr>
            <a:r>
              <a:rPr lang="en-US" dirty="0" err="1">
                <a:solidFill>
                  <a:schemeClr val="dk1"/>
                </a:solidFill>
                <a:latin typeface="Calibri"/>
                <a:ea typeface="Calibri"/>
                <a:cs typeface="Calibri"/>
                <a:sym typeface="Calibri"/>
              </a:rPr>
              <a:t>Öztaş</a:t>
            </a:r>
            <a:r>
              <a:rPr lang="en-US" dirty="0">
                <a:solidFill>
                  <a:schemeClr val="dk1"/>
                </a:solidFill>
                <a:latin typeface="Calibri"/>
                <a:ea typeface="Calibri"/>
                <a:cs typeface="Calibri"/>
                <a:sym typeface="Calibri"/>
              </a:rPr>
              <a:t>, D. M., </a:t>
            </a:r>
            <a:r>
              <a:rPr lang="en-US" dirty="0" err="1">
                <a:solidFill>
                  <a:schemeClr val="dk1"/>
                </a:solidFill>
                <a:latin typeface="Calibri"/>
                <a:ea typeface="Calibri"/>
                <a:cs typeface="Calibri"/>
                <a:sym typeface="Calibri"/>
              </a:rPr>
              <a:t>Salehi</a:t>
            </a:r>
            <a:r>
              <a:rPr lang="en-US" dirty="0">
                <a:solidFill>
                  <a:schemeClr val="dk1"/>
                </a:solidFill>
                <a:latin typeface="Calibri"/>
                <a:ea typeface="Calibri"/>
                <a:cs typeface="Calibri"/>
                <a:sym typeface="Calibri"/>
              </a:rPr>
              <a:t>, H., </a:t>
            </a:r>
            <a:r>
              <a:rPr lang="en-US" dirty="0" err="1">
                <a:solidFill>
                  <a:schemeClr val="dk1"/>
                </a:solidFill>
                <a:latin typeface="Calibri"/>
                <a:ea typeface="Calibri"/>
                <a:cs typeface="Calibri"/>
                <a:sym typeface="Calibri"/>
              </a:rPr>
              <a:t>Demir</a:t>
            </a:r>
            <a:r>
              <a:rPr lang="en-US" dirty="0">
                <a:solidFill>
                  <a:schemeClr val="dk1"/>
                </a:solidFill>
                <a:latin typeface="Calibri"/>
                <a:ea typeface="Calibri"/>
                <a:cs typeface="Calibri"/>
                <a:sym typeface="Calibri"/>
              </a:rPr>
              <a:t>, Ö., </a:t>
            </a:r>
            <a:r>
              <a:rPr lang="en-US" dirty="0" err="1">
                <a:solidFill>
                  <a:schemeClr val="dk1"/>
                </a:solidFill>
                <a:latin typeface="Calibri"/>
                <a:ea typeface="Calibri"/>
                <a:cs typeface="Calibri"/>
                <a:sym typeface="Calibri"/>
              </a:rPr>
              <a:t>Acici</a:t>
            </a:r>
            <a:r>
              <a:rPr lang="en-US" dirty="0">
                <a:solidFill>
                  <a:schemeClr val="dk1"/>
                </a:solidFill>
                <a:latin typeface="Calibri"/>
                <a:ea typeface="Calibri"/>
                <a:cs typeface="Calibri"/>
                <a:sym typeface="Calibri"/>
              </a:rPr>
              <a:t>, K., </a:t>
            </a:r>
            <a:r>
              <a:rPr lang="en-US" dirty="0" err="1">
                <a:solidFill>
                  <a:schemeClr val="dk1"/>
                </a:solidFill>
                <a:latin typeface="Calibri"/>
                <a:ea typeface="Calibri"/>
                <a:cs typeface="Calibri"/>
                <a:sym typeface="Calibri"/>
              </a:rPr>
              <a:t>Güzel</a:t>
            </a:r>
            <a:r>
              <a:rPr lang="en-US" dirty="0">
                <a:solidFill>
                  <a:schemeClr val="dk1"/>
                </a:solidFill>
                <a:latin typeface="Calibri"/>
                <a:ea typeface="Calibri"/>
                <a:cs typeface="Calibri"/>
                <a:sym typeface="Calibri"/>
              </a:rPr>
              <a:t>, M. S., </a:t>
            </a:r>
            <a:r>
              <a:rPr lang="en-US" dirty="0" err="1">
                <a:solidFill>
                  <a:schemeClr val="dk1"/>
                </a:solidFill>
                <a:latin typeface="Calibri"/>
                <a:ea typeface="Calibri"/>
                <a:cs typeface="Calibri"/>
                <a:sym typeface="Calibri"/>
              </a:rPr>
              <a:t>Eraslan</a:t>
            </a:r>
            <a:r>
              <a:rPr lang="en-US" dirty="0">
                <a:solidFill>
                  <a:schemeClr val="dk1"/>
                </a:solidFill>
                <a:latin typeface="Calibri"/>
                <a:ea typeface="Calibri"/>
                <a:cs typeface="Calibri"/>
                <a:sym typeface="Calibri"/>
              </a:rPr>
              <a:t>, E. C., ... &amp; </a:t>
            </a:r>
            <a:r>
              <a:rPr lang="en-US" dirty="0" err="1">
                <a:solidFill>
                  <a:schemeClr val="dk1"/>
                </a:solidFill>
                <a:latin typeface="Calibri"/>
                <a:ea typeface="Calibri"/>
                <a:cs typeface="Calibri"/>
                <a:sym typeface="Calibri"/>
              </a:rPr>
              <a:t>Ekinci</a:t>
            </a:r>
            <a:r>
              <a:rPr lang="en-US" dirty="0">
                <a:solidFill>
                  <a:schemeClr val="dk1"/>
                </a:solidFill>
                <a:latin typeface="Calibri"/>
                <a:ea typeface="Calibri"/>
                <a:cs typeface="Calibri"/>
                <a:sym typeface="Calibri"/>
              </a:rPr>
              <a:t>, F. (2026). Balancing Accuracy and Efficiency in Fine-Grained Image Classification: A Systematic Comparison of CNN, Vision Transformer, and Hybrid Architectures. Plant Systematics and Evolution, 312(4), 30</a:t>
            </a:r>
          </a:p>
          <a:p>
            <a:pPr marL="457200" lvl="0" indent="-317500" algn="just" rtl="0">
              <a:spcBef>
                <a:spcPts val="0"/>
              </a:spcBef>
              <a:spcAft>
                <a:spcPts val="0"/>
              </a:spcAft>
              <a:buClr>
                <a:schemeClr val="dk1"/>
              </a:buClr>
              <a:buSzPts val="1400"/>
              <a:buFont typeface="Calibri"/>
              <a:buChar char="●"/>
            </a:pPr>
            <a:endParaRPr lang="en-US" dirty="0">
              <a:solidFill>
                <a:schemeClr val="dk1"/>
              </a:solidFill>
              <a:latin typeface="Calibri"/>
              <a:ea typeface="Calibri"/>
              <a:cs typeface="Calibri"/>
              <a:sym typeface="Calibri"/>
            </a:endParaRPr>
          </a:p>
          <a:p>
            <a:r>
              <a:rPr lang="en-US" b="1" dirty="0"/>
              <a:t>NOTE: All references must be arranged in Alphabetical Order(Author Name). Minimum 12 references.</a:t>
            </a:r>
          </a:p>
          <a:p>
            <a:pPr marL="0" indent="0">
              <a:buNone/>
            </a:pPr>
            <a:r>
              <a:rPr lang="en-US" b="1" dirty="0"/>
              <a:t>        DONOT give Website references.</a:t>
            </a:r>
          </a:p>
          <a:p>
            <a:pPr marL="457200" lvl="0" indent="-317500" algn="just" rtl="0">
              <a:spcBef>
                <a:spcPts val="0"/>
              </a:spcBef>
              <a:spcAft>
                <a:spcPts val="0"/>
              </a:spcAft>
              <a:buClr>
                <a:schemeClr val="dk1"/>
              </a:buClr>
              <a:buSzPts val="1400"/>
              <a:buFont typeface="Calibri"/>
              <a:buChar char="●"/>
            </a:pPr>
            <a:r>
              <a:rPr lang="en-US" dirty="0">
                <a:solidFill>
                  <a:schemeClr val="dk1"/>
                </a:solidFill>
                <a:latin typeface="Calibri"/>
                <a:ea typeface="Calibri"/>
                <a:cs typeface="Calibri"/>
                <a:sym typeface="Calibri"/>
              </a:rPr>
              <a:t>.</a:t>
            </a:r>
            <a:endParaRPr dirty="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2"/>
          <p:cNvSpPr txBox="1">
            <a:spLocks noGrp="1"/>
          </p:cNvSpPr>
          <p:nvPr>
            <p:ph type="title"/>
          </p:nvPr>
        </p:nvSpPr>
        <p:spPr>
          <a:xfrm>
            <a:off x="29894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THANK YOU</a:t>
            </a:r>
            <a:endParaRPr/>
          </a:p>
        </p:txBody>
      </p:sp>
      <p:sp>
        <p:nvSpPr>
          <p:cNvPr id="265" name="Google Shape;265;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23 July 2026</a:t>
            </a:r>
            <a:endParaRPr/>
          </a:p>
        </p:txBody>
      </p:sp>
      <p:sp>
        <p:nvSpPr>
          <p:cNvPr id="266" name="Google Shape;266;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School of Computing</a:t>
            </a:r>
            <a:endParaRPr/>
          </a:p>
        </p:txBody>
      </p:sp>
      <p:sp>
        <p:nvSpPr>
          <p:cNvPr id="267" name="Google Shape;267;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268" name="Google Shape;268;p32"/>
          <p:cNvSpPr/>
          <p:nvPr/>
        </p:nvSpPr>
        <p:spPr>
          <a:xfrm>
            <a:off x="723744" y="2736502"/>
            <a:ext cx="7918940" cy="138499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800" dirty="0">
                <a:solidFill>
                  <a:schemeClr val="dk1"/>
                </a:solidFill>
                <a:latin typeface="Calibri"/>
                <a:ea typeface="Calibri"/>
                <a:cs typeface="Calibri"/>
                <a:sym typeface="Calibri"/>
              </a:rPr>
              <a:t>We thank God, Our Department, Guide, Panel Members, Supportive Professors and all Technical and non Technical staff who helped us in our Project.</a:t>
            </a:r>
            <a:endParaRPr dirty="0"/>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TotalTime>
  <Words>1270</Words>
  <Application>Microsoft Office PowerPoint</Application>
  <PresentationFormat>On-screen Show (4:3)</PresentationFormat>
  <Paragraphs>177</Paragraphs>
  <Slides>14</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Custom Design</vt:lpstr>
      <vt:lpstr>  </vt:lpstr>
      <vt:lpstr>AGENDA</vt:lpstr>
      <vt:lpstr>ABSTRACT</vt:lpstr>
      <vt:lpstr>OBJECTIVE(S)</vt:lpstr>
      <vt:lpstr>Base Paper Details</vt:lpstr>
      <vt:lpstr>LITERATURE SURVEY(1/5)</vt:lpstr>
      <vt:lpstr>LITERATURE SURVEY(2/5)</vt:lpstr>
      <vt:lpstr>INFERENCES FROM LITERATURE SURVEY</vt:lpstr>
      <vt:lpstr>PROPOSED SYSTEM (1/4)</vt:lpstr>
      <vt:lpstr>PROPOSED SYSTEM(2/4)</vt:lpstr>
      <vt:lpstr>PROPOSED SYSTEM(3/4)</vt:lpstr>
      <vt:lpstr>PROPOSED SYSTEM-Algorithm(4/4)</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admin</dc:creator>
  <cp:lastModifiedBy>Menaka D</cp:lastModifiedBy>
  <cp:revision>29</cp:revision>
  <dcterms:modified xsi:type="dcterms:W3CDTF">2026-07-27T14:30:08Z</dcterms:modified>
</cp:coreProperties>
</file>