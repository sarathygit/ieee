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6"/>
  </p:notesMasterIdLst>
  <p:sldIdLst>
    <p:sldId id="256" r:id="rId2"/>
    <p:sldId id="257" r:id="rId3"/>
    <p:sldId id="258" r:id="rId4"/>
    <p:sldId id="259" r:id="rId5"/>
    <p:sldId id="260" r:id="rId6"/>
    <p:sldId id="276" r:id="rId7"/>
    <p:sldId id="279" r:id="rId23"/>
    <p:sldId id="278" r:id="rId22"/>
    <p:sldId id="277" r:id="rId21"/>
    <p:sldId id="267" r:id="rId9"/>
    <p:sldId id="268" r:id="rId10"/>
    <p:sldId id="269" r:id="rId11"/>
    <p:sldId id="270" r:id="rId12"/>
    <p:sldId id="271" r:id="rId13"/>
    <p:sldId id="272" r:id="rId14"/>
    <p:sldId id="274"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90951E-888E-4E4A-AB0E-B8263742497D}">
  <a:tblStyle styleId="{CB90951E-888E-4E4A-AB0E-B8263742497D}" styleName="Table_0">
    <a:wholeTbl>
      <a:tcTxStyle b="off" i="off">
        <a:font>
          <a:latin typeface="Calibri"/>
          <a:ea typeface="Calibri"/>
          <a:cs typeface="Calibri"/>
        </a:font>
        <a:schemeClr val="dk1"/>
      </a:tcTxStyle>
      <a:tcStyle>
        <a:tcBdr>
          <a:left>
            <a:ln w="12700" cap="flat" cmpd="sng">
              <a:solidFill>
                <a:schemeClr val="accent3"/>
              </a:solidFill>
              <a:prstDash val="solid"/>
              <a:round/>
              <a:headEnd type="none" w="sm" len="sm"/>
              <a:tailEnd type="none" w="sm" len="sm"/>
            </a:ln>
          </a:left>
          <a:right>
            <a:ln w="12700" cap="flat" cmpd="sng">
              <a:solidFill>
                <a:schemeClr val="accent3"/>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12700" cap="flat" cmpd="sng">
              <a:solidFill>
                <a:schemeClr val="accent3"/>
              </a:solidFill>
              <a:prstDash val="solid"/>
              <a:round/>
              <a:headEnd type="none" w="sm" len="sm"/>
              <a:tailEnd type="none" w="sm" len="sm"/>
            </a:ln>
          </a:insideH>
          <a:insideV>
            <a:ln w="12700"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E43DB06B-603F-4C97-AB98-BA22BC9FC4E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790" y="7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9.xml"/><Relationship Id="rId22" Type="http://schemas.openxmlformats.org/officeDocument/2006/relationships/slide" Target="slides/slide8.xml"/><Relationship Id="rId2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t>Introduce the team and the title. One line: today's fraud systems detect AFTER money moves; we block BEFORE it moves.</a:t>
            </a:r>
          </a:p>
        </p:txBody>
      </p:sp>
      <p:sp>
        <p:nvSpPr>
          <p:cNvPr id="94" name="Google Shape;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Walk the agenda in ten seconds.</a:t>
            </a:r>
          </a:p>
        </p:txBody>
      </p:sp>
      <p:sp>
        <p:nvSpPr>
          <p:cNvPr id="107" name="Google Shape;10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Key sentence: a blocked transfer never exists in the ledger, so there is nothing to claw back. Mention the 11-12 ms measured decision time.</a:t>
            </a:r>
          </a:p>
        </p:txBody>
      </p:sp>
      <p:sp>
        <p:nvSpPr>
          <p:cNvPr id="116" name="Google Shape;11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Five objectives. Emphasise objective 2 (atomic rollback with surviving audit) - that is the novel engineering contribution.</a:t>
            </a:r>
          </a:p>
        </p:txBody>
      </p:sp>
      <p:sp>
        <p:nvSpPr>
          <p:cNvPr id="125" name="Google Shape;12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f95b3139f2_0_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State the base paper and, importantly, the gap: it scores transactions but never integrates with the transaction boundary, so detection stays advisory.</a:t>
            </a:r>
          </a:p>
        </p:txBody>
      </p:sp>
      <p:sp>
        <p:nvSpPr>
          <p:cNvPr id="134" name="Google Shape;134;g3f95b3139f2_0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Foundational anomaly detection. Isolation Forest is what we deployed; LOF and One-Class SVM are our comparison baselines.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The critical inference is the third one: no reviewed work ties the fraud verdict to database transaction semantics. That gap is our project.</a:t>
            </a:r>
          </a:p>
        </p:txBody>
      </p:sp>
      <p:sp>
        <p:nvSpPr>
          <p:cNvPr id="197" name="Google Shape;19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Walk the four numbered steps, then the advantages. If asked how the audit row survives a rollback: it is written in a separate REQUIRES_NEW transaction.</a:t>
            </a:r>
          </a:p>
        </p:txBody>
      </p:sp>
      <p:sp>
        <p:nvSpPr>
          <p:cNvPr id="206" name="Google Shape;2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t>Trace one payment left to right, then down to the ledger. Stress that the money is already debited but NOT committed while the AI is deciding.</a:t>
            </a:r>
          </a:p>
        </p:txBody>
      </p:sp>
      <p:sp>
        <p:nvSpPr>
          <p:cNvPr id="216" name="Google Shape;216;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Six modules. Testing and Evaluation covers commit, rollback, account lock and fail-closed paths plus latency benchmarking.</a:t>
            </a:r>
          </a:p>
        </p:txBody>
      </p:sp>
      <p:sp>
        <p:nvSpPr>
          <p:cNvPr id="226" name="Google Shape;22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The last two items are what overcome the gap in existing work: pessimistic locking during the scoring hop, and exception-driven atomic rollback.</a:t>
            </a:r>
          </a:p>
        </p:txBody>
      </p:sp>
      <p:sp>
        <p:nvSpPr>
          <p:cNvPr id="235" name="Google Shape;23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Alphabetical order. Four IEEE Xplore references still need complete author lists before submission.</a:t>
            </a:r>
          </a:p>
        </p:txBody>
      </p:sp>
      <p:sp>
        <p:nvSpPr>
          <p:cNvPr id="244" name="Google Shape;24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t>Thank the panel and invite questions. Offer the live demo if time permits.</a:t>
            </a:r>
          </a:p>
        </p:txBody>
      </p:sp>
      <p:sp>
        <p:nvSpPr>
          <p:cNvPr id="262" name="Google Shape;26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Evaluation methodology and the two fraud surveys that frame the field's reliance on supervised learning.</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Recent UPI-specific work. Note that all of it scores post-transaction.</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Applied and comparative studies. The last row is the direct LOF vs Isolation Forest comparison on card data.</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 name="Google Shape;20;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4" name="Google Shape;44;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0"/>
          <p:cNvSpPr>
            <a:spLocks noGrp="1"/>
          </p:cNvSpPr>
          <p:nvPr>
            <p:ph type="pic" idx="2"/>
          </p:nvPr>
        </p:nvSpPr>
        <p:spPr>
          <a:xfrm>
            <a:off x="1792288" y="612775"/>
            <a:ext cx="5486400" cy="4114800"/>
          </a:xfrm>
          <a:prstGeom prst="rect">
            <a:avLst/>
          </a:prstGeom>
          <a:noFill/>
          <a:ln>
            <a:noFill/>
          </a:ln>
        </p:spPr>
      </p:sp>
      <p:sp>
        <p:nvSpPr>
          <p:cNvPr id="70" name="Google Shape;70;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86"/>
        <p:cNvGrpSpPr/>
        <p:nvPr/>
      </p:nvGrpSpPr>
      <p:grpSpPr>
        <a:xfrm>
          <a:off x="0" y="0"/>
          <a:ext cx="0" cy="0"/>
          <a:chOff x="0" y="0"/>
          <a:chExt cx="0" cy="0"/>
        </a:xfrm>
      </p:grpSpPr>
      <p:sp>
        <p:nvSpPr>
          <p:cNvPr id="87" name="Google Shape;87;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13"/>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974806"/>
                </a:solidFill>
                <a:latin typeface="Calibri"/>
                <a:ea typeface="Calibri"/>
                <a:cs typeface="Calibri"/>
                <a:sym typeface="Calibri"/>
              </a:defRPr>
            </a:lvl1pPr>
            <a:lvl2pPr marL="0" lvl="1" indent="0" algn="r">
              <a:spcBef>
                <a:spcPts val="0"/>
              </a:spcBef>
              <a:buNone/>
              <a:defRPr sz="1200">
                <a:solidFill>
                  <a:srgbClr val="974806"/>
                </a:solidFill>
                <a:latin typeface="Calibri"/>
                <a:ea typeface="Calibri"/>
                <a:cs typeface="Calibri"/>
                <a:sym typeface="Calibri"/>
              </a:defRPr>
            </a:lvl2pPr>
            <a:lvl3pPr marL="0" lvl="2" indent="0" algn="r">
              <a:spcBef>
                <a:spcPts val="0"/>
              </a:spcBef>
              <a:buNone/>
              <a:defRPr sz="1200">
                <a:solidFill>
                  <a:srgbClr val="974806"/>
                </a:solidFill>
                <a:latin typeface="Calibri"/>
                <a:ea typeface="Calibri"/>
                <a:cs typeface="Calibri"/>
                <a:sym typeface="Calibri"/>
              </a:defRPr>
            </a:lvl3pPr>
            <a:lvl4pPr marL="0" lvl="3" indent="0" algn="r">
              <a:spcBef>
                <a:spcPts val="0"/>
              </a:spcBef>
              <a:buNone/>
              <a:defRPr sz="1200">
                <a:solidFill>
                  <a:srgbClr val="974806"/>
                </a:solidFill>
                <a:latin typeface="Calibri"/>
                <a:ea typeface="Calibri"/>
                <a:cs typeface="Calibri"/>
                <a:sym typeface="Calibri"/>
              </a:defRPr>
            </a:lvl4pPr>
            <a:lvl5pPr marL="0" lvl="4" indent="0" algn="r">
              <a:spcBef>
                <a:spcPts val="0"/>
              </a:spcBef>
              <a:buNone/>
              <a:defRPr sz="1200">
                <a:solidFill>
                  <a:srgbClr val="974806"/>
                </a:solidFill>
                <a:latin typeface="Calibri"/>
                <a:ea typeface="Calibri"/>
                <a:cs typeface="Calibri"/>
                <a:sym typeface="Calibri"/>
              </a:defRPr>
            </a:lvl5pPr>
            <a:lvl6pPr marL="0" lvl="5" indent="0" algn="r">
              <a:spcBef>
                <a:spcPts val="0"/>
              </a:spcBef>
              <a:buNone/>
              <a:defRPr sz="1200">
                <a:solidFill>
                  <a:srgbClr val="974806"/>
                </a:solidFill>
                <a:latin typeface="Calibri"/>
                <a:ea typeface="Calibri"/>
                <a:cs typeface="Calibri"/>
                <a:sym typeface="Calibri"/>
              </a:defRPr>
            </a:lvl6pPr>
            <a:lvl7pPr marL="0" lvl="6" indent="0" algn="r">
              <a:spcBef>
                <a:spcPts val="0"/>
              </a:spcBef>
              <a:buNone/>
              <a:defRPr sz="1200">
                <a:solidFill>
                  <a:srgbClr val="974806"/>
                </a:solidFill>
                <a:latin typeface="Calibri"/>
                <a:ea typeface="Calibri"/>
                <a:cs typeface="Calibri"/>
                <a:sym typeface="Calibri"/>
              </a:defRPr>
            </a:lvl7pPr>
            <a:lvl8pPr marL="0" lvl="7" indent="0" algn="r">
              <a:spcBef>
                <a:spcPts val="0"/>
              </a:spcBef>
              <a:buNone/>
              <a:defRPr sz="1200">
                <a:solidFill>
                  <a:srgbClr val="974806"/>
                </a:solidFill>
                <a:latin typeface="Calibri"/>
                <a:ea typeface="Calibri"/>
                <a:cs typeface="Calibri"/>
                <a:sym typeface="Calibri"/>
              </a:defRPr>
            </a:lvl8pPr>
            <a:lvl9pPr marL="0" lvl="8" indent="0" algn="r">
              <a:spcBef>
                <a:spcPts val="0"/>
              </a:spcBef>
              <a:buNone/>
              <a:defRPr sz="1200">
                <a:solidFill>
                  <a:srgbClr val="97480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a:off x="298940" y="177143"/>
            <a:ext cx="8610600" cy="6553200"/>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6" name="Google Shape;16;p1"/>
          <p:cNvCxnSpPr/>
          <p:nvPr/>
        </p:nvCxnSpPr>
        <p:spPr>
          <a:xfrm>
            <a:off x="298940" y="1219200"/>
            <a:ext cx="8610600" cy="1588"/>
          </a:xfrm>
          <a:prstGeom prst="straightConnector1">
            <a:avLst/>
          </a:prstGeom>
          <a:noFill/>
          <a:ln w="25400" cap="flat" cmpd="sng">
            <a:solidFill>
              <a:schemeClr val="dk2"/>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ctrTitle"/>
          </p:nvPr>
        </p:nvSpPr>
        <p:spPr>
          <a:xfrm>
            <a:off x="571500" y="253797"/>
            <a:ext cx="7772400" cy="79972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44061"/>
              </a:buClr>
              <a:buSzPct val="100000"/>
              <a:buFont typeface="Arial"/>
              <a:buNone/>
            </a:pPr>
            <a:br>
              <a:rPr lang="en-US" sz="2000">
                <a:solidFill>
                  <a:srgbClr val="244061"/>
                </a:solidFill>
                <a:latin typeface="Arial"/>
                <a:ea typeface="Arial"/>
                <a:cs typeface="Arial"/>
                <a:sym typeface="Arial"/>
              </a:rPr>
            </a:br>
            <a:br>
              <a:rPr lang="en-US" sz="2400">
                <a:solidFill>
                  <a:srgbClr val="244061"/>
                </a:solidFill>
                <a:latin typeface="Arial"/>
                <a:ea typeface="Arial"/>
                <a:cs typeface="Arial"/>
                <a:sym typeface="Arial"/>
              </a:rPr>
            </a:br>
            <a:endParaRPr sz="2400">
              <a:solidFill>
                <a:srgbClr val="244061"/>
              </a:solidFill>
              <a:latin typeface="Arial"/>
              <a:ea typeface="Arial"/>
              <a:cs typeface="Arial"/>
              <a:sym typeface="Arial"/>
            </a:endParaRPr>
          </a:p>
        </p:txBody>
      </p:sp>
      <p:sp>
        <p:nvSpPr>
          <p:cNvPr id="97" name="Google Shape;97;p14"/>
          <p:cNvSpPr txBox="1">
            <a:spLocks noGrp="1"/>
          </p:cNvSpPr>
          <p:nvPr>
            <p:ph type="subTitle" idx="1"/>
          </p:nvPr>
        </p:nvSpPr>
        <p:spPr>
          <a:xfrm>
            <a:off x="502920" y="2971800"/>
            <a:ext cx="8138160" cy="1371600"/>
          </a:xfrm>
          <a:prstGeom prst="rect">
            <a:avLst/>
          </a:prstGeom>
          <a:noFill/>
          <a:ln>
            <a:noFill/>
          </a:ln>
        </p:spPr>
        <p:txBody>
          <a:bodyPr spcFirstLastPara="1" wrap="square" lIns="91425" tIns="45700" rIns="91425" bIns="45700" anchor="t" anchorCtr="0">
            <a:normAutofit/>
          </a:bodyPr>
          <a:lstStyle/>
          <a:p>
            <a:pPr marL="0" lvl="0" indent="0" algn="ctr" rtl="0">
              <a:lnSpc>
                <a:spcPct val="170000"/>
              </a:lnSpc>
              <a:spcBef>
                <a:spcPts val="0"/>
              </a:spcBef>
              <a:spcAft>
                <a:spcPts val="0"/>
              </a:spcAft>
              <a:buClr>
                <a:srgbClr val="888888"/>
              </a:buClr>
              <a:buSzPct val="100000"/>
              <a:buNone/>
            </a:pPr>
            <a:r>
              <a:rPr sz="1600"/>
              <a:t>RT-IIPF: REAL-TIME INLINE INTERCEPTION OF FRAUDULENT UPI TRANSACTIONS USING UNSUPERVISED ANOMALY DETECTION AND TRANSACTIONAL ROLLBACK</a:t>
            </a:r>
            <a:endParaRPr sz="2800" dirty="0">
              <a:solidFill>
                <a:schemeClr val="dk1"/>
              </a:solidFill>
              <a:latin typeface="Arial"/>
              <a:ea typeface="Arial"/>
              <a:cs typeface="Arial"/>
              <a:sym typeface="Arial"/>
            </a:endParaRPr>
          </a:p>
        </p:txBody>
      </p:sp>
      <p:sp>
        <p:nvSpPr>
          <p:cNvPr id="98" name="Google Shape;98;p14"/>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p>
            <a:pPr marL="0" lvl="0" indent="0" algn="l" rtl="0">
              <a:spcBef>
                <a:spcPts val="0"/>
              </a:spcBef>
              <a:spcAft>
                <a:spcPts val="0"/>
              </a:spcAft>
              <a:buNone/>
            </a:pPr>
            <a:r>
              <a:rPr lang="en-US" dirty="0"/>
              <a:t>23 July 2026</a:t>
            </a:r>
            <a:endParaRPr dirty="0"/>
          </a:p>
        </p:txBody>
      </p:sp>
      <p:sp>
        <p:nvSpPr>
          <p:cNvPr id="99" name="Google Shape;9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102" name="Google Shape;102;p14"/>
          <p:cNvSpPr txBox="1"/>
          <p:nvPr/>
        </p:nvSpPr>
        <p:spPr>
          <a:xfrm>
            <a:off x="457200" y="4901084"/>
            <a:ext cx="8381999" cy="1487883"/>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400"/>
              <a:buFont typeface="Arial"/>
              <a:buNone/>
            </a:pPr>
            <a:r>
              <a:rPr lang="en-US" sz="1800" b="1" u="none" dirty="0">
                <a:solidFill>
                  <a:schemeClr val="dk1"/>
                </a:solidFill>
                <a:latin typeface="Calibri"/>
                <a:ea typeface="Calibri"/>
                <a:cs typeface="Calibri"/>
                <a:sym typeface="Calibri"/>
              </a:rPr>
              <a:t>PROJECT STUDENTS                              GUIDE</a:t>
            </a:r>
            <a:endParaRPr lang="en-US" dirty="0"/>
          </a:p>
          <a:p>
            <a:pPr marL="0" marR="0" lvl="0" indent="0" algn="l" rtl="0">
              <a:spcBef>
                <a:spcPts val="0"/>
              </a:spcBef>
              <a:spcAft>
                <a:spcPts val="0"/>
              </a:spcAft>
              <a:buClr>
                <a:schemeClr val="dk1"/>
              </a:buClr>
              <a:buSzPts val="2400"/>
              <a:buFont typeface="Arial"/>
              <a:buNone/>
            </a:pPr>
            <a:r>
              <a:rPr lang="en-US" sz="1800" b="1" u="none" dirty="0">
                <a:solidFill>
                  <a:schemeClr val="dk1"/>
                </a:solidFill>
                <a:latin typeface="Calibri"/>
                <a:ea typeface="Calibri"/>
                <a:cs typeface="Calibri"/>
                <a:sym typeface="Calibri"/>
              </a:rPr>
              <a:t>[Student Name 1], [Reg. No.]                  [Guide Name]</a:t>
            </a:r>
            <a:endParaRPr lang="en-US" dirty="0"/>
          </a:p>
          <a:p>
            <a:pPr marL="0" marR="0" lvl="0" indent="0" algn="l" rtl="0">
              <a:spcBef>
                <a:spcPts val="0"/>
              </a:spcBef>
              <a:spcAft>
                <a:spcPts val="0"/>
              </a:spcAft>
              <a:buClr>
                <a:schemeClr val="dk1"/>
              </a:buClr>
              <a:buSzPts val="2400"/>
              <a:buFont typeface="Arial"/>
              <a:buNone/>
            </a:pPr>
            <a:r>
              <a:rPr lang="en-US" sz="1800" b="1" u="none" dirty="0">
                <a:solidFill>
                  <a:schemeClr val="dk1"/>
                </a:solidFill>
                <a:latin typeface="Calibri"/>
                <a:ea typeface="Calibri"/>
                <a:cs typeface="Calibri"/>
                <a:sym typeface="Calibri"/>
              </a:rPr>
              <a:t>[Student Name 2], [Reg. No.]                  Assistant Professor, CSE</a:t>
            </a:r>
            <a:endParaRPr lang="en-US" dirty="0"/>
          </a:p>
        </p:txBody>
      </p:sp>
      <p:sp>
        <p:nvSpPr>
          <p:cNvPr id="103" name="Google Shape;103;p14"/>
          <p:cNvSpPr txBox="1"/>
          <p:nvPr/>
        </p:nvSpPr>
        <p:spPr>
          <a:xfrm>
            <a:off x="323848" y="1369442"/>
            <a:ext cx="8763000" cy="13849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dk1"/>
                </a:solidFill>
                <a:latin typeface="Calibri"/>
                <a:ea typeface="Calibri"/>
                <a:cs typeface="Calibri"/>
                <a:sym typeface="Calibri"/>
              </a:rPr>
              <a:t>DEPARTMENT OF COMPUTER SCIENCE AND ENGINEERING WITH SPECIALIZATION IN DS/AIML/AIR</a:t>
            </a:r>
            <a:endParaRPr dirty="0"/>
          </a:p>
          <a:p>
            <a:pPr marL="0" marR="0" lvl="0" indent="0" algn="ctr" rtl="0">
              <a:spcBef>
                <a:spcPts val="0"/>
              </a:spcBef>
              <a:spcAft>
                <a:spcPts val="0"/>
              </a:spcAft>
              <a:buNone/>
            </a:pPr>
            <a:r>
              <a:rPr lang="en-US" sz="2800" b="1" dirty="0">
                <a:solidFill>
                  <a:schemeClr val="dk1"/>
                </a:solidFill>
                <a:latin typeface="Calibri"/>
                <a:ea typeface="Calibri"/>
                <a:cs typeface="Calibri"/>
                <a:sym typeface="Calibri"/>
              </a:rPr>
              <a:t>PROJECT PHASE-I</a:t>
            </a:r>
            <a:endParaRPr dirty="0"/>
          </a:p>
        </p:txBody>
      </p:sp>
      <p:pic>
        <p:nvPicPr>
          <p:cNvPr id="104" name="Google Shape;104;p14"/>
          <p:cNvPicPr preferRelativeResize="0"/>
          <p:nvPr/>
        </p:nvPicPr>
        <p:blipFill rotWithShape="1">
          <a:blip r:embed="rId3">
            <a:alphaModFix/>
          </a:blip>
          <a:srcRect/>
          <a:stretch/>
        </p:blipFill>
        <p:spPr>
          <a:xfrm>
            <a:off x="571499" y="253797"/>
            <a:ext cx="8267699" cy="9654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AGENDA</a:t>
            </a:r>
            <a:endParaRPr/>
          </a:p>
        </p:txBody>
      </p:sp>
      <p:sp>
        <p:nvSpPr>
          <p:cNvPr id="110" name="Google Shape;110;p15"/>
          <p:cNvSpPr txBox="1">
            <a:spLocks noGrp="1"/>
          </p:cNvSpPr>
          <p:nvPr>
            <p:ph type="body" idx="1"/>
          </p:nvPr>
        </p:nvSpPr>
        <p:spPr>
          <a:xfrm>
            <a:off x="457200" y="1600993"/>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Abstract</a:t>
            </a:r>
            <a:endParaRPr/>
          </a:p>
          <a:p>
            <a:pPr marL="342900" lvl="0" indent="-342900" algn="l" rtl="0">
              <a:spcBef>
                <a:spcPts val="640"/>
              </a:spcBef>
              <a:spcAft>
                <a:spcPts val="0"/>
              </a:spcAft>
              <a:buClr>
                <a:schemeClr val="dk1"/>
              </a:buClr>
              <a:buSzPts val="3200"/>
              <a:buChar char="•"/>
            </a:pPr>
            <a:r>
              <a:rPr lang="en-US"/>
              <a:t>Objective(s)</a:t>
            </a:r>
            <a:endParaRPr/>
          </a:p>
          <a:p>
            <a:pPr marL="342900" lvl="0" indent="-342900" algn="l" rtl="0">
              <a:spcBef>
                <a:spcPts val="640"/>
              </a:spcBef>
              <a:spcAft>
                <a:spcPts val="0"/>
              </a:spcAft>
              <a:buClr>
                <a:schemeClr val="dk1"/>
              </a:buClr>
              <a:buSzPts val="3200"/>
              <a:buChar char="•"/>
            </a:pPr>
            <a:r>
              <a:rPr lang="en-US"/>
              <a:t>Literature Survey</a:t>
            </a:r>
            <a:endParaRPr/>
          </a:p>
          <a:p>
            <a:pPr marL="342900" lvl="0" indent="-342900" algn="l" rtl="0">
              <a:spcBef>
                <a:spcPts val="640"/>
              </a:spcBef>
              <a:spcAft>
                <a:spcPts val="0"/>
              </a:spcAft>
              <a:buClr>
                <a:schemeClr val="dk1"/>
              </a:buClr>
              <a:buSzPts val="3200"/>
              <a:buChar char="•"/>
            </a:pPr>
            <a:r>
              <a:rPr lang="en-US"/>
              <a:t>Inferences from Literature Survey</a:t>
            </a:r>
            <a:endParaRPr/>
          </a:p>
          <a:p>
            <a:pPr marL="342900" lvl="0" indent="-342900" algn="l" rtl="0">
              <a:spcBef>
                <a:spcPts val="640"/>
              </a:spcBef>
              <a:spcAft>
                <a:spcPts val="0"/>
              </a:spcAft>
              <a:buClr>
                <a:schemeClr val="dk1"/>
              </a:buClr>
              <a:buSzPts val="3200"/>
              <a:buChar char="•"/>
            </a:pPr>
            <a:r>
              <a:rPr lang="en-US"/>
              <a:t>Proposed System</a:t>
            </a:r>
            <a:endParaRPr/>
          </a:p>
          <a:p>
            <a:pPr marL="342900" lvl="0" indent="-342900" algn="l" rtl="0">
              <a:spcBef>
                <a:spcPts val="640"/>
              </a:spcBef>
              <a:spcAft>
                <a:spcPts val="0"/>
              </a:spcAft>
              <a:buClr>
                <a:schemeClr val="dk1"/>
              </a:buClr>
              <a:buSzPts val="3200"/>
              <a:buChar char="•"/>
            </a:pPr>
            <a:r>
              <a:rPr lang="en-US"/>
              <a:t>References</a:t>
            </a: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p:txBody>
      </p:sp>
      <p:sp>
        <p:nvSpPr>
          <p:cNvPr id="111" name="Google Shape;11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12" name="Google Shape;11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13" name="Google Shape;11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ABSTRACT</a:t>
            </a:r>
            <a:endParaRPr>
              <a:solidFill>
                <a:srgbClr val="0F243E"/>
              </a:solidFill>
            </a:endParaRPr>
          </a:p>
        </p:txBody>
      </p:sp>
      <p:sp>
        <p:nvSpPr>
          <p:cNvPr id="119" name="Google Shape;119;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0"/>
              </a:spcBef>
              <a:spcAft>
                <a:spcPts val="0"/>
              </a:spcAft>
              <a:buClr>
                <a:schemeClr val="dk1"/>
              </a:buClr>
              <a:buSzPct val="100000"/>
              <a:buNone/>
            </a:pPr>
            <a:r>
              <a:rPr lang="en-US" sz="1400" dirty="0"/>
              <a:t>Conventional payment fraud systems operate retrospectively: a transaction settles, logs are analysed later, and recovery is attempted after the money has already moved. On real-time rails such as the Unified Payments Interface (UPI), funds are forwarded and withdrawn within minutes, making recovery largely infeasible. This project proposes RT-IIPF, a framework that relocates the fraud decision inside the payment transaction itself. When a payment arrives, the Spring Boot switch acquires pessimistic locks on both ledger rows, applies the debit and credit provisionally without committing, and suspends the executing thread while an isolated Python microservice scores the transaction using an unsupervised Isolation Forest. A clean verdict commits the ledger; a fraudulent verdict triggers an atomic rollback and locks the payer account, while the audit record survives the rollback through an independent transaction. The prototype achieves an end-to-end decision in 11-12 ms, so a blocked transfer never attains durable existence in the ledger and there is nothing to claw back.</a:t>
            </a:r>
          </a:p>
        </p:txBody>
      </p:sp>
      <p:sp>
        <p:nvSpPr>
          <p:cNvPr id="120" name="Google Shape;12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21" name="Google Shape;12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22" name="Google Shape;12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OBJECTIVE(S)</a:t>
            </a:r>
            <a:endParaRPr>
              <a:solidFill>
                <a:srgbClr val="0F243E"/>
              </a:solidFill>
            </a:endParaRPr>
          </a:p>
        </p:txBody>
      </p:sp>
      <p:sp>
        <p:nvSpPr>
          <p:cNvPr id="128" name="Google Shape;128;p17"/>
          <p:cNvSpPr txBox="1">
            <a:spLocks noGrp="1"/>
          </p:cNvSpPr>
          <p:nvPr>
            <p:ph type="body" idx="1"/>
          </p:nvPr>
        </p:nvSpPr>
        <p:spPr>
          <a:xfrm>
            <a:off x="457200" y="1600200"/>
            <a:ext cx="8229600" cy="4603652"/>
          </a:xfrm>
          <a:prstGeom prst="rect">
            <a:avLst/>
          </a:prstGeom>
          <a:noFill/>
          <a:ln>
            <a:noFill/>
          </a:ln>
        </p:spPr>
        <p:txBody>
          <a:bodyPr spcFirstLastPara="1" wrap="square" lIns="91425" tIns="45700" rIns="91425" bIns="45700" anchor="t" anchorCtr="0">
            <a:normAutofit/>
          </a:bodyPr>
          <a:lstStyle/>
          <a:p>
            <a:pPr marL="342900" lvl="0" indent="-342900" algn="just" rtl="0">
              <a:lnSpc>
                <a:spcPct val="120000"/>
              </a:lnSpc>
              <a:spcBef>
                <a:spcPts val="0"/>
              </a:spcBef>
              <a:spcAft>
                <a:spcPts val="0"/>
              </a:spcAft>
              <a:buClr>
                <a:schemeClr val="dk1"/>
              </a:buClr>
              <a:buSzPct val="100000"/>
              <a:buChar char="•"/>
            </a:pPr>
            <a:r>
              <a:rPr lang="en-US" sz="1600" dirty="0"/>
              <a:t>Design an inline interception pipeline that suspends a UPI payment mid-transaction and arbitrates its commit on a machine-learning verdict.</a:t>
            </a:r>
            <a:endParaRPr sz="2900" dirty="0"/>
          </a:p>
          <a:p>
            <a:pPr marL="342900" lvl="0" indent="-342900" algn="just" rtl="0">
              <a:lnSpc>
                <a:spcPct val="120000"/>
              </a:lnSpc>
              <a:spcBef>
                <a:spcPts val="0"/>
              </a:spcBef>
              <a:spcAft>
                <a:spcPts val="0"/>
              </a:spcAft>
              <a:buClr>
                <a:schemeClr val="dk1"/>
              </a:buClr>
              <a:buSzPct val="100000"/>
              <a:buChar char="•"/>
            </a:pPr>
            <a:r>
              <a:rPr lang="en-US" sz="1600" dirty="0"/>
              <a:t>Implement atomic rollback with a surviving audit trail, so a blocked transfer leaves no ledger effect while the security response persists.</a:t>
            </a:r>
            <a:endParaRPr sz="2900" dirty="0"/>
          </a:p>
          <a:p>
            <a:pPr marL="342900" lvl="0" indent="-342900" algn="just" rtl="0">
              <a:lnSpc>
                <a:spcPct val="120000"/>
              </a:lnSpc>
              <a:spcBef>
                <a:spcPts val="0"/>
              </a:spcBef>
              <a:spcAft>
                <a:spcPts val="0"/>
              </a:spcAft>
              <a:buClr>
                <a:schemeClr val="dk1"/>
              </a:buClr>
              <a:buSzPct val="100000"/>
              <a:buChar char="•"/>
            </a:pPr>
            <a:r>
              <a:rPr lang="en-US" sz="1600" dirty="0"/>
              <a:t>Train an unsupervised Isolation Forest on 250,000 real UPI transactions that requires no fraud labels and can flag previously unseen patterns.</a:t>
            </a:r>
            <a:endParaRPr sz="2900" dirty="0"/>
          </a:p>
          <a:p>
            <a:pPr marL="342900" lvl="0" indent="-342900" algn="just" rtl="0">
              <a:lnSpc>
                <a:spcPct val="120000"/>
              </a:lnSpc>
              <a:spcBef>
                <a:spcPts val="0"/>
              </a:spcBef>
              <a:spcAft>
                <a:spcPts val="0"/>
              </a:spcAft>
              <a:buClr>
                <a:schemeClr val="dk1"/>
              </a:buClr>
              <a:buSzPct val="100000"/>
              <a:buChar char="•"/>
            </a:pPr>
            <a:r>
              <a:rPr lang="en-US" sz="1600" dirty="0"/>
              <a:t>Enrich six user-entered fields into a 13-feature vector using client telemetry and server-side data the client cannot forge.</a:t>
            </a:r>
            <a:endParaRPr sz="2900" dirty="0"/>
          </a:p>
          <a:p>
            <a:pPr marL="342900" lvl="0" indent="-342900" algn="just" rtl="0">
              <a:lnSpc>
                <a:spcPct val="120000"/>
              </a:lnSpc>
              <a:spcBef>
                <a:spcPts val="0"/>
              </a:spcBef>
              <a:spcAft>
                <a:spcPts val="0"/>
              </a:spcAft>
              <a:buClr>
                <a:schemeClr val="dk1"/>
              </a:buClr>
              <a:buSzPct val="100000"/>
              <a:buChar char="•"/>
            </a:pPr>
            <a:r>
              <a:rPr lang="en-US" sz="1600" dirty="0"/>
              <a:t>Validate the sub-50 ms design budget through latency and concurrency benchmarking of the complete three-service system.</a:t>
            </a:r>
            <a:endParaRPr sz="2900" dirty="0"/>
          </a:p>
        </p:txBody>
      </p:sp>
      <p:sp>
        <p:nvSpPr>
          <p:cNvPr id="129" name="Google Shape;12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30" name="Google Shape;13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31" name="Google Shape;13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381000" y="381000"/>
            <a:ext cx="8229600" cy="655500"/>
          </a:xfrm>
          <a:prstGeom prst="rect">
            <a:avLst/>
          </a:prstGeom>
          <a:noFill/>
          <a:ln>
            <a:noFill/>
          </a:ln>
        </p:spPr>
        <p:txBody>
          <a:bodyPr spcFirstLastPara="1" wrap="square" lIns="91425" tIns="45700" rIns="91425" bIns="45700" anchor="ctr" anchorCtr="0">
            <a:normAutofit fontScale="90000"/>
          </a:bodyPr>
          <a:lstStyle/>
          <a:p>
            <a:pPr marL="0" lvl="0" indent="0" rtl="0">
              <a:spcBef>
                <a:spcPts val="0"/>
              </a:spcBef>
              <a:spcAft>
                <a:spcPts val="0"/>
              </a:spcAft>
              <a:buClr>
                <a:schemeClr val="dk1"/>
              </a:buClr>
              <a:buSzPct val="100000"/>
              <a:buFont typeface="Arial"/>
              <a:buNone/>
            </a:pPr>
            <a:r>
              <a:rPr lang="en-US" dirty="0">
                <a:latin typeface="Arial"/>
                <a:ea typeface="Arial"/>
                <a:cs typeface="Arial"/>
                <a:sym typeface="Arial"/>
              </a:rPr>
              <a:t>Base Paper Details</a:t>
            </a:r>
            <a:endParaRPr dirty="0"/>
          </a:p>
        </p:txBody>
      </p:sp>
      <p:sp>
        <p:nvSpPr>
          <p:cNvPr id="137" name="Google Shape;137;p1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38" name="Google Shape;138;p1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39" name="Google Shape;139;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40" name="Google Shape;140;p18"/>
          <p:cNvSpPr txBox="1"/>
          <p:nvPr/>
        </p:nvSpPr>
        <p:spPr>
          <a:xfrm>
            <a:off x="381000" y="1308295"/>
            <a:ext cx="8509782" cy="5289453"/>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1500" b="1" dirty="0">
                <a:solidFill>
                  <a:schemeClr val="dk1"/>
                </a:solidFill>
              </a:rPr>
              <a:t>Base Paper Title: Enhancing Digital Payment Security: UPI Fraud Detection with Advanced Machine Learning Algorithms</a:t>
            </a:r>
            <a:endParaRPr sz="2400" dirty="0">
              <a:solidFill>
                <a:schemeClr val="dk1"/>
              </a:solidFill>
            </a:endParaRPr>
          </a:p>
          <a:p>
            <a:pPr marL="0" lvl="0" indent="0" algn="l" rtl="0">
              <a:lnSpc>
                <a:spcPct val="115000"/>
              </a:lnSpc>
              <a:spcBef>
                <a:spcPts val="1200"/>
              </a:spcBef>
              <a:spcAft>
                <a:spcPts val="0"/>
              </a:spcAft>
              <a:buNone/>
            </a:pPr>
            <a:r>
              <a:rPr lang="en-US" sz="1500" b="1" dirty="0">
                <a:solidFill>
                  <a:schemeClr val="dk1"/>
                </a:solidFill>
              </a:rPr>
              <a:t>Year: 2025</a:t>
            </a:r>
            <a:endParaRPr sz="2400" dirty="0">
              <a:solidFill>
                <a:schemeClr val="dk1"/>
              </a:solidFill>
            </a:endParaRPr>
          </a:p>
          <a:p>
            <a:pPr marL="0" lvl="0" indent="0" algn="l" rtl="0">
              <a:lnSpc>
                <a:spcPct val="115000"/>
              </a:lnSpc>
              <a:spcBef>
                <a:spcPts val="1200"/>
              </a:spcBef>
              <a:spcAft>
                <a:spcPts val="0"/>
              </a:spcAft>
              <a:buNone/>
            </a:pPr>
            <a:r>
              <a:rPr lang="en-US" sz="1500" b="1" dirty="0">
                <a:solidFill>
                  <a:schemeClr val="dk1"/>
                </a:solidFill>
              </a:rPr>
              <a:t>Journal / Conference: IEEE Xplore Conference Publication</a:t>
            </a:r>
            <a:endParaRPr sz="2400" dirty="0">
              <a:solidFill>
                <a:schemeClr val="dk1"/>
              </a:solidFill>
            </a:endParaRPr>
          </a:p>
          <a:p>
            <a:pPr marL="0" lvl="0" indent="0" algn="l" rtl="0">
              <a:lnSpc>
                <a:spcPct val="115000"/>
              </a:lnSpc>
              <a:spcBef>
                <a:spcPts val="1200"/>
              </a:spcBef>
              <a:spcAft>
                <a:spcPts val="0"/>
              </a:spcAft>
              <a:buNone/>
            </a:pPr>
            <a:r>
              <a:rPr lang="en-US" sz="1500" b="1" dirty="0">
                <a:solidFill>
                  <a:schemeClr val="dk1"/>
                </a:solidFill>
              </a:rPr>
              <a:t/>
            </a:r>
            <a:endParaRPr sz="2400" dirty="0">
              <a:solidFill>
                <a:schemeClr val="dk1"/>
              </a:solidFill>
            </a:endParaRPr>
          </a:p>
          <a:p>
            <a:pPr marL="0" lvl="0" indent="0" algn="l" rtl="0">
              <a:lnSpc>
                <a:spcPct val="115000"/>
              </a:lnSpc>
              <a:spcBef>
                <a:spcPts val="1200"/>
              </a:spcBef>
              <a:spcAft>
                <a:spcPts val="0"/>
              </a:spcAft>
              <a:buNone/>
            </a:pPr>
            <a:r>
              <a:rPr lang="en-US" sz="1500" b="1" dirty="0">
                <a:solidFill>
                  <a:schemeClr val="dk1"/>
                </a:solidFill>
              </a:rPr>
              <a:t>Method: Hybrid Deep Q-Network (DQN) with XGBoost - reinforcement learning for adaptive policy combined with gradient boosting for tabular classification.</a:t>
            </a:r>
            <a:endParaRPr sz="2400" dirty="0">
              <a:solidFill>
                <a:schemeClr val="dk1"/>
              </a:solidFill>
            </a:endParaRPr>
          </a:p>
          <a:p>
            <a:pPr marL="0" lvl="0" indent="0" algn="l" rtl="0">
              <a:lnSpc>
                <a:spcPct val="115000"/>
              </a:lnSpc>
              <a:spcBef>
                <a:spcPts val="1200"/>
              </a:spcBef>
              <a:spcAft>
                <a:spcPts val="0"/>
              </a:spcAft>
              <a:buNone/>
            </a:pPr>
            <a:r>
              <a:rPr lang="en-US" sz="1500" b="1" dirty="0">
                <a:solidFill>
                  <a:schemeClr val="dk1"/>
                </a:solidFill>
              </a:rPr>
              <a:t/>
            </a:r>
            <a:endParaRPr sz="2400" dirty="0">
              <a:solidFill>
                <a:schemeClr val="dk1"/>
              </a:solidFill>
            </a:endParaRPr>
          </a:p>
          <a:p>
            <a:pPr marL="0" lvl="0" indent="0" algn="l" rtl="0">
              <a:lnSpc>
                <a:spcPct val="115000"/>
              </a:lnSpc>
              <a:spcBef>
                <a:spcPts val="1200"/>
              </a:spcBef>
              <a:spcAft>
                <a:spcPts val="0"/>
              </a:spcAft>
              <a:buNone/>
            </a:pPr>
            <a:r>
              <a:rPr lang="en-US" sz="1500" b="1" dirty="0">
                <a:solidFill>
                  <a:schemeClr val="dk1"/>
                </a:solidFill>
              </a:rPr>
              <a:t>Identified Gap: The model scores transactions but is not integrated into the payment transaction boundary; detection remains advisory rather than preventive, and no rollback or ledger-integrity mechanism is provided.</a:t>
            </a:r>
            <a:endParaRPr sz="2400"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47D1-FA1F-26D8-7F2F-79705991967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id="{525BE7D6-0538-9B1D-08DD-19B888BB1C18}"/>
              </a:ext>
            </a:extLst>
          </p:cNvPr>
          <p:cNvSpPr>
            <a:spLocks noGrp="1"/>
          </p:cNvSpPr>
          <p:nvPr>
            <p:ph type="title"/>
          </p:nvPr>
        </p:nvSpPr>
        <p:spPr>
          <a:xfrm>
            <a:off x="381000" y="381000"/>
            <a:ext cx="8229600" cy="655638"/>
          </a:xfrm>
        </p:spPr>
        <p:txBody>
          <a:bodyPr>
            <a:normAutofit fontScale="90000"/>
          </a:bodyPr>
          <a:lstStyle/>
          <a:p>
            <a:r>
              <a:rPr lang="en-IN" dirty="0">
                <a:cs typeface="Arial" panose="020B0604020202020204" pitchFamily="34" charset="0"/>
              </a:rPr>
              <a:t>LITERATURE SURVEY(1/4)</a:t>
            </a:r>
            <a:endParaRPr lang="en-US" dirty="0">
              <a:latin typeface="Arial" pitchFamily="34" charset="0"/>
              <a:cs typeface="Arial" pitchFamily="34" charset="0"/>
            </a:endParaRPr>
          </a:p>
        </p:txBody>
      </p:sp>
      <p:sp>
        <p:nvSpPr>
          <p:cNvPr id="1048613" name="Date Placeholder 6">
            <a:extLst>
              <a:ext uri="{FF2B5EF4-FFF2-40B4-BE49-F238E27FC236}">
                <a16:creationId xmlns:a16="http://schemas.microsoft.com/office/drawing/2014/main" id="{F3992BD0-B30D-B2D9-7D6F-56E12768BBAA}"/>
              </a:ext>
            </a:extLst>
          </p:cNvPr>
          <p:cNvSpPr>
            <a:spLocks noGrp="1"/>
          </p:cNvSpPr>
          <p:nvPr>
            <p:ph type="dt" sz="half" idx="10"/>
          </p:nvPr>
        </p:nvSpPr>
        <p:spPr/>
        <p:txBody>
          <a:bodyPr/>
          <a:lstStyle/>
          <a:p>
            <a:r>
              <a:rPr lang="en-US" dirty="0"/>
              <a:t>23 July 2026</a:t>
            </a:r>
          </a:p>
        </p:txBody>
      </p:sp>
      <p:sp>
        <p:nvSpPr>
          <p:cNvPr id="1048614" name="Footer Placeholder 7">
            <a:extLst>
              <a:ext uri="{FF2B5EF4-FFF2-40B4-BE49-F238E27FC236}">
                <a16:creationId xmlns:a16="http://schemas.microsoft.com/office/drawing/2014/main" id="{405B25C5-C757-4B96-739B-6650D43C026D}"/>
              </a:ext>
            </a:extLst>
          </p:cNvPr>
          <p:cNvSpPr>
            <a:spLocks noGrp="1"/>
          </p:cNvSpPr>
          <p:nvPr>
            <p:ph type="ftr" sz="quarter" idx="11"/>
          </p:nvPr>
        </p:nvSpPr>
        <p:spPr/>
        <p:txBody>
          <a:bodyPr/>
          <a:lstStyle/>
          <a:p>
            <a:r>
              <a:rPr lang="en-US"/>
              <a:t>School of Computing</a:t>
            </a:r>
          </a:p>
        </p:txBody>
      </p:sp>
      <p:sp>
        <p:nvSpPr>
          <p:cNvPr id="1048615" name="Slide Number Placeholder 8">
            <a:extLst>
              <a:ext uri="{FF2B5EF4-FFF2-40B4-BE49-F238E27FC236}">
                <a16:creationId xmlns:a16="http://schemas.microsoft.com/office/drawing/2014/main" id="{54423F12-9A3F-462D-22C1-EDC01F223DD5}"/>
              </a:ext>
            </a:extLst>
          </p:cNvPr>
          <p:cNvSpPr>
            <a:spLocks noGrp="1"/>
          </p:cNvSpPr>
          <p:nvPr>
            <p:ph type="sldNum" sz="quarter" idx="12"/>
          </p:nvPr>
        </p:nvSpPr>
        <p:spPr/>
        <p:txBody>
          <a:bodyPr/>
          <a:lstStyle/>
          <a:p>
            <a:fld id="{7B28076C-CE04-4A00-BFAA-A90EA8355859}" type="slidenum">
              <a:rPr lang="en-US" smtClean="0"/>
              <a:t>6</a:t>
            </a:fld>
            <a:endParaRPr lang="en-US"/>
          </a:p>
        </p:txBody>
      </p:sp>
      <p:graphicFrame>
        <p:nvGraphicFramePr>
          <p:cNvPr id="4194304" name="Table 11">
            <a:extLst>
              <a:ext uri="{FF2B5EF4-FFF2-40B4-BE49-F238E27FC236}">
                <a16:creationId xmlns:a16="http://schemas.microsoft.com/office/drawing/2014/main" id="{B3383093-F43F-2894-B4F4-E2776A6C2539}"/>
              </a:ext>
            </a:extLst>
          </p:cNvPr>
          <p:cNvGraphicFramePr>
            <a:graphicFrameLocks noGrp="1"/>
          </p:cNvGraphicFramePr>
          <p:nvPr/>
        </p:nvGraphicFramePr>
        <p:xfrm>
          <a:off x="380999" y="1209822"/>
          <a:ext cx="8305801" cy="5008095"/>
        </p:xfrm>
        <a:graphic>
          <a:graphicData uri="http://schemas.openxmlformats.org/drawingml/2006/table">
            <a:tbl>
              <a:tblPr firstRow="1" bandRow="1">
                <a:tableStyleId>{8799B23B-EC83-4686-B30A-512413B5E67A}</a:tableStyleId>
              </a:tblPr>
              <a:tblGrid>
                <a:gridCol w="1046400">
                  <a:extLst>
                    <a:ext uri="{9D8B030D-6E8A-4147-A177-3AD203B41FA5}">
                      <a16:colId xmlns:a16="http://schemas.microsoft.com/office/drawing/2014/main" val="20000"/>
                    </a:ext>
                  </a:extLst>
                </a:gridCol>
                <a:gridCol w="1260767">
                  <a:extLst>
                    <a:ext uri="{9D8B030D-6E8A-4147-A177-3AD203B41FA5}">
                      <a16:colId xmlns:a16="http://schemas.microsoft.com/office/drawing/2014/main" val="20001"/>
                    </a:ext>
                  </a:extLst>
                </a:gridCol>
                <a:gridCol w="1615017">
                  <a:extLst>
                    <a:ext uri="{9D8B030D-6E8A-4147-A177-3AD203B41FA5}">
                      <a16:colId xmlns:a16="http://schemas.microsoft.com/office/drawing/2014/main" val="20002"/>
                    </a:ext>
                  </a:extLst>
                </a:gridCol>
                <a:gridCol w="1636817">
                  <a:extLst>
                    <a:ext uri="{9D8B030D-6E8A-4147-A177-3AD203B41FA5}">
                      <a16:colId xmlns:a16="http://schemas.microsoft.com/office/drawing/2014/main" val="20003"/>
                    </a:ext>
                  </a:extLst>
                </a:gridCol>
                <a:gridCol w="1208689">
                  <a:extLst>
                    <a:ext uri="{9D8B030D-6E8A-4147-A177-3AD203B41FA5}">
                      <a16:colId xmlns:a16="http://schemas.microsoft.com/office/drawing/2014/main" val="20004"/>
                    </a:ext>
                  </a:extLst>
                </a:gridCol>
                <a:gridCol w="1538111">
                  <a:extLst>
                    <a:ext uri="{9D8B030D-6E8A-4147-A177-3AD203B41FA5}">
                      <a16:colId xmlns:a16="http://schemas.microsoft.com/office/drawing/2014/main" val="20005"/>
                    </a:ext>
                  </a:extLst>
                </a:gridCol>
              </a:tblGrid>
              <a:tr h="384048">
                <a:tc>
                  <a:txBody>
                    <a:bodyPr/>
                    <a:lstStyle/>
                    <a:p>
                      <a:pPr>
                        <a:buNone/>
                      </a:pPr>
                      <a:r>
                        <a:rPr lang="en-IN" sz="800" b="1" dirty="0"/>
                        <a:t>AUTHOR</a:t>
                      </a:r>
                      <a:endParaRPr lang="en-IN"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b="1"/>
                        <a:t>JOURNAL NAME &amp; YEAR</a:t>
                      </a:r>
                      <a:endParaRPr lang="en-IN" sz="1400" dirty="0"/>
                    </a:p>
                  </a:txBody>
                  <a:tcPr anchor="ctr"/>
                </a:tc>
                <a:tc>
                  <a:txBody>
                    <a:bodyPr/>
                    <a:lstStyle/>
                    <a:p>
                      <a:pPr>
                        <a:buNone/>
                      </a:pPr>
                      <a:r>
                        <a:rPr lang="en-US" sz="800" dirty="0" b="1"/>
                        <a:t>TITLE</a:t>
                      </a:r>
                      <a:endParaRPr lang="en-IN" sz="1400" dirty="0"/>
                    </a:p>
                  </a:txBody>
                  <a:tcPr anchor="ctr"/>
                </a:tc>
                <a:tc>
                  <a:txBody>
                    <a:bodyPr/>
                    <a:lstStyle/>
                    <a:p>
                      <a:pPr>
                        <a:buNone/>
                      </a:pPr>
                      <a:r>
                        <a:rPr lang="en-IN" sz="800" b="1" dirty="0"/>
                        <a:t>DESCRIPTION</a:t>
                      </a:r>
                      <a:endParaRPr lang="en-IN" sz="1400" dirty="0"/>
                    </a:p>
                  </a:txBody>
                  <a:tcPr anchor="ctr"/>
                </a:tc>
                <a:tc>
                  <a:txBody>
                    <a:bodyPr/>
                    <a:lstStyle/>
                    <a:p>
                      <a:pPr>
                        <a:buNone/>
                      </a:pPr>
                      <a:r>
                        <a:rPr lang="en-IN" sz="800" b="1"/>
                        <a:t>PROS</a:t>
                      </a:r>
                      <a:endParaRPr lang="en-IN" sz="1400"/>
                    </a:p>
                  </a:txBody>
                  <a:tcPr anchor="ctr"/>
                </a:tc>
                <a:tc>
                  <a:txBody>
                    <a:bodyPr/>
                    <a:lstStyle/>
                    <a:p>
                      <a:pPr>
                        <a:buNone/>
                      </a:pPr>
                      <a:r>
                        <a:rPr lang="en-IN" sz="800" b="1"/>
                        <a:t>CONS</a:t>
                      </a:r>
                      <a:endParaRPr lang="en-IN" sz="1400"/>
                    </a:p>
                  </a:txBody>
                  <a:tcPr anchor="ctr"/>
                </a:tc>
                <a:extLst>
                  <a:ext uri="{0D108BD9-81ED-4DB2-BD59-A6C34878D82A}">
                    <a16:rowId xmlns:a16="http://schemas.microsoft.com/office/drawing/2014/main" val="10000"/>
                  </a:ext>
                </a:extLst>
              </a:tr>
              <a:tr h="1541349">
                <a:tc>
                  <a:txBody>
                    <a:bodyPr/>
                    <a:lstStyle/>
                    <a:p>
                      <a:pPr marL="0" lvl="0" indent="0" algn="l" rtl="0">
                        <a:spcBef>
                          <a:spcPts val="0"/>
                        </a:spcBef>
                        <a:spcAft>
                          <a:spcPts val="0"/>
                        </a:spcAft>
                        <a:buNone/>
                      </a:pPr>
                      <a:r>
                        <a:rPr lang="en-US" sz="750" b="0" dirty="0"/>
                        <a:t>Liu, F.T., Ting, K.M., Zhou, Z.-H.</a:t>
                      </a:r>
                    </a:p>
                  </a:txBody>
                  <a:tcPr anchor="ctr"/>
                </a:tc>
                <a:tc>
                  <a:txBody>
                    <a:bodyPr/>
                    <a:lstStyle/>
                    <a:p>
                      <a:pPr marL="0" lvl="0" indent="0" algn="l" rtl="0">
                        <a:spcBef>
                          <a:spcPts val="0"/>
                        </a:spcBef>
                        <a:spcAft>
                          <a:spcPts val="0"/>
                        </a:spcAft>
                        <a:buNone/>
                      </a:pPr>
                      <a:r>
                        <a:rPr lang="en-US" sz="750" dirty="0" b="0"/>
                        <a:t>IEEE ICDM, 2008</a:t>
                      </a:r>
                    </a:p>
                  </a:txBody>
                  <a:tcPr anchor="ctr"/>
                </a:tc>
                <a:tc>
                  <a:txBody>
                    <a:bodyPr/>
                    <a:lstStyle/>
                    <a:p>
                      <a:pPr marL="0" lvl="0" indent="0" algn="l" rtl="0">
                        <a:spcBef>
                          <a:spcPts val="0"/>
                        </a:spcBef>
                        <a:spcAft>
                          <a:spcPts val="0"/>
                        </a:spcAft>
                        <a:buNone/>
                      </a:pPr>
                      <a:r>
                        <a:rPr lang="en-US" sz="750" dirty="0" b="0"/>
                        <a:t>Isolation Forest</a:t>
                      </a:r>
                    </a:p>
                  </a:txBody>
                  <a:tcPr anchor="ctr"/>
                </a:tc>
                <a:tc>
                  <a:txBody>
                    <a:bodyPr/>
                    <a:lstStyle/>
                    <a:p>
                      <a:pPr marL="0" lvl="0" indent="0" algn="l" rtl="0">
                        <a:spcBef>
                          <a:spcPts val="0"/>
                        </a:spcBef>
                        <a:spcAft>
                          <a:spcPts val="0"/>
                        </a:spcAft>
                        <a:buNone/>
                      </a:pPr>
                      <a:r>
                        <a:rPr lang="en-US" sz="750" dirty="0" b="0"/>
                        <a:t>Isolates anomalies by random axis-parallel partitioning; anomaly score derived from average isolation depth.</a:t>
                      </a:r>
                    </a:p>
                  </a:txBody>
                  <a:tcPr anchor="ctr"/>
                </a:tc>
                <a:tc>
                  <a:txBody>
                    <a:bodyPr/>
                    <a:lstStyle/>
                    <a:p>
                      <a:pPr marL="0" lvl="0" indent="0" algn="l" rtl="0">
                        <a:spcBef>
                          <a:spcPts val="0"/>
                        </a:spcBef>
                        <a:spcAft>
                          <a:spcPts val="0"/>
                        </a:spcAft>
                        <a:buNone/>
                      </a:pPr>
                      <a:r>
                        <a:rPr lang="en-US" sz="750" dirty="0" b="0"/>
                        <a:t>Linear time complexity, low memory, needs no distance or density computation - suited to latency-bound inference.</a:t>
                      </a:r>
                    </a:p>
                  </a:txBody>
                  <a:tcPr anchor="ctr"/>
                </a:tc>
                <a:tc>
                  <a:txBody>
                    <a:bodyPr/>
                    <a:lstStyle/>
                    <a:p>
                      <a:pPr marL="0" lvl="0" indent="0" algn="l" rtl="0">
                        <a:spcBef>
                          <a:spcPts val="0"/>
                        </a:spcBef>
                        <a:spcAft>
                          <a:spcPts val="0"/>
                        </a:spcAft>
                        <a:buNone/>
                      </a:pPr>
                      <a:r>
                        <a:rPr lang="en-US" sz="750" dirty="0" b="0"/>
                        <a:t>Degrades on sparse one-hot categorical spaces; scores saturate for extreme values; no per-entity context.</a:t>
                      </a:r>
                    </a:p>
                  </a:txBody>
                  <a:tcPr anchor="ctr"/>
                </a:tc>
                <a:extLst>
                  <a:ext uri="{0D108BD9-81ED-4DB2-BD59-A6C34878D82A}">
                    <a16:rowId xmlns:a16="http://schemas.microsoft.com/office/drawing/2014/main" val="10001"/>
                  </a:ext>
                </a:extLst>
              </a:tr>
              <a:tr h="1541349">
                <a:tc>
                  <a:txBody>
                    <a:bodyPr/>
                    <a:lstStyle/>
                    <a:p>
                      <a:pPr marL="0" lvl="0" indent="0" algn="l" rtl="0">
                        <a:spcBef>
                          <a:spcPts val="0"/>
                        </a:spcBef>
                        <a:spcAft>
                          <a:spcPts val="0"/>
                        </a:spcAft>
                        <a:buNone/>
                      </a:pPr>
                      <a:r>
                        <a:rPr lang="en-US" sz="750" b="0" dirty="0" err="1"/>
                        <a:t>Breunig, M.M., Kriegel, H.-P., Ng, R.T., Sander, J.</a:t>
                      </a:r>
                    </a:p>
                  </a:txBody>
                  <a:tcPr anchor="ctr"/>
                </a:tc>
                <a:tc>
                  <a:txBody>
                    <a:bodyPr/>
                    <a:lstStyle/>
                    <a:p>
                      <a:pPr marL="0" lvl="0" indent="0" algn="l" rtl="0">
                        <a:spcBef>
                          <a:spcPts val="0"/>
                        </a:spcBef>
                        <a:spcAft>
                          <a:spcPts val="0"/>
                        </a:spcAft>
                        <a:buNone/>
                      </a:pPr>
                      <a:r>
                        <a:rPr lang="en-US" sz="750" dirty="0" b="0"/>
                        <a:t>ACM SIGMOD, 2000</a:t>
                      </a:r>
                    </a:p>
                  </a:txBody>
                  <a:tcPr anchor="ctr"/>
                </a:tc>
                <a:tc>
                  <a:txBody>
                    <a:bodyPr/>
                    <a:lstStyle/>
                    <a:p>
                      <a:pPr marL="0" lvl="0" indent="0" algn="l" rtl="0">
                        <a:spcBef>
                          <a:spcPts val="0"/>
                        </a:spcBef>
                        <a:spcAft>
                          <a:spcPts val="0"/>
                        </a:spcAft>
                        <a:buNone/>
                      </a:pPr>
                      <a:r>
                        <a:rPr lang="en-US" sz="750" dirty="0" b="0"/>
                        <a:t>LOF: Identifying Density-Based Local Outliers</a:t>
                      </a:r>
                    </a:p>
                  </a:txBody>
                  <a:tcPr anchor="ctr"/>
                </a:tc>
                <a:tc>
                  <a:txBody>
                    <a:bodyPr/>
                    <a:lstStyle/>
                    <a:p>
                      <a:pPr>
                        <a:buNone/>
                      </a:pPr>
                      <a:r>
                        <a:rPr lang="en-US" sz="750" dirty="0" b="0"/>
                        <a:t>Assigns outlierness by comparing a point's local reachability density with that of its neighbours.</a:t>
                      </a:r>
                    </a:p>
                  </a:txBody>
                  <a:tcPr anchor="ctr"/>
                </a:tc>
                <a:tc>
                  <a:txBody>
                    <a:bodyPr/>
                    <a:lstStyle/>
                    <a:p>
                      <a:pPr marL="0" lvl="0" indent="0" algn="l" rtl="0">
                        <a:spcBef>
                          <a:spcPts val="0"/>
                        </a:spcBef>
                        <a:spcAft>
                          <a:spcPts val="0"/>
                        </a:spcAft>
                        <a:buNone/>
                      </a:pPr>
                      <a:r>
                        <a:rPr lang="en-US" sz="750" dirty="0" b="0"/>
                        <a:t>Detects local outliers that global methods miss; strong recall in our own comparative evaluation.</a:t>
                      </a:r>
                    </a:p>
                  </a:txBody>
                  <a:tcPr anchor="ctr"/>
                </a:tc>
                <a:tc>
                  <a:txBody>
                    <a:bodyPr/>
                    <a:lstStyle/>
                    <a:p>
                      <a:pPr marL="0" lvl="0" indent="0" algn="l" rtl="0">
                        <a:spcBef>
                          <a:spcPts val="0"/>
                        </a:spcBef>
                        <a:spcAft>
                          <a:spcPts val="0"/>
                        </a:spcAft>
                        <a:buNone/>
                      </a:pPr>
                      <a:r>
                        <a:rPr lang="en-US" sz="750" dirty="0" b="0"/>
                        <a:t>Requires a reference set resident in memory; neighbour search cost grows with reference size.</a:t>
                      </a:r>
                    </a:p>
                  </a:txBody>
                  <a:tcPr anchor="ctr"/>
                </a:tc>
                <a:extLst>
                  <a:ext uri="{0D108BD9-81ED-4DB2-BD59-A6C34878D82A}">
                    <a16:rowId xmlns:a16="http://schemas.microsoft.com/office/drawing/2014/main" val="10002"/>
                  </a:ext>
                </a:extLst>
              </a:tr>
              <a:tr h="1541349">
                <a:tc>
                  <a:txBody>
                    <a:bodyPr/>
                    <a:lstStyle/>
                    <a:p>
                      <a:pPr marL="0" lvl="0" indent="0" algn="l" rtl="0">
                        <a:spcBef>
                          <a:spcPts val="0"/>
                        </a:spcBef>
                        <a:spcAft>
                          <a:spcPts val="0"/>
                        </a:spcAft>
                        <a:buNone/>
                      </a:pPr>
                      <a:r>
                        <a:rPr lang="en-US" sz="750" b="0" dirty="0" err="1"/>
                        <a:t>Scholkopf, B., Platt, J.C., Shawe-Taylor, J., et al.</a:t>
                      </a:r>
                    </a:p>
                  </a:txBody>
                  <a:tcPr anchor="ctr"/>
                </a:tc>
                <a:tc>
                  <a:txBody>
                    <a:bodyPr/>
                    <a:lstStyle/>
                    <a:p>
                      <a:pPr marL="0" lvl="0" indent="0" algn="l" rtl="0">
                        <a:spcBef>
                          <a:spcPts val="0"/>
                        </a:spcBef>
                        <a:spcAft>
                          <a:spcPts val="0"/>
                        </a:spcAft>
                        <a:buNone/>
                      </a:pPr>
                      <a:r>
                        <a:rPr lang="en-US" sz="750" dirty="0" b="0"/>
                        <a:t>Neural Computation, 2001</a:t>
                      </a:r>
                    </a:p>
                  </a:txBody>
                  <a:tcPr anchor="ctr"/>
                </a:tc>
                <a:tc>
                  <a:txBody>
                    <a:bodyPr/>
                    <a:lstStyle/>
                    <a:p>
                      <a:pPr marL="0" lvl="0" indent="0" algn="l" rtl="0">
                        <a:spcBef>
                          <a:spcPts val="0"/>
                        </a:spcBef>
                        <a:spcAft>
                          <a:spcPts val="0"/>
                        </a:spcAft>
                        <a:buNone/>
                      </a:pPr>
                      <a:r>
                        <a:rPr lang="en-US" sz="750" dirty="0" b="0"/>
                        <a:t>Estimating the Support of a High-Dimensional Distribution</a:t>
                      </a:r>
                    </a:p>
                  </a:txBody>
                  <a:tcPr anchor="ctr"/>
                </a:tc>
                <a:tc>
                  <a:txBody>
                    <a:bodyPr/>
                    <a:lstStyle/>
                    <a:p>
                      <a:pPr>
                        <a:buNone/>
                      </a:pPr>
                      <a:r>
                        <a:rPr lang="en-US" sz="750" dirty="0" b="0"/>
                        <a:t>One-Class SVM estimates a support boundary enclosing the normal class in kernel space.</a:t>
                      </a:r>
                    </a:p>
                  </a:txBody>
                  <a:tcPr anchor="ctr"/>
                </a:tc>
                <a:tc>
                  <a:txBody>
                    <a:bodyPr/>
                    <a:lstStyle/>
                    <a:p>
                      <a:pPr marL="0" lvl="0" indent="0" algn="l" rtl="0">
                        <a:spcBef>
                          <a:spcPts val="0"/>
                        </a:spcBef>
                        <a:spcAft>
                          <a:spcPts val="0"/>
                        </a:spcAft>
                        <a:buNone/>
                      </a:pPr>
                      <a:r>
                        <a:rPr lang="en-US" sz="750" dirty="0" b="0"/>
                        <a:t>Principled support estimation; kernel choice allows non-linear decision boundaries.</a:t>
                      </a:r>
                    </a:p>
                  </a:txBody>
                  <a:tcPr anchor="ctr"/>
                </a:tc>
                <a:tc>
                  <a:txBody>
                    <a:bodyPr/>
                    <a:lstStyle/>
                    <a:p>
                      <a:pPr marL="0" lvl="0" indent="0" algn="l" rtl="0">
                        <a:spcBef>
                          <a:spcPts val="0"/>
                        </a:spcBef>
                        <a:spcAft>
                          <a:spcPts val="0"/>
                        </a:spcAft>
                        <a:buNone/>
                      </a:pPr>
                      <a:r>
                        <a:rPr lang="en-US" sz="750" dirty="0" b="0"/>
                        <a:t>Training cost is quadratic in sample size; performance sensitive to kernel and nu selection.</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2694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47D1-FA1F-26D8-7F2F-79705991967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id="{525BE7D6-0538-9B1D-08DD-19B888BB1C18}"/>
              </a:ext>
            </a:extLst>
          </p:cNvPr>
          <p:cNvSpPr>
            <a:spLocks noGrp="1"/>
          </p:cNvSpPr>
          <p:nvPr>
            <p:ph type="title"/>
          </p:nvPr>
        </p:nvSpPr>
        <p:spPr>
          <a:xfrm>
            <a:off x="381000" y="381000"/>
            <a:ext cx="8229600" cy="655638"/>
          </a:xfrm>
        </p:spPr>
        <p:txBody>
          <a:bodyPr>
            <a:normAutofit fontScale="90000"/>
          </a:bodyPr>
          <a:lstStyle/>
          <a:p>
            <a:r>
              <a:rPr lang="en-IN" dirty="0">
                <a:cs typeface="Arial" panose="020B0604020202020204" pitchFamily="34" charset="0"/>
              </a:rPr>
              <a:t>LITERATURE SURVEY(2/4)</a:t>
            </a:r>
            <a:endParaRPr lang="en-US" dirty="0">
              <a:latin typeface="Arial" pitchFamily="34" charset="0"/>
              <a:cs typeface="Arial" pitchFamily="34" charset="0"/>
            </a:endParaRPr>
          </a:p>
        </p:txBody>
      </p:sp>
      <p:sp>
        <p:nvSpPr>
          <p:cNvPr id="1048613" name="Date Placeholder 6">
            <a:extLst>
              <a:ext uri="{FF2B5EF4-FFF2-40B4-BE49-F238E27FC236}">
                <a16:creationId xmlns:a16="http://schemas.microsoft.com/office/drawing/2014/main" id="{F3992BD0-B30D-B2D9-7D6F-56E12768BBAA}"/>
              </a:ext>
            </a:extLst>
          </p:cNvPr>
          <p:cNvSpPr>
            <a:spLocks noGrp="1"/>
          </p:cNvSpPr>
          <p:nvPr>
            <p:ph type="dt" sz="half" idx="10"/>
          </p:nvPr>
        </p:nvSpPr>
        <p:spPr/>
        <p:txBody>
          <a:bodyPr/>
          <a:lstStyle/>
          <a:p>
            <a:r>
              <a:rPr lang="en-US" dirty="0"/>
              <a:t>23 July 2026</a:t>
            </a:r>
          </a:p>
        </p:txBody>
      </p:sp>
      <p:sp>
        <p:nvSpPr>
          <p:cNvPr id="1048614" name="Footer Placeholder 7">
            <a:extLst>
              <a:ext uri="{FF2B5EF4-FFF2-40B4-BE49-F238E27FC236}">
                <a16:creationId xmlns:a16="http://schemas.microsoft.com/office/drawing/2014/main" id="{405B25C5-C757-4B96-739B-6650D43C026D}"/>
              </a:ext>
            </a:extLst>
          </p:cNvPr>
          <p:cNvSpPr>
            <a:spLocks noGrp="1"/>
          </p:cNvSpPr>
          <p:nvPr>
            <p:ph type="ftr" sz="quarter" idx="11"/>
          </p:nvPr>
        </p:nvSpPr>
        <p:spPr/>
        <p:txBody>
          <a:bodyPr/>
          <a:lstStyle/>
          <a:p>
            <a:r>
              <a:rPr lang="en-US"/>
              <a:t>School of Computing</a:t>
            </a:r>
          </a:p>
        </p:txBody>
      </p:sp>
      <p:sp>
        <p:nvSpPr>
          <p:cNvPr id="1048615" name="Slide Number Placeholder 8">
            <a:extLst>
              <a:ext uri="{FF2B5EF4-FFF2-40B4-BE49-F238E27FC236}">
                <a16:creationId xmlns:a16="http://schemas.microsoft.com/office/drawing/2014/main" id="{54423F12-9A3F-462D-22C1-EDC01F223DD5}"/>
              </a:ext>
            </a:extLst>
          </p:cNvPr>
          <p:cNvSpPr>
            <a:spLocks noGrp="1"/>
          </p:cNvSpPr>
          <p:nvPr>
            <p:ph type="sldNum" sz="quarter" idx="12"/>
          </p:nvPr>
        </p:nvSpPr>
        <p:spPr/>
        <p:txBody>
          <a:bodyPr/>
          <a:lstStyle/>
          <a:p>
            <a:fld id="{7B28076C-CE04-4A00-BFAA-A90EA8355859}" type="slidenum">
              <a:rPr lang="en-US" smtClean="0"/>
              <a:t>6</a:t>
            </a:fld>
            <a:endParaRPr lang="en-US"/>
          </a:p>
        </p:txBody>
      </p:sp>
      <p:graphicFrame>
        <p:nvGraphicFramePr>
          <p:cNvPr id="4194304" name="Table 11">
            <a:extLst>
              <a:ext uri="{FF2B5EF4-FFF2-40B4-BE49-F238E27FC236}">
                <a16:creationId xmlns:a16="http://schemas.microsoft.com/office/drawing/2014/main" id="{B3383093-F43F-2894-B4F4-E2776A6C2539}"/>
              </a:ext>
            </a:extLst>
          </p:cNvPr>
          <p:cNvGraphicFramePr>
            <a:graphicFrameLocks noGrp="1"/>
          </p:cNvGraphicFramePr>
          <p:nvPr/>
        </p:nvGraphicFramePr>
        <p:xfrm>
          <a:off x="380999" y="1209822"/>
          <a:ext cx="8305801" cy="5008095"/>
        </p:xfrm>
        <a:graphic>
          <a:graphicData uri="http://schemas.openxmlformats.org/drawingml/2006/table">
            <a:tbl>
              <a:tblPr firstRow="1" bandRow="1">
                <a:tableStyleId>{8799B23B-EC83-4686-B30A-512413B5E67A}</a:tableStyleId>
              </a:tblPr>
              <a:tblGrid>
                <a:gridCol w="1046400">
                  <a:extLst>
                    <a:ext uri="{9D8B030D-6E8A-4147-A177-3AD203B41FA5}">
                      <a16:colId xmlns:a16="http://schemas.microsoft.com/office/drawing/2014/main" val="20000"/>
                    </a:ext>
                  </a:extLst>
                </a:gridCol>
                <a:gridCol w="1260767">
                  <a:extLst>
                    <a:ext uri="{9D8B030D-6E8A-4147-A177-3AD203B41FA5}">
                      <a16:colId xmlns:a16="http://schemas.microsoft.com/office/drawing/2014/main" val="20001"/>
                    </a:ext>
                  </a:extLst>
                </a:gridCol>
                <a:gridCol w="1615017">
                  <a:extLst>
                    <a:ext uri="{9D8B030D-6E8A-4147-A177-3AD203B41FA5}">
                      <a16:colId xmlns:a16="http://schemas.microsoft.com/office/drawing/2014/main" val="20002"/>
                    </a:ext>
                  </a:extLst>
                </a:gridCol>
                <a:gridCol w="1636817">
                  <a:extLst>
                    <a:ext uri="{9D8B030D-6E8A-4147-A177-3AD203B41FA5}">
                      <a16:colId xmlns:a16="http://schemas.microsoft.com/office/drawing/2014/main" val="20003"/>
                    </a:ext>
                  </a:extLst>
                </a:gridCol>
                <a:gridCol w="1208689">
                  <a:extLst>
                    <a:ext uri="{9D8B030D-6E8A-4147-A177-3AD203B41FA5}">
                      <a16:colId xmlns:a16="http://schemas.microsoft.com/office/drawing/2014/main" val="20004"/>
                    </a:ext>
                  </a:extLst>
                </a:gridCol>
                <a:gridCol w="1538111">
                  <a:extLst>
                    <a:ext uri="{9D8B030D-6E8A-4147-A177-3AD203B41FA5}">
                      <a16:colId xmlns:a16="http://schemas.microsoft.com/office/drawing/2014/main" val="20005"/>
                    </a:ext>
                  </a:extLst>
                </a:gridCol>
              </a:tblGrid>
              <a:tr h="384048">
                <a:tc>
                  <a:txBody>
                    <a:bodyPr/>
                    <a:lstStyle/>
                    <a:p>
                      <a:pPr>
                        <a:buNone/>
                      </a:pPr>
                      <a:r>
                        <a:rPr lang="en-IN" sz="800" b="1" dirty="0"/>
                        <a:t>AUTHOR</a:t>
                      </a:r>
                      <a:endParaRPr lang="en-IN"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b="1"/>
                        <a:t>JOURNAL NAME &amp; YEAR</a:t>
                      </a:r>
                      <a:endParaRPr lang="en-IN" sz="1400" dirty="0"/>
                    </a:p>
                  </a:txBody>
                  <a:tcPr anchor="ctr"/>
                </a:tc>
                <a:tc>
                  <a:txBody>
                    <a:bodyPr/>
                    <a:lstStyle/>
                    <a:p>
                      <a:pPr>
                        <a:buNone/>
                      </a:pPr>
                      <a:r>
                        <a:rPr lang="en-US" sz="800" dirty="0" b="1"/>
                        <a:t>TITLE</a:t>
                      </a:r>
                      <a:endParaRPr lang="en-IN" sz="1400" dirty="0"/>
                    </a:p>
                  </a:txBody>
                  <a:tcPr anchor="ctr"/>
                </a:tc>
                <a:tc>
                  <a:txBody>
                    <a:bodyPr/>
                    <a:lstStyle/>
                    <a:p>
                      <a:pPr>
                        <a:buNone/>
                      </a:pPr>
                      <a:r>
                        <a:rPr lang="en-IN" sz="800" b="1" dirty="0"/>
                        <a:t>DESCRIPTION</a:t>
                      </a:r>
                      <a:endParaRPr lang="en-IN" sz="1400" dirty="0"/>
                    </a:p>
                  </a:txBody>
                  <a:tcPr anchor="ctr"/>
                </a:tc>
                <a:tc>
                  <a:txBody>
                    <a:bodyPr/>
                    <a:lstStyle/>
                    <a:p>
                      <a:pPr>
                        <a:buNone/>
                      </a:pPr>
                      <a:r>
                        <a:rPr lang="en-IN" sz="800" b="1"/>
                        <a:t>PROS</a:t>
                      </a:r>
                      <a:endParaRPr lang="en-IN" sz="1400"/>
                    </a:p>
                  </a:txBody>
                  <a:tcPr anchor="ctr"/>
                </a:tc>
                <a:tc>
                  <a:txBody>
                    <a:bodyPr/>
                    <a:lstStyle/>
                    <a:p>
                      <a:pPr>
                        <a:buNone/>
                      </a:pPr>
                      <a:r>
                        <a:rPr lang="en-IN" sz="800" b="1"/>
                        <a:t>CONS</a:t>
                      </a:r>
                      <a:endParaRPr lang="en-IN" sz="1400"/>
                    </a:p>
                  </a:txBody>
                  <a:tcPr anchor="ctr"/>
                </a:tc>
                <a:extLst>
                  <a:ext uri="{0D108BD9-81ED-4DB2-BD59-A6C34878D82A}">
                    <a16:rowId xmlns:a16="http://schemas.microsoft.com/office/drawing/2014/main" val="10000"/>
                  </a:ext>
                </a:extLst>
              </a:tr>
              <a:tr h="1541349">
                <a:tc>
                  <a:txBody>
                    <a:bodyPr/>
                    <a:lstStyle/>
                    <a:p>
                      <a:pPr marL="0" lvl="0" indent="0" algn="l" rtl="0">
                        <a:spcBef>
                          <a:spcPts val="0"/>
                        </a:spcBef>
                        <a:spcAft>
                          <a:spcPts val="0"/>
                        </a:spcAft>
                        <a:buNone/>
                      </a:pPr>
                      <a:r>
                        <a:rPr lang="en-US" sz="750" b="0" dirty="0"/>
                        <a:t>Campos, G.O., Zimek, A., Sander, J., et al.</a:t>
                      </a:r>
                    </a:p>
                  </a:txBody>
                  <a:tcPr anchor="ctr"/>
                </a:tc>
                <a:tc>
                  <a:txBody>
                    <a:bodyPr/>
                    <a:lstStyle/>
                    <a:p>
                      <a:pPr marL="0" lvl="0" indent="0" algn="l" rtl="0">
                        <a:spcBef>
                          <a:spcPts val="0"/>
                        </a:spcBef>
                        <a:spcAft>
                          <a:spcPts val="0"/>
                        </a:spcAft>
                        <a:buNone/>
                      </a:pPr>
                      <a:r>
                        <a:rPr lang="en-US" sz="750" dirty="0" b="0"/>
                        <a:t>Data Mining and Knowledge Discovery, 2016</a:t>
                      </a:r>
                    </a:p>
                  </a:txBody>
                  <a:tcPr anchor="ctr"/>
                </a:tc>
                <a:tc>
                  <a:txBody>
                    <a:bodyPr/>
                    <a:lstStyle/>
                    <a:p>
                      <a:pPr marL="0" lvl="0" indent="0" algn="l" rtl="0">
                        <a:spcBef>
                          <a:spcPts val="0"/>
                        </a:spcBef>
                        <a:spcAft>
                          <a:spcPts val="0"/>
                        </a:spcAft>
                        <a:buNone/>
                      </a:pPr>
                      <a:r>
                        <a:rPr lang="en-US" sz="750" dirty="0" b="0"/>
                        <a:t>On the Evaluation of Unsupervised Outlier Detection</a:t>
                      </a:r>
                    </a:p>
                  </a:txBody>
                  <a:tcPr anchor="ctr"/>
                </a:tc>
                <a:tc>
                  <a:txBody>
                    <a:bodyPr/>
                    <a:lstStyle/>
                    <a:p>
                      <a:pPr marL="0" lvl="0" indent="0" algn="l" rtl="0">
                        <a:spcBef>
                          <a:spcPts val="0"/>
                        </a:spcBef>
                        <a:spcAft>
                          <a:spcPts val="0"/>
                        </a:spcAft>
                        <a:buNone/>
                      </a:pPr>
                      <a:r>
                        <a:rPr lang="en-US" sz="750" dirty="0" b="0"/>
                        <a:t>Systematic comparison of unsupervised detectors across measures and benchmark datasets.</a:t>
                      </a:r>
                    </a:p>
                  </a:txBody>
                  <a:tcPr anchor="ctr"/>
                </a:tc>
                <a:tc>
                  <a:txBody>
                    <a:bodyPr/>
                    <a:lstStyle/>
                    <a:p>
                      <a:pPr marL="0" lvl="0" indent="0" algn="l" rtl="0">
                        <a:spcBef>
                          <a:spcPts val="0"/>
                        </a:spcBef>
                        <a:spcAft>
                          <a:spcPts val="0"/>
                        </a:spcAft>
                        <a:buNone/>
                      </a:pPr>
                      <a:r>
                        <a:rPr lang="en-US" sz="750" dirty="0" b="0"/>
                        <a:t>Establishes evaluation pitfalls and standardised benchmarking practice for unsupervised detection.</a:t>
                      </a:r>
                    </a:p>
                  </a:txBody>
                  <a:tcPr anchor="ctr"/>
                </a:tc>
                <a:tc>
                  <a:txBody>
                    <a:bodyPr/>
                    <a:lstStyle/>
                    <a:p>
                      <a:pPr marL="0" lvl="0" indent="0" algn="l" rtl="0">
                        <a:spcBef>
                          <a:spcPts val="0"/>
                        </a:spcBef>
                        <a:spcAft>
                          <a:spcPts val="0"/>
                        </a:spcAft>
                        <a:buNone/>
                      </a:pPr>
                      <a:r>
                        <a:rPr lang="en-US" sz="750" dirty="0" b="0"/>
                        <a:t>Does not address deployment constraints such as inference latency or false-positive budgets.</a:t>
                      </a:r>
                    </a:p>
                  </a:txBody>
                  <a:tcPr anchor="ctr"/>
                </a:tc>
                <a:extLst>
                  <a:ext uri="{0D108BD9-81ED-4DB2-BD59-A6C34878D82A}">
                    <a16:rowId xmlns:a16="http://schemas.microsoft.com/office/drawing/2014/main" val="10001"/>
                  </a:ext>
                </a:extLst>
              </a:tr>
              <a:tr h="1541349">
                <a:tc>
                  <a:txBody>
                    <a:bodyPr/>
                    <a:lstStyle/>
                    <a:p>
                      <a:pPr marL="0" lvl="0" indent="0" algn="l" rtl="0">
                        <a:spcBef>
                          <a:spcPts val="0"/>
                        </a:spcBef>
                        <a:spcAft>
                          <a:spcPts val="0"/>
                        </a:spcAft>
                        <a:buNone/>
                      </a:pPr>
                      <a:r>
                        <a:rPr lang="en-US" sz="750" b="0" dirty="0" err="1"/>
                        <a:t>Abdallah, A., Maarof, M.A., Zainal, A.</a:t>
                      </a:r>
                    </a:p>
                  </a:txBody>
                  <a:tcPr anchor="ctr"/>
                </a:tc>
                <a:tc>
                  <a:txBody>
                    <a:bodyPr/>
                    <a:lstStyle/>
                    <a:p>
                      <a:pPr marL="0" lvl="0" indent="0" algn="l" rtl="0">
                        <a:spcBef>
                          <a:spcPts val="0"/>
                        </a:spcBef>
                        <a:spcAft>
                          <a:spcPts val="0"/>
                        </a:spcAft>
                        <a:buNone/>
                      </a:pPr>
                      <a:r>
                        <a:rPr lang="en-US" sz="750" dirty="0" b="0"/>
                        <a:t>Journal of Network and Computer Applications, 2016</a:t>
                      </a:r>
                    </a:p>
                  </a:txBody>
                  <a:tcPr anchor="ctr"/>
                </a:tc>
                <a:tc>
                  <a:txBody>
                    <a:bodyPr/>
                    <a:lstStyle/>
                    <a:p>
                      <a:pPr marL="0" lvl="0" indent="0" algn="l" rtl="0">
                        <a:spcBef>
                          <a:spcPts val="0"/>
                        </a:spcBef>
                        <a:spcAft>
                          <a:spcPts val="0"/>
                        </a:spcAft>
                        <a:buNone/>
                      </a:pPr>
                      <a:r>
                        <a:rPr lang="en-US" sz="750" dirty="0" b="0"/>
                        <a:t>Fraud Detection System: A Survey</a:t>
                      </a:r>
                    </a:p>
                  </a:txBody>
                  <a:tcPr anchor="ctr"/>
                </a:tc>
                <a:tc>
                  <a:txBody>
                    <a:bodyPr/>
                    <a:lstStyle/>
                    <a:p>
                      <a:pPr>
                        <a:buNone/>
                      </a:pPr>
                      <a:r>
                        <a:rPr lang="en-US" sz="750" dirty="0" b="0"/>
                        <a:t>Surveys fraud detection systems across credit card, telecommunication and insurance domains.</a:t>
                      </a:r>
                    </a:p>
                  </a:txBody>
                  <a:tcPr anchor="ctr"/>
                </a:tc>
                <a:tc>
                  <a:txBody>
                    <a:bodyPr/>
                    <a:lstStyle/>
                    <a:p>
                      <a:pPr marL="0" lvl="0" indent="0" algn="l" rtl="0">
                        <a:spcBef>
                          <a:spcPts val="0"/>
                        </a:spcBef>
                        <a:spcAft>
                          <a:spcPts val="0"/>
                        </a:spcAft>
                        <a:buNone/>
                      </a:pPr>
                      <a:r>
                        <a:rPr lang="en-US" sz="750" dirty="0" b="0"/>
                        <a:t>Broad taxonomy of fraud types, detection techniques and evaluation criteria.</a:t>
                      </a:r>
                    </a:p>
                  </a:txBody>
                  <a:tcPr anchor="ctr"/>
                </a:tc>
                <a:tc>
                  <a:txBody>
                    <a:bodyPr/>
                    <a:lstStyle/>
                    <a:p>
                      <a:pPr marL="0" lvl="0" indent="0" algn="l" rtl="0">
                        <a:spcBef>
                          <a:spcPts val="0"/>
                        </a:spcBef>
                        <a:spcAft>
                          <a:spcPts val="0"/>
                        </a:spcAft>
                        <a:buNone/>
                      </a:pPr>
                      <a:r>
                        <a:rPr lang="en-US" sz="750" dirty="0" b="0"/>
                        <a:t>Predates modern real-time rails; no treatment of transactional integration or rollback semantics.</a:t>
                      </a:r>
                    </a:p>
                  </a:txBody>
                  <a:tcPr anchor="ctr"/>
                </a:tc>
                <a:extLst>
                  <a:ext uri="{0D108BD9-81ED-4DB2-BD59-A6C34878D82A}">
                    <a16:rowId xmlns:a16="http://schemas.microsoft.com/office/drawing/2014/main" val="10002"/>
                  </a:ext>
                </a:extLst>
              </a:tr>
              <a:tr h="1541349">
                <a:tc>
                  <a:txBody>
                    <a:bodyPr/>
                    <a:lstStyle/>
                    <a:p>
                      <a:pPr marL="0" lvl="0" indent="0" algn="l" rtl="0">
                        <a:spcBef>
                          <a:spcPts val="0"/>
                        </a:spcBef>
                        <a:spcAft>
                          <a:spcPts val="0"/>
                        </a:spcAft>
                        <a:buNone/>
                      </a:pPr>
                      <a:r>
                        <a:rPr lang="en-US" sz="750" b="0" dirty="0" err="1"/>
                        <a:t>Adewumi, A.O., Akinyelu, A.A.</a:t>
                      </a:r>
                    </a:p>
                  </a:txBody>
                  <a:tcPr anchor="ctr"/>
                </a:tc>
                <a:tc>
                  <a:txBody>
                    <a:bodyPr/>
                    <a:lstStyle/>
                    <a:p>
                      <a:pPr marL="0" lvl="0" indent="0" algn="l" rtl="0">
                        <a:spcBef>
                          <a:spcPts val="0"/>
                        </a:spcBef>
                        <a:spcAft>
                          <a:spcPts val="0"/>
                        </a:spcAft>
                        <a:buNone/>
                      </a:pPr>
                      <a:r>
                        <a:rPr lang="en-US" sz="750" dirty="0" b="0"/>
                        <a:t>Int. J. of System Assurance Engineering and Management, 2017</a:t>
                      </a:r>
                    </a:p>
                  </a:txBody>
                  <a:tcPr anchor="ctr"/>
                </a:tc>
                <a:tc>
                  <a:txBody>
                    <a:bodyPr/>
                    <a:lstStyle/>
                    <a:p>
                      <a:pPr marL="0" lvl="0" indent="0" algn="l" rtl="0">
                        <a:spcBef>
                          <a:spcPts val="0"/>
                        </a:spcBef>
                        <a:spcAft>
                          <a:spcPts val="0"/>
                        </a:spcAft>
                        <a:buNone/>
                      </a:pPr>
                      <a:r>
                        <a:rPr lang="en-US" sz="750" dirty="0" b="0"/>
                        <a:t>A Survey of ML and Nature-Inspired Credit Card Fraud Detection Techniques</a:t>
                      </a:r>
                    </a:p>
                  </a:txBody>
                  <a:tcPr anchor="ctr"/>
                </a:tc>
                <a:tc>
                  <a:txBody>
                    <a:bodyPr/>
                    <a:lstStyle/>
                    <a:p>
                      <a:pPr>
                        <a:buNone/>
                      </a:pPr>
                      <a:r>
                        <a:rPr lang="en-US" sz="750" dirty="0" b="0"/>
                        <a:t>Reviews machine-learning and nature-inspired algorithms applied to card fraud detection.</a:t>
                      </a:r>
                    </a:p>
                  </a:txBody>
                  <a:tcPr anchor="ctr"/>
                </a:tc>
                <a:tc>
                  <a:txBody>
                    <a:bodyPr/>
                    <a:lstStyle/>
                    <a:p>
                      <a:pPr marL="0" lvl="0" indent="0" algn="l" rtl="0">
                        <a:spcBef>
                          <a:spcPts val="0"/>
                        </a:spcBef>
                        <a:spcAft>
                          <a:spcPts val="0"/>
                        </a:spcAft>
                        <a:buNone/>
                      </a:pPr>
                      <a:r>
                        <a:rPr lang="en-US" sz="750" dirty="0" b="0"/>
                        <a:t>Comparative view of algorithm families with reported accuracy ranges.</a:t>
                      </a:r>
                    </a:p>
                  </a:txBody>
                  <a:tcPr anchor="ctr"/>
                </a:tc>
                <a:tc>
                  <a:txBody>
                    <a:bodyPr/>
                    <a:lstStyle/>
                    <a:p>
                      <a:pPr marL="0" lvl="0" indent="0" algn="l" rtl="0">
                        <a:spcBef>
                          <a:spcPts val="0"/>
                        </a:spcBef>
                        <a:spcAft>
                          <a:spcPts val="0"/>
                        </a:spcAft>
                        <a:buNone/>
                      </a:pPr>
                      <a:r>
                        <a:rPr lang="en-US" sz="750" dirty="0" b="0"/>
                        <a:t>Card-centric; does not cover UPI or any sub-second real-time payment rail.</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2694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47D1-FA1F-26D8-7F2F-79705991967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id="{525BE7D6-0538-9B1D-08DD-19B888BB1C18}"/>
              </a:ext>
            </a:extLst>
          </p:cNvPr>
          <p:cNvSpPr>
            <a:spLocks noGrp="1"/>
          </p:cNvSpPr>
          <p:nvPr>
            <p:ph type="title"/>
          </p:nvPr>
        </p:nvSpPr>
        <p:spPr>
          <a:xfrm>
            <a:off x="381000" y="381000"/>
            <a:ext cx="8229600" cy="655638"/>
          </a:xfrm>
        </p:spPr>
        <p:txBody>
          <a:bodyPr>
            <a:normAutofit fontScale="90000"/>
          </a:bodyPr>
          <a:lstStyle/>
          <a:p>
            <a:r>
              <a:rPr lang="en-IN" dirty="0">
                <a:cs typeface="Arial" panose="020B0604020202020204" pitchFamily="34" charset="0"/>
              </a:rPr>
              <a:t>LITERATURE SURVEY(3/4)</a:t>
            </a:r>
            <a:endParaRPr lang="en-US" dirty="0">
              <a:latin typeface="Arial" pitchFamily="34" charset="0"/>
              <a:cs typeface="Arial" pitchFamily="34" charset="0"/>
            </a:endParaRPr>
          </a:p>
        </p:txBody>
      </p:sp>
      <p:sp>
        <p:nvSpPr>
          <p:cNvPr id="1048613" name="Date Placeholder 6">
            <a:extLst>
              <a:ext uri="{FF2B5EF4-FFF2-40B4-BE49-F238E27FC236}">
                <a16:creationId xmlns:a16="http://schemas.microsoft.com/office/drawing/2014/main" id="{F3992BD0-B30D-B2D9-7D6F-56E12768BBAA}"/>
              </a:ext>
            </a:extLst>
          </p:cNvPr>
          <p:cNvSpPr>
            <a:spLocks noGrp="1"/>
          </p:cNvSpPr>
          <p:nvPr>
            <p:ph type="dt" sz="half" idx="10"/>
          </p:nvPr>
        </p:nvSpPr>
        <p:spPr/>
        <p:txBody>
          <a:bodyPr/>
          <a:lstStyle/>
          <a:p>
            <a:r>
              <a:rPr lang="en-US" dirty="0"/>
              <a:t>23 July 2026</a:t>
            </a:r>
          </a:p>
        </p:txBody>
      </p:sp>
      <p:sp>
        <p:nvSpPr>
          <p:cNvPr id="1048614" name="Footer Placeholder 7">
            <a:extLst>
              <a:ext uri="{FF2B5EF4-FFF2-40B4-BE49-F238E27FC236}">
                <a16:creationId xmlns:a16="http://schemas.microsoft.com/office/drawing/2014/main" id="{405B25C5-C757-4B96-739B-6650D43C026D}"/>
              </a:ext>
            </a:extLst>
          </p:cNvPr>
          <p:cNvSpPr>
            <a:spLocks noGrp="1"/>
          </p:cNvSpPr>
          <p:nvPr>
            <p:ph type="ftr" sz="quarter" idx="11"/>
          </p:nvPr>
        </p:nvSpPr>
        <p:spPr/>
        <p:txBody>
          <a:bodyPr/>
          <a:lstStyle/>
          <a:p>
            <a:r>
              <a:rPr lang="en-US"/>
              <a:t>School of Computing</a:t>
            </a:r>
          </a:p>
        </p:txBody>
      </p:sp>
      <p:sp>
        <p:nvSpPr>
          <p:cNvPr id="1048615" name="Slide Number Placeholder 8">
            <a:extLst>
              <a:ext uri="{FF2B5EF4-FFF2-40B4-BE49-F238E27FC236}">
                <a16:creationId xmlns:a16="http://schemas.microsoft.com/office/drawing/2014/main" id="{54423F12-9A3F-462D-22C1-EDC01F223DD5}"/>
              </a:ext>
            </a:extLst>
          </p:cNvPr>
          <p:cNvSpPr>
            <a:spLocks noGrp="1"/>
          </p:cNvSpPr>
          <p:nvPr>
            <p:ph type="sldNum" sz="quarter" idx="12"/>
          </p:nvPr>
        </p:nvSpPr>
        <p:spPr/>
        <p:txBody>
          <a:bodyPr/>
          <a:lstStyle/>
          <a:p>
            <a:fld id="{7B28076C-CE04-4A00-BFAA-A90EA8355859}" type="slidenum">
              <a:rPr lang="en-US" smtClean="0"/>
              <a:t>6</a:t>
            </a:fld>
            <a:endParaRPr lang="en-US"/>
          </a:p>
        </p:txBody>
      </p:sp>
      <p:graphicFrame>
        <p:nvGraphicFramePr>
          <p:cNvPr id="4194304" name="Table 11">
            <a:extLst>
              <a:ext uri="{FF2B5EF4-FFF2-40B4-BE49-F238E27FC236}">
                <a16:creationId xmlns:a16="http://schemas.microsoft.com/office/drawing/2014/main" id="{B3383093-F43F-2894-B4F4-E2776A6C2539}"/>
              </a:ext>
            </a:extLst>
          </p:cNvPr>
          <p:cNvGraphicFramePr>
            <a:graphicFrameLocks noGrp="1"/>
          </p:cNvGraphicFramePr>
          <p:nvPr/>
        </p:nvGraphicFramePr>
        <p:xfrm>
          <a:off x="380999" y="1209822"/>
          <a:ext cx="8305801" cy="5008095"/>
        </p:xfrm>
        <a:graphic>
          <a:graphicData uri="http://schemas.openxmlformats.org/drawingml/2006/table">
            <a:tbl>
              <a:tblPr firstRow="1" bandRow="1">
                <a:tableStyleId>{8799B23B-EC83-4686-B30A-512413B5E67A}</a:tableStyleId>
              </a:tblPr>
              <a:tblGrid>
                <a:gridCol w="1046400">
                  <a:extLst>
                    <a:ext uri="{9D8B030D-6E8A-4147-A177-3AD203B41FA5}">
                      <a16:colId xmlns:a16="http://schemas.microsoft.com/office/drawing/2014/main" val="20000"/>
                    </a:ext>
                  </a:extLst>
                </a:gridCol>
                <a:gridCol w="1260767">
                  <a:extLst>
                    <a:ext uri="{9D8B030D-6E8A-4147-A177-3AD203B41FA5}">
                      <a16:colId xmlns:a16="http://schemas.microsoft.com/office/drawing/2014/main" val="20001"/>
                    </a:ext>
                  </a:extLst>
                </a:gridCol>
                <a:gridCol w="1615017">
                  <a:extLst>
                    <a:ext uri="{9D8B030D-6E8A-4147-A177-3AD203B41FA5}">
                      <a16:colId xmlns:a16="http://schemas.microsoft.com/office/drawing/2014/main" val="20002"/>
                    </a:ext>
                  </a:extLst>
                </a:gridCol>
                <a:gridCol w="1636817">
                  <a:extLst>
                    <a:ext uri="{9D8B030D-6E8A-4147-A177-3AD203B41FA5}">
                      <a16:colId xmlns:a16="http://schemas.microsoft.com/office/drawing/2014/main" val="20003"/>
                    </a:ext>
                  </a:extLst>
                </a:gridCol>
                <a:gridCol w="1208689">
                  <a:extLst>
                    <a:ext uri="{9D8B030D-6E8A-4147-A177-3AD203B41FA5}">
                      <a16:colId xmlns:a16="http://schemas.microsoft.com/office/drawing/2014/main" val="20004"/>
                    </a:ext>
                  </a:extLst>
                </a:gridCol>
                <a:gridCol w="1538111">
                  <a:extLst>
                    <a:ext uri="{9D8B030D-6E8A-4147-A177-3AD203B41FA5}">
                      <a16:colId xmlns:a16="http://schemas.microsoft.com/office/drawing/2014/main" val="20005"/>
                    </a:ext>
                  </a:extLst>
                </a:gridCol>
              </a:tblGrid>
              <a:tr h="384048">
                <a:tc>
                  <a:txBody>
                    <a:bodyPr/>
                    <a:lstStyle/>
                    <a:p>
                      <a:pPr>
                        <a:buNone/>
                      </a:pPr>
                      <a:r>
                        <a:rPr lang="en-IN" sz="800" b="1" dirty="0"/>
                        <a:t>AUTHOR</a:t>
                      </a:r>
                      <a:endParaRPr lang="en-IN"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b="1"/>
                        <a:t>JOURNAL NAME &amp; YEAR</a:t>
                      </a:r>
                      <a:endParaRPr lang="en-IN" sz="1400" dirty="0"/>
                    </a:p>
                  </a:txBody>
                  <a:tcPr anchor="ctr"/>
                </a:tc>
                <a:tc>
                  <a:txBody>
                    <a:bodyPr/>
                    <a:lstStyle/>
                    <a:p>
                      <a:pPr>
                        <a:buNone/>
                      </a:pPr>
                      <a:r>
                        <a:rPr lang="en-US" sz="800" dirty="0" b="1"/>
                        <a:t>TITLE</a:t>
                      </a:r>
                      <a:endParaRPr lang="en-IN" sz="1400" dirty="0"/>
                    </a:p>
                  </a:txBody>
                  <a:tcPr anchor="ctr"/>
                </a:tc>
                <a:tc>
                  <a:txBody>
                    <a:bodyPr/>
                    <a:lstStyle/>
                    <a:p>
                      <a:pPr>
                        <a:buNone/>
                      </a:pPr>
                      <a:r>
                        <a:rPr lang="en-IN" sz="800" b="1" dirty="0"/>
                        <a:t>DESCRIPTION</a:t>
                      </a:r>
                      <a:endParaRPr lang="en-IN" sz="1400" dirty="0"/>
                    </a:p>
                  </a:txBody>
                  <a:tcPr anchor="ctr"/>
                </a:tc>
                <a:tc>
                  <a:txBody>
                    <a:bodyPr/>
                    <a:lstStyle/>
                    <a:p>
                      <a:pPr>
                        <a:buNone/>
                      </a:pPr>
                      <a:r>
                        <a:rPr lang="en-IN" sz="800" b="1"/>
                        <a:t>PROS</a:t>
                      </a:r>
                      <a:endParaRPr lang="en-IN" sz="1400"/>
                    </a:p>
                  </a:txBody>
                  <a:tcPr anchor="ctr"/>
                </a:tc>
                <a:tc>
                  <a:txBody>
                    <a:bodyPr/>
                    <a:lstStyle/>
                    <a:p>
                      <a:pPr>
                        <a:buNone/>
                      </a:pPr>
                      <a:r>
                        <a:rPr lang="en-IN" sz="800" b="1"/>
                        <a:t>CONS</a:t>
                      </a:r>
                      <a:endParaRPr lang="en-IN" sz="1400"/>
                    </a:p>
                  </a:txBody>
                  <a:tcPr anchor="ctr"/>
                </a:tc>
                <a:extLst>
                  <a:ext uri="{0D108BD9-81ED-4DB2-BD59-A6C34878D82A}">
                    <a16:rowId xmlns:a16="http://schemas.microsoft.com/office/drawing/2014/main" val="10000"/>
                  </a:ext>
                </a:extLst>
              </a:tr>
              <a:tr h="1541349">
                <a:tc>
                  <a:txBody>
                    <a:bodyPr/>
                    <a:lstStyle/>
                    <a:p>
                      <a:pPr marL="0" lvl="0" indent="0" algn="l" rtl="0">
                        <a:spcBef>
                          <a:spcPts val="0"/>
                        </a:spcBef>
                        <a:spcAft>
                          <a:spcPts val="0"/>
                        </a:spcAft>
                        <a:buNone/>
                      </a:pPr>
                      <a:r>
                        <a:rPr lang="en-US" sz="750" b="0" dirty="0"/>
                        <a:t>Thayanidhi, V., Srivarshan, M., Shalini, M.</a:t>
                      </a:r>
                    </a:p>
                  </a:txBody>
                  <a:tcPr anchor="ctr"/>
                </a:tc>
                <a:tc>
                  <a:txBody>
                    <a:bodyPr/>
                    <a:lstStyle/>
                    <a:p>
                      <a:pPr marL="0" lvl="0" indent="0" algn="l" rtl="0">
                        <a:spcBef>
                          <a:spcPts val="0"/>
                        </a:spcBef>
                        <a:spcAft>
                          <a:spcPts val="0"/>
                        </a:spcAft>
                        <a:buNone/>
                      </a:pPr>
                      <a:r>
                        <a:rPr lang="en-US" sz="750" dirty="0" b="0"/>
                        <a:t>Springer, ICSMDI 2025 (pub. 2026)</a:t>
                      </a:r>
                    </a:p>
                  </a:txBody>
                  <a:tcPr anchor="ctr"/>
                </a:tc>
                <a:tc>
                  <a:txBody>
                    <a:bodyPr/>
                    <a:lstStyle/>
                    <a:p>
                      <a:pPr marL="0" lvl="0" indent="0" algn="l" rtl="0">
                        <a:spcBef>
                          <a:spcPts val="0"/>
                        </a:spcBef>
                        <a:spcAft>
                          <a:spcPts val="0"/>
                        </a:spcAft>
                        <a:buNone/>
                      </a:pPr>
                      <a:r>
                        <a:rPr lang="en-US" sz="750" dirty="0" b="0"/>
                        <a:t>UPI Fraud Detection Using Machine Learning</a:t>
                      </a:r>
                    </a:p>
                  </a:txBody>
                  <a:tcPr anchor="ctr"/>
                </a:tc>
                <a:tc>
                  <a:txBody>
                    <a:bodyPr/>
                    <a:lstStyle/>
                    <a:p>
                      <a:pPr marL="0" lvl="0" indent="0" algn="l" rtl="0">
                        <a:spcBef>
                          <a:spcPts val="0"/>
                        </a:spcBef>
                        <a:spcAft>
                          <a:spcPts val="0"/>
                        </a:spcAft>
                        <a:buNone/>
                      </a:pPr>
                      <a:r>
                        <a:rPr lang="en-US" sz="750" dirty="0" b="0"/>
                        <a:t>Analyses UPI transaction patterns and user behaviour using decision trees, random forests and neural networks.</a:t>
                      </a:r>
                    </a:p>
                  </a:txBody>
                  <a:tcPr anchor="ctr"/>
                </a:tc>
                <a:tc>
                  <a:txBody>
                    <a:bodyPr/>
                    <a:lstStyle/>
                    <a:p>
                      <a:pPr marL="0" lvl="0" indent="0" algn="l" rtl="0">
                        <a:spcBef>
                          <a:spcPts val="0"/>
                        </a:spcBef>
                        <a:spcAft>
                          <a:spcPts val="0"/>
                        </a:spcAft>
                        <a:buNone/>
                      </a:pPr>
                      <a:r>
                        <a:rPr lang="en-US" sz="750" dirty="0" b="0"/>
                        <a:t>Directly targets the UPI rail; reports real-time analysis of behavioural patterns.</a:t>
                      </a:r>
                    </a:p>
                  </a:txBody>
                  <a:tcPr anchor="ctr"/>
                </a:tc>
                <a:tc>
                  <a:txBody>
                    <a:bodyPr/>
                    <a:lstStyle/>
                    <a:p>
                      <a:pPr marL="0" lvl="0" indent="0" algn="l" rtl="0">
                        <a:spcBef>
                          <a:spcPts val="0"/>
                        </a:spcBef>
                        <a:spcAft>
                          <a:spcPts val="0"/>
                        </a:spcAft>
                        <a:buNone/>
                      </a:pPr>
                      <a:r>
                        <a:rPr lang="en-US" sz="750" dirty="0" b="0"/>
                        <a:t>Supervised approach requiring labelled fraud data; detection is post-transaction rather than inline.</a:t>
                      </a:r>
                    </a:p>
                  </a:txBody>
                  <a:tcPr anchor="ctr"/>
                </a:tc>
                <a:extLst>
                  <a:ext uri="{0D108BD9-81ED-4DB2-BD59-A6C34878D82A}">
                    <a16:rowId xmlns:a16="http://schemas.microsoft.com/office/drawing/2014/main" val="10001"/>
                  </a:ext>
                </a:extLst>
              </a:tr>
              <a:tr h="1541349">
                <a:tc>
                  <a:txBody>
                    <a:bodyPr/>
                    <a:lstStyle/>
                    <a:p>
                      <a:pPr marL="0" lvl="0" indent="0" algn="l" rtl="0">
                        <a:spcBef>
                          <a:spcPts val="0"/>
                        </a:spcBef>
                        <a:spcAft>
                          <a:spcPts val="0"/>
                        </a:spcAft>
                        <a:buNone/>
                      </a:pPr>
                      <a:r>
                        <a:rPr lang="en-US" sz="750" b="0" dirty="0" err="1"/>
                        <a:t>Jani, R., Kumar, M.R., Gumasthi, N., Singla, S., Kailasam, T.</a:t>
                      </a:r>
                    </a:p>
                  </a:txBody>
                  <a:tcPr anchor="ctr"/>
                </a:tc>
                <a:tc>
                  <a:txBody>
                    <a:bodyPr/>
                    <a:lstStyle/>
                    <a:p>
                      <a:pPr marL="0" lvl="0" indent="0" algn="l" rtl="0">
                        <a:spcBef>
                          <a:spcPts val="0"/>
                        </a:spcBef>
                        <a:spcAft>
                          <a:spcPts val="0"/>
                        </a:spcAft>
                        <a:buNone/>
                      </a:pPr>
                      <a:r>
                        <a:rPr lang="en-US" sz="750" dirty="0" b="0"/>
                        <a:t>Springer, AIAI 2025</a:t>
                      </a:r>
                    </a:p>
                  </a:txBody>
                  <a:tcPr anchor="ctr"/>
                </a:tc>
                <a:tc>
                  <a:txBody>
                    <a:bodyPr/>
                    <a:lstStyle/>
                    <a:p>
                      <a:pPr marL="0" lvl="0" indent="0" algn="l" rtl="0">
                        <a:spcBef>
                          <a:spcPts val="0"/>
                        </a:spcBef>
                        <a:spcAft>
                          <a:spcPts val="0"/>
                        </a:spcAft>
                        <a:buNone/>
                      </a:pPr>
                      <a:r>
                        <a:rPr lang="en-US" sz="750" dirty="0" b="0"/>
                        <a:t>Reinforcement Learning for UPI Fraud Detection: Actor Critic Optimization Approach</a:t>
                      </a:r>
                    </a:p>
                  </a:txBody>
                  <a:tcPr anchor="ctr"/>
                </a:tc>
                <a:tc>
                  <a:txBody>
                    <a:bodyPr/>
                    <a:lstStyle/>
                    <a:p>
                      <a:pPr>
                        <a:buNone/>
                      </a:pPr>
                      <a:r>
                        <a:rPr lang="en-US" sz="750" dirty="0" b="0"/>
                        <a:t>Applies actor-critic reinforcement learning to adapt the fraud decision policy over time.</a:t>
                      </a:r>
                    </a:p>
                  </a:txBody>
                  <a:tcPr anchor="ctr"/>
                </a:tc>
                <a:tc>
                  <a:txBody>
                    <a:bodyPr/>
                    <a:lstStyle/>
                    <a:p>
                      <a:pPr marL="0" lvl="0" indent="0" algn="l" rtl="0">
                        <a:spcBef>
                          <a:spcPts val="0"/>
                        </a:spcBef>
                        <a:spcAft>
                          <a:spcPts val="0"/>
                        </a:spcAft>
                        <a:buNone/>
                      </a:pPr>
                      <a:r>
                        <a:rPr lang="en-US" sz="750" dirty="0" b="0"/>
                        <a:t>Adapts to evolving fraud strategies without full retraining.</a:t>
                      </a:r>
                    </a:p>
                  </a:txBody>
                  <a:tcPr anchor="ctr"/>
                </a:tc>
                <a:tc>
                  <a:txBody>
                    <a:bodyPr/>
                    <a:lstStyle/>
                    <a:p>
                      <a:pPr marL="0" lvl="0" indent="0" algn="l" rtl="0">
                        <a:spcBef>
                          <a:spcPts val="0"/>
                        </a:spcBef>
                        <a:spcAft>
                          <a:spcPts val="0"/>
                        </a:spcAft>
                        <a:buNone/>
                      </a:pPr>
                      <a:r>
                        <a:rPr lang="en-US" sz="750" dirty="0" b="0"/>
                        <a:t>Training complexity and reward-design sensitivity; no ledger-level enforcement mechanism.</a:t>
                      </a:r>
                    </a:p>
                  </a:txBody>
                  <a:tcPr anchor="ctr"/>
                </a:tc>
                <a:extLst>
                  <a:ext uri="{0D108BD9-81ED-4DB2-BD59-A6C34878D82A}">
                    <a16:rowId xmlns:a16="http://schemas.microsoft.com/office/drawing/2014/main" val="10002"/>
                  </a:ext>
                </a:extLst>
              </a:tr>
              <a:tr h="1541349">
                <a:tc>
                  <a:txBody>
                    <a:bodyPr/>
                    <a:lstStyle/>
                    <a:p>
                      <a:pPr marL="0" lvl="0" indent="0" algn="l" rtl="0">
                        <a:spcBef>
                          <a:spcPts val="0"/>
                        </a:spcBef>
                        <a:spcAft>
                          <a:spcPts val="0"/>
                        </a:spcAft>
                        <a:buNone/>
                      </a:pPr>
                      <a:r>
                        <a:rPr lang="en-US" sz="750" b="0" dirty="0" err="1"/>
                        <a:t>[Verify authors on IEEE Xplore]</a:t>
                      </a:r>
                    </a:p>
                  </a:txBody>
                  <a:tcPr anchor="ctr"/>
                </a:tc>
                <a:tc>
                  <a:txBody>
                    <a:bodyPr/>
                    <a:lstStyle/>
                    <a:p>
                      <a:pPr marL="0" lvl="0" indent="0" algn="l" rtl="0">
                        <a:spcBef>
                          <a:spcPts val="0"/>
                        </a:spcBef>
                        <a:spcAft>
                          <a:spcPts val="0"/>
                        </a:spcAft>
                        <a:buNone/>
                      </a:pPr>
                      <a:r>
                        <a:rPr lang="en-US" sz="750" dirty="0" b="0"/>
                        <a:t>IEEE Conference Publication, 2025</a:t>
                      </a:r>
                    </a:p>
                  </a:txBody>
                  <a:tcPr anchor="ctr"/>
                </a:tc>
                <a:tc>
                  <a:txBody>
                    <a:bodyPr/>
                    <a:lstStyle/>
                    <a:p>
                      <a:pPr marL="0" lvl="0" indent="0" algn="l" rtl="0">
                        <a:spcBef>
                          <a:spcPts val="0"/>
                        </a:spcBef>
                        <a:spcAft>
                          <a:spcPts val="0"/>
                        </a:spcAft>
                        <a:buNone/>
                      </a:pPr>
                      <a:r>
                        <a:rPr lang="en-US" sz="750" dirty="0" b="0"/>
                        <a:t>Enhancing Digital Payment Security: UPI Fraud Detection with Advanced Machine Learning Algorithms</a:t>
                      </a:r>
                    </a:p>
                  </a:txBody>
                  <a:tcPr anchor="ctr"/>
                </a:tc>
                <a:tc>
                  <a:txBody>
                    <a:bodyPr/>
                    <a:lstStyle/>
                    <a:p>
                      <a:pPr>
                        <a:buNone/>
                      </a:pPr>
                      <a:r>
                        <a:rPr lang="en-US" sz="750" dirty="0" b="0"/>
                        <a:t>Hybrid Deep Q-Network with XGBoost combining adaptive learning and gradient-boosted tabular classification.</a:t>
                      </a:r>
                    </a:p>
                  </a:txBody>
                  <a:tcPr anchor="ctr"/>
                </a:tc>
                <a:tc>
                  <a:txBody>
                    <a:bodyPr/>
                    <a:lstStyle/>
                    <a:p>
                      <a:pPr marL="0" lvl="0" indent="0" algn="l" rtl="0">
                        <a:spcBef>
                          <a:spcPts val="0"/>
                        </a:spcBef>
                        <a:spcAft>
                          <a:spcPts val="0"/>
                        </a:spcAft>
                        <a:buNone/>
                      </a:pPr>
                      <a:r>
                        <a:rPr lang="en-US" sz="750" dirty="0" b="0"/>
                        <a:t>Strong reported accuracy on tabular UPI data; adaptive to drift.</a:t>
                      </a:r>
                    </a:p>
                  </a:txBody>
                  <a:tcPr anchor="ctr"/>
                </a:tc>
                <a:tc>
                  <a:txBody>
                    <a:bodyPr/>
                    <a:lstStyle/>
                    <a:p>
                      <a:pPr marL="0" lvl="0" indent="0" algn="l" rtl="0">
                        <a:spcBef>
                          <a:spcPts val="0"/>
                        </a:spcBef>
                        <a:spcAft>
                          <a:spcPts val="0"/>
                        </a:spcAft>
                        <a:buNone/>
                      </a:pPr>
                      <a:r>
                        <a:rPr lang="en-US" sz="750" dirty="0" b="0"/>
                        <a:t>Advisory scoring only - not integrated into the transaction boundary; no rollback or account-lock mechanism.</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2694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47D1-FA1F-26D8-7F2F-79705991967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id="{525BE7D6-0538-9B1D-08DD-19B888BB1C18}"/>
              </a:ext>
            </a:extLst>
          </p:cNvPr>
          <p:cNvSpPr>
            <a:spLocks noGrp="1"/>
          </p:cNvSpPr>
          <p:nvPr>
            <p:ph type="title"/>
          </p:nvPr>
        </p:nvSpPr>
        <p:spPr>
          <a:xfrm>
            <a:off x="381000" y="381000"/>
            <a:ext cx="8229600" cy="655638"/>
          </a:xfrm>
        </p:spPr>
        <p:txBody>
          <a:bodyPr>
            <a:normAutofit fontScale="90000"/>
          </a:bodyPr>
          <a:lstStyle/>
          <a:p>
            <a:r>
              <a:rPr lang="en-IN" dirty="0">
                <a:cs typeface="Arial" panose="020B0604020202020204" pitchFamily="34" charset="0"/>
              </a:rPr>
              <a:t>LITERATURE SURVEY(4/4)</a:t>
            </a:r>
            <a:endParaRPr lang="en-US" dirty="0">
              <a:latin typeface="Arial" pitchFamily="34" charset="0"/>
              <a:cs typeface="Arial" pitchFamily="34" charset="0"/>
            </a:endParaRPr>
          </a:p>
        </p:txBody>
      </p:sp>
      <p:sp>
        <p:nvSpPr>
          <p:cNvPr id="1048613" name="Date Placeholder 6">
            <a:extLst>
              <a:ext uri="{FF2B5EF4-FFF2-40B4-BE49-F238E27FC236}">
                <a16:creationId xmlns:a16="http://schemas.microsoft.com/office/drawing/2014/main" id="{F3992BD0-B30D-B2D9-7D6F-56E12768BBAA}"/>
              </a:ext>
            </a:extLst>
          </p:cNvPr>
          <p:cNvSpPr>
            <a:spLocks noGrp="1"/>
          </p:cNvSpPr>
          <p:nvPr>
            <p:ph type="dt" sz="half" idx="10"/>
          </p:nvPr>
        </p:nvSpPr>
        <p:spPr/>
        <p:txBody>
          <a:bodyPr/>
          <a:lstStyle/>
          <a:p>
            <a:r>
              <a:rPr lang="en-US" dirty="0"/>
              <a:t>23 July 2026</a:t>
            </a:r>
          </a:p>
        </p:txBody>
      </p:sp>
      <p:sp>
        <p:nvSpPr>
          <p:cNvPr id="1048614" name="Footer Placeholder 7">
            <a:extLst>
              <a:ext uri="{FF2B5EF4-FFF2-40B4-BE49-F238E27FC236}">
                <a16:creationId xmlns:a16="http://schemas.microsoft.com/office/drawing/2014/main" id="{405B25C5-C757-4B96-739B-6650D43C026D}"/>
              </a:ext>
            </a:extLst>
          </p:cNvPr>
          <p:cNvSpPr>
            <a:spLocks noGrp="1"/>
          </p:cNvSpPr>
          <p:nvPr>
            <p:ph type="ftr" sz="quarter" idx="11"/>
          </p:nvPr>
        </p:nvSpPr>
        <p:spPr/>
        <p:txBody>
          <a:bodyPr/>
          <a:lstStyle/>
          <a:p>
            <a:r>
              <a:rPr lang="en-US"/>
              <a:t>School of Computing</a:t>
            </a:r>
          </a:p>
        </p:txBody>
      </p:sp>
      <p:sp>
        <p:nvSpPr>
          <p:cNvPr id="1048615" name="Slide Number Placeholder 8">
            <a:extLst>
              <a:ext uri="{FF2B5EF4-FFF2-40B4-BE49-F238E27FC236}">
                <a16:creationId xmlns:a16="http://schemas.microsoft.com/office/drawing/2014/main" id="{54423F12-9A3F-462D-22C1-EDC01F223DD5}"/>
              </a:ext>
            </a:extLst>
          </p:cNvPr>
          <p:cNvSpPr>
            <a:spLocks noGrp="1"/>
          </p:cNvSpPr>
          <p:nvPr>
            <p:ph type="sldNum" sz="quarter" idx="12"/>
          </p:nvPr>
        </p:nvSpPr>
        <p:spPr/>
        <p:txBody>
          <a:bodyPr/>
          <a:lstStyle/>
          <a:p>
            <a:fld id="{7B28076C-CE04-4A00-BFAA-A90EA8355859}" type="slidenum">
              <a:rPr lang="en-US" smtClean="0"/>
              <a:t>6</a:t>
            </a:fld>
            <a:endParaRPr lang="en-US"/>
          </a:p>
        </p:txBody>
      </p:sp>
      <p:graphicFrame>
        <p:nvGraphicFramePr>
          <p:cNvPr id="4194304" name="Table 11">
            <a:extLst>
              <a:ext uri="{FF2B5EF4-FFF2-40B4-BE49-F238E27FC236}">
                <a16:creationId xmlns:a16="http://schemas.microsoft.com/office/drawing/2014/main" id="{B3383093-F43F-2894-B4F4-E2776A6C2539}"/>
              </a:ext>
            </a:extLst>
          </p:cNvPr>
          <p:cNvGraphicFramePr>
            <a:graphicFrameLocks noGrp="1"/>
          </p:cNvGraphicFramePr>
          <p:nvPr/>
        </p:nvGraphicFramePr>
        <p:xfrm>
          <a:off x="380999" y="1209822"/>
          <a:ext cx="8305801" cy="5008095"/>
        </p:xfrm>
        <a:graphic>
          <a:graphicData uri="http://schemas.openxmlformats.org/drawingml/2006/table">
            <a:tbl>
              <a:tblPr firstRow="1" bandRow="1">
                <a:tableStyleId>{8799B23B-EC83-4686-B30A-512413B5E67A}</a:tableStyleId>
              </a:tblPr>
              <a:tblGrid>
                <a:gridCol w="1046400">
                  <a:extLst>
                    <a:ext uri="{9D8B030D-6E8A-4147-A177-3AD203B41FA5}">
                      <a16:colId xmlns:a16="http://schemas.microsoft.com/office/drawing/2014/main" val="20000"/>
                    </a:ext>
                  </a:extLst>
                </a:gridCol>
                <a:gridCol w="1260767">
                  <a:extLst>
                    <a:ext uri="{9D8B030D-6E8A-4147-A177-3AD203B41FA5}">
                      <a16:colId xmlns:a16="http://schemas.microsoft.com/office/drawing/2014/main" val="20001"/>
                    </a:ext>
                  </a:extLst>
                </a:gridCol>
                <a:gridCol w="1615017">
                  <a:extLst>
                    <a:ext uri="{9D8B030D-6E8A-4147-A177-3AD203B41FA5}">
                      <a16:colId xmlns:a16="http://schemas.microsoft.com/office/drawing/2014/main" val="20002"/>
                    </a:ext>
                  </a:extLst>
                </a:gridCol>
                <a:gridCol w="1636817">
                  <a:extLst>
                    <a:ext uri="{9D8B030D-6E8A-4147-A177-3AD203B41FA5}">
                      <a16:colId xmlns:a16="http://schemas.microsoft.com/office/drawing/2014/main" val="20003"/>
                    </a:ext>
                  </a:extLst>
                </a:gridCol>
                <a:gridCol w="1208689">
                  <a:extLst>
                    <a:ext uri="{9D8B030D-6E8A-4147-A177-3AD203B41FA5}">
                      <a16:colId xmlns:a16="http://schemas.microsoft.com/office/drawing/2014/main" val="20004"/>
                    </a:ext>
                  </a:extLst>
                </a:gridCol>
                <a:gridCol w="1538111">
                  <a:extLst>
                    <a:ext uri="{9D8B030D-6E8A-4147-A177-3AD203B41FA5}">
                      <a16:colId xmlns:a16="http://schemas.microsoft.com/office/drawing/2014/main" val="20005"/>
                    </a:ext>
                  </a:extLst>
                </a:gridCol>
              </a:tblGrid>
              <a:tr h="384048">
                <a:tc>
                  <a:txBody>
                    <a:bodyPr/>
                    <a:lstStyle/>
                    <a:p>
                      <a:pPr>
                        <a:buNone/>
                      </a:pPr>
                      <a:r>
                        <a:rPr lang="en-IN" sz="800" b="1" dirty="0"/>
                        <a:t>AUTHOR</a:t>
                      </a:r>
                      <a:endParaRPr lang="en-IN"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b="1"/>
                        <a:t>JOURNAL NAME &amp; YEAR</a:t>
                      </a:r>
                      <a:endParaRPr lang="en-IN" sz="1400" dirty="0"/>
                    </a:p>
                  </a:txBody>
                  <a:tcPr anchor="ctr"/>
                </a:tc>
                <a:tc>
                  <a:txBody>
                    <a:bodyPr/>
                    <a:lstStyle/>
                    <a:p>
                      <a:pPr>
                        <a:buNone/>
                      </a:pPr>
                      <a:r>
                        <a:rPr lang="en-US" sz="800" dirty="0" b="1"/>
                        <a:t>TITLE</a:t>
                      </a:r>
                      <a:endParaRPr lang="en-IN" sz="1400" dirty="0"/>
                    </a:p>
                  </a:txBody>
                  <a:tcPr anchor="ctr"/>
                </a:tc>
                <a:tc>
                  <a:txBody>
                    <a:bodyPr/>
                    <a:lstStyle/>
                    <a:p>
                      <a:pPr>
                        <a:buNone/>
                      </a:pPr>
                      <a:r>
                        <a:rPr lang="en-IN" sz="800" b="1" dirty="0"/>
                        <a:t>DESCRIPTION</a:t>
                      </a:r>
                      <a:endParaRPr lang="en-IN" sz="1400" dirty="0"/>
                    </a:p>
                  </a:txBody>
                  <a:tcPr anchor="ctr"/>
                </a:tc>
                <a:tc>
                  <a:txBody>
                    <a:bodyPr/>
                    <a:lstStyle/>
                    <a:p>
                      <a:pPr>
                        <a:buNone/>
                      </a:pPr>
                      <a:r>
                        <a:rPr lang="en-IN" sz="800" b="1"/>
                        <a:t>PROS</a:t>
                      </a:r>
                      <a:endParaRPr lang="en-IN" sz="1400"/>
                    </a:p>
                  </a:txBody>
                  <a:tcPr anchor="ctr"/>
                </a:tc>
                <a:tc>
                  <a:txBody>
                    <a:bodyPr/>
                    <a:lstStyle/>
                    <a:p>
                      <a:pPr>
                        <a:buNone/>
                      </a:pPr>
                      <a:r>
                        <a:rPr lang="en-IN" sz="800" b="1"/>
                        <a:t>CONS</a:t>
                      </a:r>
                      <a:endParaRPr lang="en-IN" sz="1400"/>
                    </a:p>
                  </a:txBody>
                  <a:tcPr anchor="ctr"/>
                </a:tc>
                <a:extLst>
                  <a:ext uri="{0D108BD9-81ED-4DB2-BD59-A6C34878D82A}">
                    <a16:rowId xmlns:a16="http://schemas.microsoft.com/office/drawing/2014/main" val="10000"/>
                  </a:ext>
                </a:extLst>
              </a:tr>
              <a:tr h="1541349">
                <a:tc>
                  <a:txBody>
                    <a:bodyPr/>
                    <a:lstStyle/>
                    <a:p>
                      <a:pPr marL="0" lvl="0" indent="0" algn="l" rtl="0">
                        <a:spcBef>
                          <a:spcPts val="0"/>
                        </a:spcBef>
                        <a:spcAft>
                          <a:spcPts val="0"/>
                        </a:spcAft>
                        <a:buNone/>
                      </a:pPr>
                      <a:r>
                        <a:rPr lang="en-US" sz="750" b="0" dirty="0"/>
                        <a:t>[Verify authors on IEEE Xplore]</a:t>
                      </a:r>
                    </a:p>
                  </a:txBody>
                  <a:tcPr anchor="ctr"/>
                </a:tc>
                <a:tc>
                  <a:txBody>
                    <a:bodyPr/>
                    <a:lstStyle/>
                    <a:p>
                      <a:pPr marL="0" lvl="0" indent="0" algn="l" rtl="0">
                        <a:spcBef>
                          <a:spcPts val="0"/>
                        </a:spcBef>
                        <a:spcAft>
                          <a:spcPts val="0"/>
                        </a:spcAft>
                        <a:buNone/>
                      </a:pPr>
                      <a:r>
                        <a:rPr lang="en-US" sz="750" dirty="0" b="0"/>
                        <a:t>IEEE Conference Publication, 2025</a:t>
                      </a:r>
                    </a:p>
                  </a:txBody>
                  <a:tcPr anchor="ctr"/>
                </a:tc>
                <a:tc>
                  <a:txBody>
                    <a:bodyPr/>
                    <a:lstStyle/>
                    <a:p>
                      <a:pPr marL="0" lvl="0" indent="0" algn="l" rtl="0">
                        <a:spcBef>
                          <a:spcPts val="0"/>
                        </a:spcBef>
                        <a:spcAft>
                          <a:spcPts val="0"/>
                        </a:spcAft>
                        <a:buNone/>
                      </a:pPr>
                      <a:r>
                        <a:rPr lang="en-US" sz="750" dirty="0" b="0"/>
                        <a:t>PaySafe AI: Intelligent Fraud Detection for UPI Transactions using Machine Learning</a:t>
                      </a:r>
                    </a:p>
                  </a:txBody>
                  <a:tcPr anchor="ctr"/>
                </a:tc>
                <a:tc>
                  <a:txBody>
                    <a:bodyPr/>
                    <a:lstStyle/>
                    <a:p>
                      <a:pPr marL="0" lvl="0" indent="0" algn="l" rtl="0">
                        <a:spcBef>
                          <a:spcPts val="0"/>
                        </a:spcBef>
                        <a:spcAft>
                          <a:spcPts val="0"/>
                        </a:spcAft>
                        <a:buNone/>
                      </a:pPr>
                      <a:r>
                        <a:rPr lang="en-US" sz="750" dirty="0" b="0"/>
                        <a:t>Normalises typical account activity and classifies sequences of transactions as fraudulent or genuine.</a:t>
                      </a:r>
                    </a:p>
                  </a:txBody>
                  <a:tcPr anchor="ctr"/>
                </a:tc>
                <a:tc>
                  <a:txBody>
                    <a:bodyPr/>
                    <a:lstStyle/>
                    <a:p>
                      <a:pPr marL="0" lvl="0" indent="0" algn="l" rtl="0">
                        <a:spcBef>
                          <a:spcPts val="0"/>
                        </a:spcBef>
                        <a:spcAft>
                          <a:spcPts val="0"/>
                        </a:spcAft>
                        <a:buNone/>
                      </a:pPr>
                      <a:r>
                        <a:rPr lang="en-US" sz="750" dirty="0" b="0"/>
                        <a:t>Sequence-aware modelling captures behavioural drift over time.</a:t>
                      </a:r>
                    </a:p>
                  </a:txBody>
                  <a:tcPr anchor="ctr"/>
                </a:tc>
                <a:tc>
                  <a:txBody>
                    <a:bodyPr/>
                    <a:lstStyle/>
                    <a:p>
                      <a:pPr marL="0" lvl="0" indent="0" algn="l" rtl="0">
                        <a:spcBef>
                          <a:spcPts val="0"/>
                        </a:spcBef>
                        <a:spcAft>
                          <a:spcPts val="0"/>
                        </a:spcAft>
                        <a:buNone/>
                      </a:pPr>
                      <a:r>
                        <a:rPr lang="en-US" sz="750" dirty="0" b="0"/>
                        <a:t>No inline commit/rollback integration; sequence features require history unavailable at first transaction.</a:t>
                      </a:r>
                    </a:p>
                  </a:txBody>
                  <a:tcPr anchor="ctr"/>
                </a:tc>
                <a:extLst>
                  <a:ext uri="{0D108BD9-81ED-4DB2-BD59-A6C34878D82A}">
                    <a16:rowId xmlns:a16="http://schemas.microsoft.com/office/drawing/2014/main" val="10001"/>
                  </a:ext>
                </a:extLst>
              </a:tr>
              <a:tr h="1541349">
                <a:tc>
                  <a:txBody>
                    <a:bodyPr/>
                    <a:lstStyle/>
                    <a:p>
                      <a:pPr marL="0" lvl="0" indent="0" algn="l" rtl="0">
                        <a:spcBef>
                          <a:spcPts val="0"/>
                        </a:spcBef>
                        <a:spcAft>
                          <a:spcPts val="0"/>
                        </a:spcAft>
                        <a:buNone/>
                      </a:pPr>
                      <a:r>
                        <a:rPr lang="en-US" sz="750" b="0" dirty="0" err="1"/>
                        <a:t>[Verify authors on IEEE Xplore]</a:t>
                      </a:r>
                    </a:p>
                  </a:txBody>
                  <a:tcPr anchor="ctr"/>
                </a:tc>
                <a:tc>
                  <a:txBody>
                    <a:bodyPr/>
                    <a:lstStyle/>
                    <a:p>
                      <a:pPr marL="0" lvl="0" indent="0" algn="l" rtl="0">
                        <a:spcBef>
                          <a:spcPts val="0"/>
                        </a:spcBef>
                        <a:spcAft>
                          <a:spcPts val="0"/>
                        </a:spcAft>
                        <a:buNone/>
                      </a:pPr>
                      <a:r>
                        <a:rPr lang="en-US" sz="750" dirty="0" b="0"/>
                        <a:t>IEEE Conference Publication, 2025</a:t>
                      </a:r>
                    </a:p>
                  </a:txBody>
                  <a:tcPr anchor="ctr"/>
                </a:tc>
                <a:tc>
                  <a:txBody>
                    <a:bodyPr/>
                    <a:lstStyle/>
                    <a:p>
                      <a:pPr marL="0" lvl="0" indent="0" algn="l" rtl="0">
                        <a:spcBef>
                          <a:spcPts val="0"/>
                        </a:spcBef>
                        <a:spcAft>
                          <a:spcPts val="0"/>
                        </a:spcAft>
                        <a:buNone/>
                      </a:pPr>
                      <a:r>
                        <a:rPr lang="en-US" sz="750" dirty="0" b="0"/>
                        <a:t>Machine Learning-Driven Detection of UPI Fraudulent Activities</a:t>
                      </a:r>
                    </a:p>
                  </a:txBody>
                  <a:tcPr anchor="ctr"/>
                </a:tc>
                <a:tc>
                  <a:txBody>
                    <a:bodyPr/>
                    <a:lstStyle/>
                    <a:p>
                      <a:pPr>
                        <a:buNone/>
                      </a:pPr>
                      <a:r>
                        <a:rPr lang="en-US" sz="750" dirty="0" b="0"/>
                        <a:t>Multimodal pipeline processing transaction records, QR-code images and audio from vishing attempts.</a:t>
                      </a:r>
                    </a:p>
                  </a:txBody>
                  <a:tcPr anchor="ctr"/>
                </a:tc>
                <a:tc>
                  <a:txBody>
                    <a:bodyPr/>
                    <a:lstStyle/>
                    <a:p>
                      <a:pPr marL="0" lvl="0" indent="0" algn="l" rtl="0">
                        <a:spcBef>
                          <a:spcPts val="0"/>
                        </a:spcBef>
                        <a:spcAft>
                          <a:spcPts val="0"/>
                        </a:spcAft>
                        <a:buNone/>
                      </a:pPr>
                      <a:r>
                        <a:rPr lang="en-US" sz="750" dirty="0" b="0"/>
                        <a:t>Covers a broad attack surface beyond the transaction record itself.</a:t>
                      </a:r>
                    </a:p>
                  </a:txBody>
                  <a:tcPr anchor="ctr"/>
                </a:tc>
                <a:tc>
                  <a:txBody>
                    <a:bodyPr/>
                    <a:lstStyle/>
                    <a:p>
                      <a:pPr marL="0" lvl="0" indent="0" algn="l" rtl="0">
                        <a:spcBef>
                          <a:spcPts val="0"/>
                        </a:spcBef>
                        <a:spcAft>
                          <a:spcPts val="0"/>
                        </a:spcAft>
                        <a:buNone/>
                      </a:pPr>
                      <a:r>
                        <a:rPr lang="en-US" sz="750" dirty="0" b="0"/>
                        <a:t>Heavy multimodal pipeline unsuitable for a sub-50 ms inline decision path.</a:t>
                      </a:r>
                    </a:p>
                  </a:txBody>
                  <a:tcPr anchor="ctr"/>
                </a:tc>
                <a:extLst>
                  <a:ext uri="{0D108BD9-81ED-4DB2-BD59-A6C34878D82A}">
                    <a16:rowId xmlns:a16="http://schemas.microsoft.com/office/drawing/2014/main" val="10002"/>
                  </a:ext>
                </a:extLst>
              </a:tr>
              <a:tr h="1541349">
                <a:tc>
                  <a:txBody>
                    <a:bodyPr/>
                    <a:lstStyle/>
                    <a:p>
                      <a:pPr marL="0" lvl="0" indent="0" algn="l" rtl="0">
                        <a:spcBef>
                          <a:spcPts val="0"/>
                        </a:spcBef>
                        <a:spcAft>
                          <a:spcPts val="0"/>
                        </a:spcAft>
                        <a:buNone/>
                      </a:pPr>
                      <a:r>
                        <a:rPr lang="en-US" sz="750" b="0" dirty="0" err="1"/>
                        <a:t>[Verify authors on IEEE Xplore]</a:t>
                      </a:r>
                    </a:p>
                  </a:txBody>
                  <a:tcPr anchor="ctr"/>
                </a:tc>
                <a:tc>
                  <a:txBody>
                    <a:bodyPr/>
                    <a:lstStyle/>
                    <a:p>
                      <a:pPr marL="0" lvl="0" indent="0" algn="l" rtl="0">
                        <a:spcBef>
                          <a:spcPts val="0"/>
                        </a:spcBef>
                        <a:spcAft>
                          <a:spcPts val="0"/>
                        </a:spcAft>
                        <a:buNone/>
                      </a:pPr>
                      <a:r>
                        <a:rPr lang="en-US" sz="750" dirty="0" b="0"/>
                        <a:t>IEEE Conference Publication, 2022</a:t>
                      </a:r>
                    </a:p>
                  </a:txBody>
                  <a:tcPr anchor="ctr"/>
                </a:tc>
                <a:tc>
                  <a:txBody>
                    <a:bodyPr/>
                    <a:lstStyle/>
                    <a:p>
                      <a:pPr marL="0" lvl="0" indent="0" algn="l" rtl="0">
                        <a:spcBef>
                          <a:spcPts val="0"/>
                        </a:spcBef>
                        <a:spcAft>
                          <a:spcPts val="0"/>
                        </a:spcAft>
                        <a:buNone/>
                      </a:pPr>
                      <a:r>
                        <a:rPr lang="en-US" sz="750" dirty="0" b="0"/>
                        <a:t>Degree of Accuracy in Credit Card Fraud Detection Using LOF and Isolation Forest</a:t>
                      </a:r>
                    </a:p>
                  </a:txBody>
                  <a:tcPr anchor="ctr"/>
                </a:tc>
                <a:tc>
                  <a:txBody>
                    <a:bodyPr/>
                    <a:lstStyle/>
                    <a:p>
                      <a:pPr>
                        <a:buNone/>
                      </a:pPr>
                      <a:r>
                        <a:rPr lang="en-US" sz="750" dirty="0" b="0"/>
                        <a:t>Comparative evaluation of LOF and Isolation Forest on credit card transaction data.</a:t>
                      </a:r>
                    </a:p>
                  </a:txBody>
                  <a:tcPr anchor="ctr"/>
                </a:tc>
                <a:tc>
                  <a:txBody>
                    <a:bodyPr/>
                    <a:lstStyle/>
                    <a:p>
                      <a:pPr marL="0" lvl="0" indent="0" algn="l" rtl="0">
                        <a:spcBef>
                          <a:spcPts val="0"/>
                        </a:spcBef>
                        <a:spcAft>
                          <a:spcPts val="0"/>
                        </a:spcAft>
                        <a:buNone/>
                      </a:pPr>
                      <a:r>
                        <a:rPr lang="en-US" sz="750" dirty="0" b="0"/>
                        <a:t>Direct empirical comparison of the two detectors central to this work.</a:t>
                      </a:r>
                    </a:p>
                  </a:txBody>
                  <a:tcPr anchor="ctr"/>
                </a:tc>
                <a:tc>
                  <a:txBody>
                    <a:bodyPr/>
                    <a:lstStyle/>
                    <a:p>
                      <a:pPr marL="0" lvl="0" indent="0" algn="l" rtl="0">
                        <a:spcBef>
                          <a:spcPts val="0"/>
                        </a:spcBef>
                        <a:spcAft>
                          <a:spcPts val="0"/>
                        </a:spcAft>
                        <a:buNone/>
                      </a:pPr>
                      <a:r>
                        <a:rPr lang="en-US" sz="750" dirty="0" b="0"/>
                        <a:t>Card dataset only; no deployment architecture, latency measurement or concurrency analysis.</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2694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5"/>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r>
              <a:rPr lang="en-US" sz="3600"/>
              <a:t>INFERENCES FROM LITERATURE SURVEY</a:t>
            </a:r>
            <a:endParaRPr sz="3600"/>
          </a:p>
        </p:txBody>
      </p:sp>
      <p:sp>
        <p:nvSpPr>
          <p:cNvPr id="200" name="Google Shape;200;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ct val="100000"/>
              <a:buChar char="•"/>
            </a:pPr>
            <a:r>
              <a:rPr lang="en-US" dirty="0" sz="1600"/>
              <a:t>Existing UPI fraud research is overwhelmingly post-transaction: models score a payment after it settles, leaving recovery as the only remedy.</a:t>
            </a:r>
            <a:endParaRPr dirty="0"/>
          </a:p>
          <a:p>
            <a:pPr marL="342900" lvl="0" indent="-342900" algn="just" rtl="0">
              <a:spcBef>
                <a:spcPts val="0"/>
              </a:spcBef>
              <a:spcAft>
                <a:spcPts val="0"/>
              </a:spcAft>
              <a:buClr>
                <a:schemeClr val="dk1"/>
              </a:buClr>
              <a:buSzPct val="100000"/>
              <a:buChar char="•"/>
            </a:pPr>
            <a:r>
              <a:rPr lang="en-US" dirty="0" sz="1600"/>
              <a:t>Supervised approaches dominate, yet real fraud labels are scarce, delayed and unable to describe novel attack patterns.</a:t>
            </a:r>
            <a:endParaRPr dirty="0"/>
          </a:p>
          <a:p>
            <a:pPr marL="342900" lvl="0" indent="-342900" algn="just" rtl="0">
              <a:spcBef>
                <a:spcPts val="0"/>
              </a:spcBef>
              <a:spcAft>
                <a:spcPts val="0"/>
              </a:spcAft>
              <a:buClr>
                <a:schemeClr val="dk1"/>
              </a:buClr>
              <a:buSzPct val="100000"/>
              <a:buChar char="•"/>
            </a:pPr>
            <a:r>
              <a:rPr lang="en-US" dirty="0" sz="1600"/>
              <a:t>No reviewed work integrates the fraud verdict with database transaction semantics - none provides atomic rollback of a flagged transfer.</a:t>
            </a:r>
            <a:endParaRPr dirty="0"/>
          </a:p>
          <a:p>
            <a:pPr marL="342900" lvl="0" indent="-342900" algn="just" rtl="0">
              <a:spcBef>
                <a:spcPts val="0"/>
              </a:spcBef>
              <a:spcAft>
                <a:spcPts val="0"/>
              </a:spcAft>
              <a:buClr>
                <a:schemeClr val="dk1"/>
              </a:buClr>
              <a:buSzPct val="100000"/>
              <a:buChar char="•"/>
            </a:pPr>
            <a:r>
              <a:rPr lang="en-US" dirty="0" sz="1600"/>
              <a:t>Reported accuracy is rarely paired with latency measurement, so the feasibility of inline deployment remains unestablished.</a:t>
            </a:r>
            <a:endParaRPr dirty="0"/>
          </a:p>
          <a:p>
            <a:pPr marL="342900" lvl="0" indent="-342900" algn="just" rtl="0">
              <a:spcBef>
                <a:spcPts val="0"/>
              </a:spcBef>
              <a:spcAft>
                <a:spcPts val="0"/>
              </a:spcAft>
              <a:buClr>
                <a:schemeClr val="dk1"/>
              </a:buClr>
              <a:buSzPct val="100000"/>
              <a:buChar char="•"/>
            </a:pPr>
            <a:r>
              <a:rPr lang="en-US" dirty="0" sz="1600"/>
              <a:t>Evaluation typically reports ROC-AUC alone, which is misleading for a blocker constrained by an operational false-positive budget.</a:t>
            </a:r>
            <a:endParaRPr dirty="0"/>
          </a:p>
        </p:txBody>
      </p:sp>
      <p:sp>
        <p:nvSpPr>
          <p:cNvPr id="201" name="Google Shape;20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02" name="Google Shape;20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03" name="Google Shape;20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95300" y="381000"/>
            <a:ext cx="8229600" cy="65563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PROPOSED SYSTEM (1/4)</a:t>
            </a:r>
            <a:endParaRPr/>
          </a:p>
        </p:txBody>
      </p:sp>
      <p:sp>
        <p:nvSpPr>
          <p:cNvPr id="209" name="Google Shape;20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10" name="Google Shape;21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211" name="Google Shape;21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12" name="Google Shape;212;p26"/>
          <p:cNvSpPr txBox="1">
            <a:spLocks noGrp="1"/>
          </p:cNvSpPr>
          <p:nvPr>
            <p:ph type="body" idx="1"/>
          </p:nvPr>
        </p:nvSpPr>
        <p:spPr>
          <a:xfrm>
            <a:off x="457200" y="1371600"/>
            <a:ext cx="8229600" cy="4984750"/>
          </a:xfrm>
          <a:prstGeom prst="rect">
            <a:avLst/>
          </a:prstGeom>
          <a:noFill/>
          <a:ln>
            <a:noFill/>
          </a:ln>
        </p:spPr>
        <p:txBody>
          <a:bodyPr spcFirstLastPara="1" wrap="square" lIns="91425" tIns="45700" rIns="91425" bIns="45700" anchor="t" anchorCtr="0">
            <a:normAutofit/>
          </a:bodyPr>
          <a:lstStyle/>
          <a:p>
            <a:pPr marL="342900" algn="just">
              <a:spcBef>
                <a:spcPts val="0"/>
              </a:spcBef>
              <a:buSzPct val="100000"/>
            </a:pPr>
            <a:r>
              <a:rPr lang="en-US" sz="1400" dirty="0"/>
              <a:t>The React client captures payment inputs (payee VPA, amount, transaction type, merchant category, MPIN) together with silent device telemetry, and posts them to the Spring Boot switch.</a:t>
            </a:r>
          </a:p>
          <a:p>
            <a:pPr marL="342900" algn="just">
              <a:spcBef>
                <a:spcPts val="0"/>
              </a:spcBef>
              <a:buSzPct val="100000"/>
            </a:pPr>
            <a:r>
              <a:rPr lang="en-US" sz="1400" dirty="0"/>
              <a:t>The switch authenticates the MPIN, acquires PESSIMISTIC_WRITE locks on the payer and payee ledger rows in ascending id order, and applies the debit and credit without committing them.</a:t>
            </a:r>
          </a:p>
          <a:p>
            <a:pPr marL="342900" algn="just">
              <a:spcBef>
                <a:spcPts val="0"/>
              </a:spcBef>
              <a:buSzPct val="100000"/>
            </a:pPr>
            <a:r>
              <a:rPr lang="en-US" sz="1400" dirty="0"/>
              <a:t>The request thread is suspended while the FastAPI microservice scores a 13-feature vector with an Isolation Forest and returns a normalised anomaly score with a binary verdict.</a:t>
            </a:r>
          </a:p>
          <a:p>
            <a:pPr marL="342900" algn="just">
              <a:spcBef>
                <a:spcPts val="0"/>
              </a:spcBef>
              <a:buSzPct val="100000"/>
            </a:pPr>
            <a:r>
              <a:rPr lang="en-US" sz="1400" dirty="0"/>
              <a:t>A clean verdict commits the ledger; a fraudulent verdict writes the audit row and account lock in an independent transaction, then throws an exception that rolls the money movement back atomically.</a:t>
            </a:r>
          </a:p>
          <a:p>
            <a:pPr marL="342900" algn="just">
              <a:spcBef>
                <a:spcPts val="0"/>
              </a:spcBef>
              <a:buSzPct val="100000"/>
              <a:buNone/>
            </a:pPr>
            <a:r>
              <a:rPr lang="en-US" sz="1400" dirty="0" b="1"/>
              <a:t>Advantages of the Proposed System</a:t>
            </a:r>
          </a:p>
          <a:p>
            <a:pPr marL="342900" algn="just">
              <a:spcBef>
                <a:spcPts val="0"/>
              </a:spcBef>
              <a:buSzPct val="100000"/>
            </a:pPr>
            <a:r>
              <a:rPr lang="en-US" sz="1400" dirty="0"/>
              <a:t>Blocks fraud before settlement rather than detecting it afterwards.</a:t>
            </a:r>
          </a:p>
          <a:p>
            <a:pPr marL="342900" algn="just">
              <a:spcBef>
                <a:spcPts val="0"/>
              </a:spcBef>
              <a:buSzPct val="100000"/>
            </a:pPr>
            <a:r>
              <a:rPr lang="en-US" sz="1400" dirty="0"/>
              <a:t>Guarantees ledger integrity through ACID rollback with a surviving audit trail.</a:t>
            </a:r>
          </a:p>
          <a:p>
            <a:pPr marL="342900" algn="just">
              <a:spcBef>
                <a:spcPts val="0"/>
              </a:spcBef>
              <a:buSzPct val="100000"/>
            </a:pPr>
            <a:r>
              <a:rPr lang="en-US" sz="1400" dirty="0"/>
              <a:t>Requires no fraud labels, so novel attack patterns can be flagged.</a:t>
            </a:r>
          </a:p>
          <a:p>
            <a:pPr marL="342900" algn="just">
              <a:spcBef>
                <a:spcPts val="0"/>
              </a:spcBef>
              <a:buSzPct val="100000"/>
            </a:pPr>
            <a:r>
              <a:rPr lang="en-US" sz="1400" dirty="0"/>
              <a:t>Fails closed: an unreachable scoring node rejects payments rather than admitting them unscored.</a:t>
            </a:r>
          </a:p>
          <a:p>
            <a:pPr marL="342900" algn="just">
              <a:spcBef>
                <a:spcPts val="0"/>
              </a:spcBef>
              <a:buSzPct val="100000"/>
            </a:pPr>
            <a:r>
              <a:rPr lang="en-US" sz="1400" dirty="0"/>
              <a:t>Achieves an end-to-end decision in 11-12 ms, within the sub-50 ms budget.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7"/>
          <p:cNvSpPr txBox="1">
            <a:spLocks noGrp="1"/>
          </p:cNvSpPr>
          <p:nvPr>
            <p:ph type="title"/>
          </p:nvPr>
        </p:nvSpPr>
        <p:spPr>
          <a:xfrm>
            <a:off x="381000" y="381000"/>
            <a:ext cx="8229600" cy="60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PROPOSED SYSTEM(2/4)</a:t>
            </a:r>
            <a:endParaRPr/>
          </a:p>
        </p:txBody>
      </p:sp>
      <p:sp>
        <p:nvSpPr>
          <p:cNvPr id="219" name="Google Shape;219;p27"/>
          <p:cNvSpPr txBox="1">
            <a:spLocks noGrp="1"/>
          </p:cNvSpPr>
          <p:nvPr>
            <p:ph type="body" idx="1"/>
          </p:nvPr>
        </p:nvSpPr>
        <p:spPr>
          <a:xfrm>
            <a:off x="1295400" y="2971800"/>
            <a:ext cx="5410200" cy="761999"/>
          </a:xfrm>
          <a:prstGeom prst="rect">
            <a:avLst/>
          </a:prstGeom>
          <a:noFill/>
          <a:ln>
            <a:noFill/>
          </a:ln>
        </p:spPr>
        <p:txBody>
          <a:bodyPr spcFirstLastPara="1" wrap="square" lIns="91425" tIns="45700" rIns="91425" bIns="45700" anchor="t" anchorCtr="0">
            <a:normAutofit/>
          </a:bodyPr>
          <a:lstStyle/>
          <a:p>
            <a:pPr marL="0" lvl="0" indent="0" algn="just" rtl="0">
              <a:lnSpc>
                <a:spcPct val="80000"/>
              </a:lnSpc>
              <a:spcBef>
                <a:spcPts val="0"/>
              </a:spcBef>
              <a:spcAft>
                <a:spcPts val="0"/>
              </a:spcAft>
              <a:buClr>
                <a:schemeClr val="dk1"/>
              </a:buClr>
              <a:buSzPts val="2800"/>
              <a:buNone/>
            </a:pPr>
            <a:r>
              <a:rPr lang="en-US" sz="2800"/>
              <a:t>             </a:t>
            </a:r>
            <a:endParaRPr/>
          </a:p>
        </p:txBody>
      </p:sp>
      <p:sp>
        <p:nvSpPr>
          <p:cNvPr id="220" name="Google Shape;220;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21" name="Google Shape;221;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22" name="Google Shape;22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23" name="Picture 222" descr="architecture.png"/>
          <p:cNvPicPr>
            <a:picLocks noChangeAspect="1"/>
          </p:cNvPicPr>
          <p:nvPr/>
        </p:nvPicPr>
        <p:blipFill>
          <a:blip r:embed="rId4"/>
          <a:stretch>
            <a:fillRect/>
          </a:stretch>
        </p:blipFill>
        <p:spPr>
          <a:xfrm>
            <a:off x="365760" y="1600200"/>
            <a:ext cx="8412480" cy="53530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8"/>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PROPOSED SYSTEM(3/4)</a:t>
            </a:r>
            <a:endParaRPr/>
          </a:p>
        </p:txBody>
      </p:sp>
      <p:sp>
        <p:nvSpPr>
          <p:cNvPr id="229" name="Google Shape;229;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30" name="Google Shape;230;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31" name="Google Shape;231;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aphicFrame>
        <p:nvGraphicFramePr>
          <p:cNvPr id="232" name="Google Shape;232;p28"/>
          <p:cNvGraphicFramePr/>
          <p:nvPr>
            <p:extLst>
              <p:ext uri="{D42A27DB-BD31-4B8C-83A1-F6EECF244321}">
                <p14:modId xmlns:p14="http://schemas.microsoft.com/office/powerpoint/2010/main" val="1749736187"/>
              </p:ext>
            </p:extLst>
          </p:nvPr>
        </p:nvGraphicFramePr>
        <p:xfrm>
          <a:off x="800364" y="1600201"/>
          <a:ext cx="7543250" cy="4617714"/>
        </p:xfrm>
        <a:graphic>
          <a:graphicData uri="http://schemas.openxmlformats.org/drawingml/2006/table">
            <a:tbl>
              <a:tblPr>
                <a:noFill/>
                <a:tableStyleId>{E43DB06B-603F-4C97-AB98-BA22BC9FC4E0}</a:tableStyleId>
              </a:tblPr>
              <a:tblGrid>
                <a:gridCol w="2095225">
                  <a:extLst>
                    <a:ext uri="{9D8B030D-6E8A-4147-A177-3AD203B41FA5}">
                      <a16:colId xmlns:a16="http://schemas.microsoft.com/office/drawing/2014/main" val="20000"/>
                    </a:ext>
                  </a:extLst>
                </a:gridCol>
                <a:gridCol w="5448025">
                  <a:extLst>
                    <a:ext uri="{9D8B030D-6E8A-4147-A177-3AD203B41FA5}">
                      <a16:colId xmlns:a16="http://schemas.microsoft.com/office/drawing/2014/main" val="20001"/>
                    </a:ext>
                  </a:extLst>
                </a:gridCol>
              </a:tblGrid>
              <a:tr h="384048">
                <a:tc>
                  <a:txBody>
                    <a:bodyPr/>
                    <a:lstStyle/>
                    <a:p>
                      <a:pPr marL="0" marR="0" lvl="0" indent="0" algn="l" rtl="0">
                        <a:spcBef>
                          <a:spcPts val="0"/>
                        </a:spcBef>
                        <a:spcAft>
                          <a:spcPts val="0"/>
                        </a:spcAft>
                        <a:buClr>
                          <a:schemeClr val="dk1"/>
                        </a:buClr>
                        <a:buSzPts val="1600"/>
                        <a:buFont typeface="Calibri"/>
                        <a:buNone/>
                      </a:pPr>
                      <a:r>
                        <a:rPr lang="en-US" sz="1100" b="1" u="none" strike="noStrike" cap="none" dirty="0">
                          <a:latin typeface="Calibri" panose="020F0502020204030204" pitchFamily="34" charset="0"/>
                          <a:ea typeface="Calibri" panose="020F0502020204030204" pitchFamily="34" charset="0"/>
                          <a:cs typeface="Calibri" panose="020F0502020204030204" pitchFamily="34" charset="0"/>
                        </a:rPr>
                        <a:t>Modules</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100" b="1" u="none" strike="noStrike" cap="none">
                          <a:latin typeface="Calibri" panose="020F0502020204030204" pitchFamily="34" charset="0"/>
                          <a:ea typeface="Calibri" panose="020F0502020204030204" pitchFamily="34" charset="0"/>
                          <a:cs typeface="Calibri" panose="020F0502020204030204" pitchFamily="34" charset="0"/>
                        </a:rPr>
                        <a:t>Activities</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705611">
                <a:tc>
                  <a:txBody>
                    <a:bodyPr/>
                    <a:lstStyle/>
                    <a:p>
                      <a:pPr marL="0" marR="0" lvl="0" indent="0" algn="l" rtl="0">
                        <a:spcBef>
                          <a:spcPts val="0"/>
                        </a:spcBef>
                        <a:spcAft>
                          <a:spcPts val="0"/>
                        </a:spcAft>
                        <a:buClr>
                          <a:schemeClr val="dk1"/>
                        </a:buClr>
                        <a:buSzPts val="1600"/>
                        <a:buFont typeface="Calibri"/>
                        <a:buNone/>
                      </a:pPr>
                      <a:r>
                        <a:rPr lang="en-US" sz="1000" u="none" strike="noStrike" cap="none" dirty="0" b="0">
                          <a:latin typeface="Calibri" panose="020F0502020204030204" pitchFamily="34" charset="0"/>
                          <a:ea typeface="Calibri" panose="020F0502020204030204" pitchFamily="34" charset="0"/>
                          <a:cs typeface="Calibri" panose="020F0502020204030204" pitchFamily="34" charset="0"/>
                        </a:rPr>
                        <a:t>Requirement Analysis</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000" u="none" strike="noStrike" cap="none" dirty="0" b="0">
                          <a:latin typeface="Calibri" panose="020F0502020204030204" pitchFamily="34" charset="0"/>
                          <a:ea typeface="Calibri" panose="020F0502020204030204" pitchFamily="34" charset="0"/>
                          <a:cs typeface="Calibri" panose="020F0502020204030204" pitchFamily="34" charset="0"/>
                        </a:rPr>
                        <a:t>Study UPI transaction flows and fraud patterns; define the sub-50 ms inline decision budget and the fail-closed safety policy.</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05611">
                <a:tc>
                  <a:txBody>
                    <a:bodyPr/>
                    <a:lstStyle/>
                    <a:p>
                      <a:pPr marL="0" marR="0" lvl="0" indent="0" algn="l" rtl="0">
                        <a:spcBef>
                          <a:spcPts val="0"/>
                        </a:spcBef>
                        <a:spcAft>
                          <a:spcPts val="0"/>
                        </a:spcAft>
                        <a:buClr>
                          <a:schemeClr val="dk1"/>
                        </a:buClr>
                        <a:buSzPts val="1600"/>
                        <a:buFont typeface="Calibri"/>
                        <a:buNone/>
                      </a:pPr>
                      <a:r>
                        <a:rPr lang="en-US" sz="1000" u="none" strike="noStrike" cap="none" b="0">
                          <a:latin typeface="Calibri" panose="020F0502020204030204" pitchFamily="34" charset="0"/>
                          <a:ea typeface="Calibri" panose="020F0502020204030204" pitchFamily="34" charset="0"/>
                          <a:cs typeface="Calibri" panose="020F0502020204030204" pitchFamily="34" charset="0"/>
                        </a:rPr>
                        <a:t>Data Preparation</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000" u="none" strike="noStrike" cap="none" dirty="0" b="0">
                          <a:latin typeface="Calibri" panose="020F0502020204030204" pitchFamily="34" charset="0"/>
                          <a:ea typeface="Calibri" panose="020F0502020204030204" pitchFamily="34" charset="0"/>
                          <a:cs typeface="Calibri" panose="020F0502020204030204" pitchFamily="34" charset="0"/>
                        </a:rPr>
                        <a:t>Ingest 250,000 UPI transactions; clean and encode 13 pre-settlement features; exclude post-settlement fields that would leak the outcome.</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05611">
                <a:tc>
                  <a:txBody>
                    <a:bodyPr/>
                    <a:lstStyle/>
                    <a:p>
                      <a:pPr marL="0" marR="0" lvl="0" indent="0" algn="l" rtl="0">
                        <a:spcBef>
                          <a:spcPts val="0"/>
                        </a:spcBef>
                        <a:spcAft>
                          <a:spcPts val="0"/>
                        </a:spcAft>
                        <a:buClr>
                          <a:schemeClr val="dk1"/>
                        </a:buClr>
                        <a:buSzPts val="1600"/>
                        <a:buFont typeface="Calibri"/>
                        <a:buNone/>
                      </a:pPr>
                      <a:r>
                        <a:rPr lang="en-US" sz="1000" u="none" strike="noStrike" cap="none" b="0">
                          <a:latin typeface="Calibri" panose="020F0502020204030204" pitchFamily="34" charset="0"/>
                          <a:ea typeface="Calibri" panose="020F0502020204030204" pitchFamily="34" charset="0"/>
                          <a:cs typeface="Calibri" panose="020F0502020204030204" pitchFamily="34" charset="0"/>
                        </a:rPr>
                        <a:t>Model Development</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000" u="none" strike="noStrike" cap="none" dirty="0" b="0">
                          <a:latin typeface="Calibri" panose="020F0502020204030204" pitchFamily="34" charset="0"/>
                          <a:ea typeface="Calibri" panose="020F0502020204030204" pitchFamily="34" charset="0"/>
                          <a:cs typeface="Calibri" panose="020F0502020204030204" pitchFamily="34" charset="0"/>
                        </a:rPr>
                        <a:t>Train the unsupervised Isolation Forest, calibrate scores to [0,1] with a winsorised ceiling, and serialise the model bundle to .joblib.</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05611">
                <a:tc>
                  <a:txBody>
                    <a:bodyPr/>
                    <a:lstStyle/>
                    <a:p>
                      <a:pPr marL="0" marR="0" lvl="0" indent="0" algn="l" rtl="0">
                        <a:spcBef>
                          <a:spcPts val="0"/>
                        </a:spcBef>
                        <a:spcAft>
                          <a:spcPts val="0"/>
                        </a:spcAft>
                        <a:buClr>
                          <a:schemeClr val="dk1"/>
                        </a:buClr>
                        <a:buSzPts val="1600"/>
                        <a:buFont typeface="Calibri"/>
                        <a:buNone/>
                      </a:pPr>
                      <a:r>
                        <a:rPr lang="en-US" sz="1000" u="none" strike="noStrike" cap="none" b="0">
                          <a:latin typeface="Calibri" panose="020F0502020204030204" pitchFamily="34" charset="0"/>
                          <a:ea typeface="Calibri" panose="020F0502020204030204" pitchFamily="34" charset="0"/>
                          <a:cs typeface="Calibri" panose="020F0502020204030204" pitchFamily="34" charset="0"/>
                        </a:rPr>
                        <a:t>Backend &amp; Ledger Development</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000" u="none" strike="noStrike" cap="none" dirty="0" b="0">
                          <a:latin typeface="Calibri" panose="020F0502020204030204" pitchFamily="34" charset="0"/>
                          <a:ea typeface="Calibri" panose="020F0502020204030204" pitchFamily="34" charset="0"/>
                          <a:cs typeface="Calibri" panose="020F0502020204030204" pitchFamily="34" charset="0"/>
                        </a:rPr>
                        <a:t>Build the Spring Boot switch with H2 ledger, pessimistic row locking, MPIN authentication, and the rollback-with-surviving-audit pattern.</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705611">
                <a:tc>
                  <a:txBody>
                    <a:bodyPr/>
                    <a:lstStyle/>
                    <a:p>
                      <a:pPr marL="0" marR="0" lvl="0" indent="0" algn="l" rtl="0">
                        <a:spcBef>
                          <a:spcPts val="0"/>
                        </a:spcBef>
                        <a:spcAft>
                          <a:spcPts val="0"/>
                        </a:spcAft>
                        <a:buClr>
                          <a:schemeClr val="dk1"/>
                        </a:buClr>
                        <a:buSzPts val="1600"/>
                        <a:buFont typeface="Calibri"/>
                        <a:buNone/>
                      </a:pPr>
                      <a:r>
                        <a:rPr lang="en-US" sz="1000" u="none" strike="noStrike" cap="none" b="0">
                          <a:latin typeface="Calibri" panose="020F0502020204030204" pitchFamily="34" charset="0"/>
                          <a:ea typeface="Calibri" panose="020F0502020204030204" pitchFamily="34" charset="0"/>
                          <a:cs typeface="Calibri" panose="020F0502020204030204" pitchFamily="34" charset="0"/>
                        </a:rPr>
                        <a:t>Service Integration</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000" u="none" strike="noStrike" cap="none" dirty="0" b="0">
                          <a:latin typeface="Calibri" panose="020F0502020204030204" pitchFamily="34" charset="0"/>
                          <a:ea typeface="Calibri" panose="020F0502020204030204" pitchFamily="34" charset="0"/>
                          <a:cs typeface="Calibri" panose="020F0502020204030204" pitchFamily="34" charset="0"/>
                        </a:rPr>
                        <a:t>Connect the React client, Spring Boot switch and FastAPI scoring node over REST with bounded timeouts and fail-closed error handling.</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705611">
                <a:tc>
                  <a:txBody>
                    <a:bodyPr/>
                    <a:lstStyle/>
                    <a:p>
                      <a:pPr marL="0" marR="0" lvl="0" indent="0" algn="l" rtl="0">
                        <a:spcBef>
                          <a:spcPts val="0"/>
                        </a:spcBef>
                        <a:spcAft>
                          <a:spcPts val="0"/>
                        </a:spcAft>
                        <a:buClr>
                          <a:schemeClr val="dk1"/>
                        </a:buClr>
                        <a:buSzPts val="1600"/>
                        <a:buFont typeface="Calibri"/>
                        <a:buNone/>
                      </a:pPr>
                      <a:r>
                        <a:rPr lang="en-US" sz="1000" u="none" strike="noStrike" cap="none" b="0">
                          <a:latin typeface="Calibri" panose="020F0502020204030204" pitchFamily="34" charset="0"/>
                          <a:ea typeface="Calibri" panose="020F0502020204030204" pitchFamily="34" charset="0"/>
                          <a:cs typeface="Calibri" panose="020F0502020204030204" pitchFamily="34" charset="0"/>
                        </a:rPr>
                        <a:t>Testing &amp; Evaluation</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000" u="none" strike="noStrike" cap="none" dirty="0" b="0">
                          <a:latin typeface="Calibri" panose="020F0502020204030204" pitchFamily="34" charset="0"/>
                          <a:ea typeface="Calibri" panose="020F0502020204030204" pitchFamily="34" charset="0"/>
                          <a:cs typeface="Calibri" panose="020F0502020204030204" pitchFamily="34" charset="0"/>
                        </a:rPr>
                        <a:t>Verify commit, rollback, account-lock and fail-closed paths; benchmark latency, concurrency and detection under synthetic fraud injection.</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9"/>
          <p:cNvSpPr txBox="1">
            <a:spLocks noGrp="1"/>
          </p:cNvSpPr>
          <p:nvPr>
            <p:ph type="title"/>
          </p:nvPr>
        </p:nvSpPr>
        <p:spPr>
          <a:xfrm>
            <a:off x="495300" y="381000"/>
            <a:ext cx="8229600" cy="65563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PROPOSED SYSTEM-Algorithm(4/4)</a:t>
            </a:r>
            <a:endParaRPr dirty="0">
              <a:latin typeface="Arial"/>
              <a:ea typeface="Arial"/>
              <a:cs typeface="Arial"/>
              <a:sym typeface="Arial"/>
            </a:endParaRPr>
          </a:p>
        </p:txBody>
      </p:sp>
      <p:sp>
        <p:nvSpPr>
          <p:cNvPr id="238" name="Google Shape;238;p29"/>
          <p:cNvSpPr txBox="1">
            <a:spLocks noGrp="1"/>
          </p:cNvSpPr>
          <p:nvPr>
            <p:ph type="body" idx="1"/>
          </p:nvPr>
        </p:nvSpPr>
        <p:spPr>
          <a:xfrm>
            <a:off x="533400" y="1505243"/>
            <a:ext cx="8001000" cy="4590757"/>
          </a:xfrm>
          <a:prstGeom prst="rect">
            <a:avLst/>
          </a:prstGeom>
          <a:noFill/>
          <a:ln>
            <a:noFill/>
          </a:ln>
        </p:spPr>
        <p:txBody>
          <a:bodyPr spcFirstLastPara="1" wrap="square" lIns="91425" tIns="45700" rIns="91425" bIns="45700" anchor="t" anchorCtr="0">
            <a:normAutofit/>
          </a:bodyPr>
          <a:lstStyle/>
          <a:p>
            <a:pPr marL="342900" lvl="0" indent="-406400" algn="just" rtl="0">
              <a:lnSpc>
                <a:spcPct val="110000"/>
              </a:lnSpc>
              <a:spcBef>
                <a:spcPts val="478"/>
              </a:spcBef>
              <a:spcAft>
                <a:spcPts val="0"/>
              </a:spcAft>
              <a:buSzPts val="2800"/>
              <a:buChar char="•"/>
            </a:pPr>
            <a:r>
              <a:rPr lang="en-US" sz="1500" dirty="0"/>
              <a:t>Feature Assembly: 6 user inputs enriched to a 13-dimensional vector using client telemetry and server-resolved account and temporal data</a:t>
            </a:r>
            <a:endParaRPr sz="2800" dirty="0"/>
          </a:p>
          <a:p>
            <a:pPr marL="342900" lvl="0" indent="-406400" algn="just" rtl="0">
              <a:lnSpc>
                <a:spcPct val="110000"/>
              </a:lnSpc>
              <a:spcBef>
                <a:spcPts val="478"/>
              </a:spcBef>
              <a:spcAft>
                <a:spcPts val="0"/>
              </a:spcAft>
              <a:buSzPts val="2800"/>
              <a:buChar char="•"/>
            </a:pPr>
            <a:r>
              <a:rPr lang="en-US" sz="1500" dirty="0"/>
              <a:t>Preprocessing: standard scaling of numeric features and one-hot encoding of categorical features (unknown categories handled safely)</a:t>
            </a:r>
            <a:endParaRPr sz="2800" dirty="0"/>
          </a:p>
          <a:p>
            <a:pPr marL="342900" lvl="0" indent="-406400" algn="just" rtl="0">
              <a:lnSpc>
                <a:spcPct val="110000"/>
              </a:lnSpc>
              <a:spcBef>
                <a:spcPts val="478"/>
              </a:spcBef>
              <a:spcAft>
                <a:spcPts val="0"/>
              </a:spcAft>
              <a:buSzPts val="2800"/>
              <a:buChar char="•"/>
            </a:pPr>
            <a:r>
              <a:rPr lang="en-US" sz="1500" dirty="0"/>
              <a:t>Unsupervised Isolation Forest (200 estimators) for anomaly scoring</a:t>
            </a:r>
            <a:endParaRPr sz="2800" dirty="0"/>
          </a:p>
          <a:p>
            <a:pPr marL="342900" lvl="0" indent="-406400" algn="just" rtl="0">
              <a:lnSpc>
                <a:spcPct val="110000"/>
              </a:lnSpc>
              <a:spcBef>
                <a:spcPts val="478"/>
              </a:spcBef>
              <a:spcAft>
                <a:spcPts val="0"/>
              </a:spcAft>
              <a:buSzPts val="2800"/>
              <a:buChar char="•"/>
            </a:pPr>
            <a:r>
              <a:rPr lang="en-US" sz="1500" dirty="0"/>
              <a:t>Score Calibration: min-max normalisation to [0,1] with the ceiling winsorised at the 99.95th percentile of the training distribution</a:t>
            </a:r>
            <a:endParaRPr sz="2800" dirty="0"/>
          </a:p>
          <a:p>
            <a:pPr marL="342900" lvl="0" indent="-406400" algn="just" rtl="0">
              <a:lnSpc>
                <a:spcPct val="110000"/>
              </a:lnSpc>
              <a:spcBef>
                <a:spcPts val="478"/>
              </a:spcBef>
              <a:spcAft>
                <a:spcPts val="0"/>
              </a:spcAft>
              <a:buSzPts val="2800"/>
              <a:buChar char="•"/>
            </a:pPr>
            <a:r>
              <a:rPr lang="en-US" sz="1500" dirty="0"/>
              <a:t>Threshold Decision Rule: is_fraud = 1 when score &gt;= 0.85, else 0</a:t>
            </a:r>
            <a:endParaRPr sz="2800" dirty="0"/>
          </a:p>
          <a:p>
            <a:pPr marL="342900" lvl="0" indent="-406400" algn="just" rtl="0">
              <a:lnSpc>
                <a:spcPct val="110000"/>
              </a:lnSpc>
              <a:spcBef>
                <a:spcPts val="478"/>
              </a:spcBef>
              <a:spcAft>
                <a:spcPts val="0"/>
              </a:spcAft>
              <a:buSzPts val="2800"/>
              <a:buChar char="•"/>
            </a:pPr>
            <a:r>
              <a:rPr lang="en-US" sz="1500" dirty="0"/>
              <a:t>Concurrency Control: PESSIMISTIC_WRITE row locking in ascending account-id order to prevent deadlock during the scoring hop</a:t>
            </a:r>
            <a:endParaRPr sz="2800" dirty="0"/>
          </a:p>
          <a:p>
            <a:pPr marL="342900" lvl="0" indent="-406400" algn="just" rtl="0">
              <a:lnSpc>
                <a:spcPct val="110000"/>
              </a:lnSpc>
              <a:spcBef>
                <a:spcPts val="478"/>
              </a:spcBef>
              <a:spcAft>
                <a:spcPts val="0"/>
              </a:spcAft>
              <a:buSzPts val="2800"/>
              <a:buChar char="•"/>
            </a:pPr>
            <a:r>
              <a:rPr lang="en-US" sz="1500" dirty="0"/>
              <a:t>Atomic Rollback: FraudulentTransactionException triggers ledger rollback while REQUIRES_NEW propagation preserves the audit row and account lock</a:t>
            </a:r>
            <a:endParaRPr sz="2800" dirty="0"/>
          </a:p>
          <a:p>
            <a:pPr marL="342900" lvl="0" indent="-406400" algn="just" rtl="0">
              <a:lnSpc>
                <a:spcPct val="110000"/>
              </a:lnSpc>
              <a:spcBef>
                <a:spcPts val="478"/>
              </a:spcBef>
              <a:spcAft>
                <a:spcPts val="0"/>
              </a:spcAft>
              <a:buSzPts val="2800"/>
              <a:buChar char="•"/>
            </a:pPr>
            <a:r>
              <a:rPr lang="en-US" sz="1500" dirty="0"/>
              <a:t/>
            </a:r>
            <a:endParaRPr sz="2800" dirty="0"/>
          </a:p>
          <a:p>
            <a:pPr marL="342900" lvl="0" indent="-406400" algn="just" rtl="0">
              <a:lnSpc>
                <a:spcPct val="110000"/>
              </a:lnSpc>
              <a:spcBef>
                <a:spcPts val="478"/>
              </a:spcBef>
              <a:spcAft>
                <a:spcPts val="0"/>
              </a:spcAft>
              <a:buSzPts val="2800"/>
              <a:buChar char="•"/>
            </a:pPr>
            <a:r>
              <a:rPr lang="en-US" sz="1500" dirty="0"/>
              <a:t>*The inline interception and rollback mechanism overcomes the key limitation of existing work, in which fraud is scored only after the transaction has already settled.</a:t>
            </a:r>
            <a:endParaRPr sz="2800" dirty="0"/>
          </a:p>
        </p:txBody>
      </p:sp>
      <p:sp>
        <p:nvSpPr>
          <p:cNvPr id="239" name="Google Shape;23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40" name="Google Shape;24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41" name="Google Shape;24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0"/>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References</a:t>
            </a:r>
            <a:endParaRPr/>
          </a:p>
        </p:txBody>
      </p:sp>
      <p:sp>
        <p:nvSpPr>
          <p:cNvPr id="247" name="Google Shape;247;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48" name="Google Shape;248;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49" name="Google Shape;249;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250" name="Google Shape;250;p30"/>
          <p:cNvSpPr/>
          <p:nvPr/>
        </p:nvSpPr>
        <p:spPr>
          <a:xfrm>
            <a:off x="609600" y="1828800"/>
            <a:ext cx="7467600" cy="3749040"/>
          </a:xfrm>
          <a:prstGeom prst="rect">
            <a:avLst/>
          </a:prstGeom>
          <a:noFill/>
          <a:ln>
            <a:noFill/>
          </a:ln>
        </p:spPr>
        <p:txBody>
          <a:bodyPr spcFirstLastPara="1" wrap="square" lIns="91425" tIns="45700" rIns="91425" bIns="45700" anchor="t" anchorCtr="0">
            <a:noAutofit/>
          </a:bodyPr>
          <a:lstStyle/>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Abdallah, A., Maarof, M. A., &amp; Zainal, A. (2016). Fraud detection system: A survey. Journal of Network and Computer Applications, 68, 90-113.</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Adewumi, A. O., &amp; Akinyelu, A. A. (2017). A survey of machine-learning and nature-inspired based credit card fraud detection techniques. International Journal of System Assurance Engineering and Management, 8(2), 937-953.</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Breunig, M. M., Kriegel, H.-P., Ng, R. T., &amp; Sander, J. (2000). LOF: Identifying density-based local outliers. Proceedings of the ACM SIGMOD International Conference on Management of Data, 93-104.</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Campos, G. O., Zimek, A., Sander, J., et al. (2016). On the evaluation of unsupervised outlier detection: measures, datasets, and an empirical study. Data Mining and Knowledge Discovery, 30(4), 891-927.</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Jani, R., Kumar, M. R., Gumasthi, N., Singla, S., &amp; Kailasam, T. (2025). Reinforcement learning for UPI fraud detection: Actor critic optimization approach. Artificial Intelligence Applications and Innovations (AIAI 2025), Springer.</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Liu, F. T., Ting, K. M., &amp; Zhou, Z.-H. (2008). Isolation forest. Proceedings of the 8th IEEE International Conference on Data Mining, 413-422.</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Scholkopf, B., Platt, J. C., Shawe-Taylor, J., Smola, A. J., &amp; Williamson, R. C. (2001). Estimating the support of a high-dimensional distribution. Neural Computation, 13(7), 1443-1471.</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Thayanidhi, V., Srivarshan, M., &amp; Shalini, M. (2026). UPI fraud detection using machine learning. International Conference on Smart Data Intelligence (ICSMDI 2025), Springer.</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sz="1100">
                <a:solidFill>
                  <a:schemeClr val="dk1"/>
                </a:solidFill>
                <a:latin typeface="Calibri"/>
                <a:ea typeface="Calibri"/>
                <a:cs typeface="Calibri"/>
                <a:sym typeface="Calibri"/>
              </a:rPr>
              <a:t>[Add the four IEEE Xplore conference references cited in the Literature Survey with complete author lists, and any further papers needed to reach the required minimum of 12.]</a:t>
            </a:r>
            <a:endParaRPr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2"/>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THANK YOU</a:t>
            </a:r>
            <a:endParaRPr/>
          </a:p>
        </p:txBody>
      </p:sp>
      <p:sp>
        <p:nvSpPr>
          <p:cNvPr id="265" name="Google Shape;265;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66" name="Google Shape;266;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67" name="Google Shape;26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68" name="Google Shape;268;p32"/>
          <p:cNvSpPr/>
          <p:nvPr/>
        </p:nvSpPr>
        <p:spPr>
          <a:xfrm>
            <a:off x="723744" y="2736502"/>
            <a:ext cx="7918940" cy="138499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800" dirty="0">
                <a:solidFill>
                  <a:schemeClr val="dk1"/>
                </a:solidFill>
                <a:latin typeface="Calibri"/>
                <a:ea typeface="Calibri"/>
                <a:cs typeface="Calibri"/>
                <a:sym typeface="Calibri"/>
              </a:rPr>
              <a:t>We thank God, Our Department, Guide, Panel Members, Supportive Professors and all Technical and non Technical staff who helped us in our Project.</a:t>
            </a:r>
            <a:endParaRPr dirty="0"/>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1270</Words>
  <Application>Microsoft Office PowerPoint</Application>
  <PresentationFormat>On-screen Show (4:3)</PresentationFormat>
  <Paragraphs>177</Paragraphs>
  <Slides>14</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Custom Design</vt:lpstr>
      <vt:lpstr>  </vt:lpstr>
      <vt:lpstr>AGENDA</vt:lpstr>
      <vt:lpstr>ABSTRACT</vt:lpstr>
      <vt:lpstr>OBJECTIVE(S)</vt:lpstr>
      <vt:lpstr>Base Paper Details</vt:lpstr>
      <vt:lpstr>LITERATURE SURVEY(1/5)</vt:lpstr>
      <vt:lpstr>LITERATURE SURVEY(2/5)</vt:lpstr>
      <vt:lpstr>INFERENCES FROM LITERATURE SURVEY</vt:lpstr>
      <vt:lpstr>PROPOSED SYSTEM (1/4)</vt:lpstr>
      <vt:lpstr>PROPOSED SYSTEM(2/4)</vt:lpstr>
      <vt:lpstr>PROPOSED SYSTEM(3/4)</vt:lpstr>
      <vt:lpstr>PROPOSED SYSTEM-Algorithm(4/4)</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admin</dc:creator>
  <cp:lastModifiedBy>Menaka D</cp:lastModifiedBy>
  <cp:revision>29</cp:revision>
  <dcterms:modified xsi:type="dcterms:W3CDTF">2026-07-27T14:30:08Z</dcterms:modified>
</cp:coreProperties>
</file>