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solidFill>
            <a:schemeClr val="accent3">
              <a:alpha val="20000"/>
            </a:scheme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solidFill>
            <a:schemeClr val="accent3">
              <a:alpha val="20000"/>
            </a:schemeClr>
          </a:solidFill>
        </a:fill>
      </a:tcStyle>
    </a:firstCol>
    <a:lastRow>
      <a:tcTxStyle b="on" i="off">
        <a:fontRef idx="major">
          <a:srgbClr val="000000"/>
        </a:fontRef>
        <a:srgbClr val="000000"/>
      </a:tcTxStyle>
      <a:tcStyle>
        <a:tcBdr>
          <a:left>
            <a:ln w="12700" cap="flat">
              <a:solidFill>
                <a:schemeClr val="accent3"/>
              </a:solidFill>
              <a:prstDash val="solid"/>
              <a:round/>
            </a:ln>
          </a:left>
          <a:right>
            <a:ln w="12700" cap="flat">
              <a:solidFill>
                <a:schemeClr val="accent3"/>
              </a:solidFill>
              <a:prstDash val="solid"/>
              <a:round/>
            </a:ln>
          </a:right>
          <a:top>
            <a:ln w="508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noFill/>
        </a:fill>
      </a:tcStyle>
    </a:lastRow>
    <a:firstRow>
      <a:tcTxStyle b="on" i="off">
        <a:fontRef idx="major">
          <a:srgbClr val="000000"/>
        </a:fontRef>
        <a:srgbClr val="000000"/>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254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2" name="Shape 122"/>
          <p:cNvSpPr/>
          <p:nvPr>
            <p:ph type="sldImg"/>
          </p:nvPr>
        </p:nvSpPr>
        <p:spPr>
          <a:xfrm>
            <a:off x="1143000" y="685800"/>
            <a:ext cx="4572000" cy="3429000"/>
          </a:xfrm>
          <a:prstGeom prst="rect">
            <a:avLst/>
          </a:prstGeom>
        </p:spPr>
        <p:txBody>
          <a:bodyPr/>
          <a:lstStyle/>
          <a:p>
            <a:pPr/>
          </a:p>
        </p:txBody>
      </p:sp>
      <p:sp>
        <p:nvSpPr>
          <p:cNvPr id="123" name="Shape 12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Shape 133"/>
          <p:cNvSpPr/>
          <p:nvPr>
            <p:ph type="sldImg"/>
          </p:nvPr>
        </p:nvSpPr>
        <p:spPr>
          <a:prstGeom prst="rect">
            <a:avLst/>
          </a:prstGeom>
        </p:spPr>
        <p:txBody>
          <a:bodyPr/>
          <a:lstStyle/>
          <a:p>
            <a:pPr/>
          </a:p>
        </p:txBody>
      </p:sp>
      <p:sp>
        <p:nvSpPr>
          <p:cNvPr id="134" name="Shape 134"/>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Introduce the team and the title. One line: today's fraud systems detect AFTER money moves; we block BEFORE it moves.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Walk the agenda in ten seconds.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Key sentence: a blocked transfer never exists in the ledger, so there is nothing to claw back. Mention the 11-12 ms measured decision time.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Five objectives. Emphasise objective 2 (atomic rollback with surviving audit) - that is the novel engineering contribution.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State the base paper and, importantly, the gap: it scores transactions but never integrates with the transaction boundary, so detection stays advisory.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Foundational anomaly detection. Isolation Forest is what we deployed; LOF and One-Class SVM are our comparison baselines.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Evaluation methodology and the two fraud surveys that frame the field's reliance on supervised learning.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Recent UPI-specific work. Note that all of it scores post-transaction.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Applied and comparative studies. The last row is the direct LOF vs Isolation Forest comparison on card data.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The critical inference is the third one: no reviewed work ties the fraud verdict to database transaction semantics. That gap is our project.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Walk the four numbered steps, then the advantages. If asked how the audit row survives a rollback: it is written in a separate REQUIRES_NEW transaction.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Trace one payment left to right, then down to the ledger. Stress that the money is already debited but NOT committed while the AI is deciding.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Six modules. Testing and Evaluation covers commit, rollback, account lock and fail-closed paths plus latency benchmarking.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The last two items are what overcome the gap in existing work: pessimistic locking during the scoring hop, and exception-driven atomic rollback.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Alphabetical order. Four IEEE Xplore references still need complete author lists before submission.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Thank the panel and invite questions. Offer the live demo if time permits.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3" name="Title Text"/>
          <p:cNvSpPr txBox="1"/>
          <p:nvPr>
            <p:ph type="title"/>
          </p:nvPr>
        </p:nvSpPr>
        <p:spPr>
          <a:xfrm>
            <a:off x="685800" y="2130425"/>
            <a:ext cx="7772400" cy="1470025"/>
          </a:xfrm>
          <a:prstGeom prst="rect">
            <a:avLst/>
          </a:prstGeom>
        </p:spPr>
        <p:txBody>
          <a:bodyPr/>
          <a:lstStyle/>
          <a:p>
            <a:pPr/>
            <a:r>
              <a:t>Title Text</a:t>
            </a:r>
          </a:p>
        </p:txBody>
      </p:sp>
      <p:sp>
        <p:nvSpPr>
          <p:cNvPr id="14" name="Body Level One…"/>
          <p:cNvSpPr txBox="1"/>
          <p:nvPr>
            <p:ph type="body" sz="quarter" idx="1"/>
          </p:nvPr>
        </p:nvSpPr>
        <p:spPr>
          <a:xfrm>
            <a:off x="1371600" y="3886200"/>
            <a:ext cx="6400800" cy="1752600"/>
          </a:xfrm>
          <a:prstGeom prst="rect">
            <a:avLst/>
          </a:prstGeom>
        </p:spPr>
        <p:txBody>
          <a:bodyPr/>
          <a:lstStyle>
            <a:lvl1pPr marL="431800" indent="-406400" algn="ctr">
              <a:spcBef>
                <a:spcPts val="600"/>
              </a:spcBef>
              <a:buClrTx/>
              <a:buSzTx/>
              <a:buFontTx/>
              <a:buNone/>
              <a:defRPr>
                <a:solidFill>
                  <a:srgbClr val="888888"/>
                </a:solidFill>
              </a:defRPr>
            </a:lvl1pPr>
            <a:lvl2pPr marL="431800" indent="76200" algn="ctr">
              <a:spcBef>
                <a:spcPts val="600"/>
              </a:spcBef>
              <a:buClrTx/>
              <a:buSzTx/>
              <a:buFontTx/>
              <a:buNone/>
              <a:defRPr>
                <a:solidFill>
                  <a:srgbClr val="888888"/>
                </a:solidFill>
              </a:defRPr>
            </a:lvl2pPr>
            <a:lvl3pPr marL="431800" indent="558800" algn="ctr">
              <a:spcBef>
                <a:spcPts val="600"/>
              </a:spcBef>
              <a:buClrTx/>
              <a:buSzTx/>
              <a:buFontTx/>
              <a:buNone/>
              <a:defRPr>
                <a:solidFill>
                  <a:srgbClr val="888888"/>
                </a:solidFill>
              </a:defRPr>
            </a:lvl3pPr>
            <a:lvl4pPr marL="431800" indent="1041400" algn="ctr">
              <a:spcBef>
                <a:spcPts val="600"/>
              </a:spcBef>
              <a:buClrTx/>
              <a:buSzTx/>
              <a:buFontTx/>
              <a:buNone/>
              <a:defRPr>
                <a:solidFill>
                  <a:srgbClr val="888888"/>
                </a:solidFill>
              </a:defRPr>
            </a:lvl4pPr>
            <a:lvl5pPr marL="431800" indent="1498600" algn="ctr">
              <a:spcBef>
                <a:spcPts val="600"/>
              </a:spcBef>
              <a:buClrTx/>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2" name="Title Text"/>
          <p:cNvSpPr txBox="1"/>
          <p:nvPr>
            <p:ph type="title"/>
          </p:nvPr>
        </p:nvSpPr>
        <p:spPr>
          <a:prstGeom prst="rect">
            <a:avLst/>
          </a:prstGeom>
        </p:spPr>
        <p:txBody>
          <a:bodyPr/>
          <a:lstStyle/>
          <a:p>
            <a:pPr/>
            <a:r>
              <a:t>Title Text</a:t>
            </a:r>
          </a:p>
        </p:txBody>
      </p:sp>
      <p:sp>
        <p:nvSpPr>
          <p:cNvPr id="2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31" name="Title Text"/>
          <p:cNvSpPr txBox="1"/>
          <p:nvPr>
            <p:ph type="title"/>
          </p:nvPr>
        </p:nvSpPr>
        <p:spPr>
          <a:prstGeom prst="rect">
            <a:avLst/>
          </a:prstGeom>
        </p:spPr>
        <p:txBody>
          <a:bodyPr/>
          <a:lstStyle/>
          <a:p>
            <a:pPr/>
            <a:r>
              <a:t>Title Text</a:t>
            </a: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39" name="Title Text"/>
          <p:cNvSpPr txBox="1"/>
          <p:nvPr>
            <p:ph type="title"/>
          </p:nvPr>
        </p:nvSpPr>
        <p:spPr>
          <a:xfrm>
            <a:off x="722312" y="4406900"/>
            <a:ext cx="7772401" cy="1362075"/>
          </a:xfrm>
          <a:prstGeom prst="rect">
            <a:avLst/>
          </a:prstGeom>
        </p:spPr>
        <p:txBody>
          <a:bodyPr anchor="t"/>
          <a:lstStyle>
            <a:lvl1pPr algn="l">
              <a:defRPr b="1" sz="4000"/>
            </a:lvl1pPr>
          </a:lstStyle>
          <a:p>
            <a:pPr/>
            <a:r>
              <a:t>Title Text</a:t>
            </a:r>
          </a:p>
        </p:txBody>
      </p:sp>
      <p:sp>
        <p:nvSpPr>
          <p:cNvPr id="40" name="Body Level One…"/>
          <p:cNvSpPr txBox="1"/>
          <p:nvPr>
            <p:ph type="body" sz="quarter" idx="1"/>
          </p:nvPr>
        </p:nvSpPr>
        <p:spPr>
          <a:xfrm>
            <a:off x="722312" y="2906713"/>
            <a:ext cx="7772401" cy="1500188"/>
          </a:xfrm>
          <a:prstGeom prst="rect">
            <a:avLst/>
          </a:prstGeom>
        </p:spPr>
        <p:txBody>
          <a:bodyPr anchor="b"/>
          <a:lstStyle>
            <a:lvl1pPr marL="228600" indent="0">
              <a:spcBef>
                <a:spcPts val="400"/>
              </a:spcBef>
              <a:buClrTx/>
              <a:buSzTx/>
              <a:buFontTx/>
              <a:buNone/>
              <a:defRPr sz="2000">
                <a:solidFill>
                  <a:srgbClr val="888888"/>
                </a:solidFill>
              </a:defRPr>
            </a:lvl1pPr>
            <a:lvl2pPr marL="228600" indent="457200">
              <a:spcBef>
                <a:spcPts val="400"/>
              </a:spcBef>
              <a:buClrTx/>
              <a:buSzTx/>
              <a:buFontTx/>
              <a:buNone/>
              <a:defRPr sz="2000">
                <a:solidFill>
                  <a:srgbClr val="888888"/>
                </a:solidFill>
              </a:defRPr>
            </a:lvl2pPr>
            <a:lvl3pPr marL="228600" indent="914400">
              <a:spcBef>
                <a:spcPts val="400"/>
              </a:spcBef>
              <a:buClrTx/>
              <a:buSzTx/>
              <a:buFontTx/>
              <a:buNone/>
              <a:defRPr sz="2000">
                <a:solidFill>
                  <a:srgbClr val="888888"/>
                </a:solidFill>
              </a:defRPr>
            </a:lvl3pPr>
            <a:lvl4pPr marL="228600" indent="1371600">
              <a:spcBef>
                <a:spcPts val="400"/>
              </a:spcBef>
              <a:buClrTx/>
              <a:buSzTx/>
              <a:buFontTx/>
              <a:buNone/>
              <a:defRPr sz="2000">
                <a:solidFill>
                  <a:srgbClr val="888888"/>
                </a:solidFill>
              </a:defRPr>
            </a:lvl4pPr>
            <a:lvl5pPr marL="228600" indent="1828800">
              <a:spcBef>
                <a:spcPts val="400"/>
              </a:spcBef>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Body Level One…"/>
          <p:cNvSpPr txBox="1"/>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50" name="Google Shape;43;p6"/>
          <p:cNvSpPr txBox="1"/>
          <p:nvPr>
            <p:ph type="body" sz="half" idx="21"/>
          </p:nvPr>
        </p:nvSpPr>
        <p:spPr>
          <a:xfrm>
            <a:off x="4648200" y="1600200"/>
            <a:ext cx="4038600" cy="4525963"/>
          </a:xfrm>
          <a:prstGeom prst="rect">
            <a:avLst/>
          </a:prstGeom>
        </p:spPr>
        <p:txBody>
          <a:bodyPr/>
          <a:lstStyle/>
          <a:p>
            <a:pPr indent="-406400">
              <a:spcBef>
                <a:spcPts val="500"/>
              </a:spcBef>
              <a:buSzPts val="2800"/>
              <a:defRPr sz="2800"/>
            </a:pP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8" name="Title Text"/>
          <p:cNvSpPr txBox="1"/>
          <p:nvPr>
            <p:ph type="title"/>
          </p:nvPr>
        </p:nvSpPr>
        <p:spPr>
          <a:prstGeom prst="rect">
            <a:avLst/>
          </a:prstGeom>
        </p:spPr>
        <p:txBody>
          <a:bodyPr/>
          <a:lstStyle/>
          <a:p>
            <a:pPr/>
            <a:r>
              <a:t>Title Text</a:t>
            </a:r>
          </a:p>
        </p:txBody>
      </p:sp>
      <p:sp>
        <p:nvSpPr>
          <p:cNvPr id="59" name="Body Level One…"/>
          <p:cNvSpPr txBox="1"/>
          <p:nvPr>
            <p:ph type="body" sz="quarter" idx="1"/>
          </p:nvPr>
        </p:nvSpPr>
        <p:spPr>
          <a:xfrm>
            <a:off x="457200" y="1535112"/>
            <a:ext cx="4040188" cy="639763"/>
          </a:xfrm>
          <a:prstGeom prst="rect">
            <a:avLst/>
          </a:prstGeom>
        </p:spPr>
        <p:txBody>
          <a:bodyPr anchor="b"/>
          <a:lstStyle>
            <a:lvl1pPr marL="228600" indent="0">
              <a:spcBef>
                <a:spcPts val="400"/>
              </a:spcBef>
              <a:buClrTx/>
              <a:buSzTx/>
              <a:buFontTx/>
              <a:buNone/>
              <a:defRPr b="1" sz="2400"/>
            </a:lvl1pPr>
            <a:lvl2pPr marL="228600" indent="457200">
              <a:spcBef>
                <a:spcPts val="400"/>
              </a:spcBef>
              <a:buClrTx/>
              <a:buSzTx/>
              <a:buFontTx/>
              <a:buNone/>
              <a:defRPr b="1" sz="2400"/>
            </a:lvl2pPr>
            <a:lvl3pPr marL="228600" indent="914400">
              <a:spcBef>
                <a:spcPts val="400"/>
              </a:spcBef>
              <a:buClrTx/>
              <a:buSzTx/>
              <a:buFontTx/>
              <a:buNone/>
              <a:defRPr b="1" sz="2400"/>
            </a:lvl3pPr>
            <a:lvl4pPr marL="228600" indent="1371600">
              <a:spcBef>
                <a:spcPts val="400"/>
              </a:spcBef>
              <a:buClrTx/>
              <a:buSzTx/>
              <a:buFontTx/>
              <a:buNone/>
              <a:defRPr b="1" sz="2400"/>
            </a:lvl4pPr>
            <a:lvl5pPr marL="228600" indent="1828800">
              <a:spcBef>
                <a:spcPts val="400"/>
              </a:spcBef>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60" name="Google Shape;50;p7"/>
          <p:cNvSpPr txBox="1"/>
          <p:nvPr>
            <p:ph type="body" sz="half" idx="21"/>
          </p:nvPr>
        </p:nvSpPr>
        <p:spPr>
          <a:xfrm>
            <a:off x="457200" y="2174875"/>
            <a:ext cx="4040188" cy="3951288"/>
          </a:xfrm>
          <a:prstGeom prst="rect">
            <a:avLst/>
          </a:prstGeom>
        </p:spPr>
        <p:txBody>
          <a:bodyPr/>
          <a:lstStyle/>
          <a:p>
            <a:pPr indent="-381000">
              <a:spcBef>
                <a:spcPts val="400"/>
              </a:spcBef>
              <a:buSzPts val="2400"/>
              <a:defRPr sz="2400"/>
            </a:pPr>
          </a:p>
        </p:txBody>
      </p:sp>
      <p:sp>
        <p:nvSpPr>
          <p:cNvPr id="61" name="Google Shape;51;p7"/>
          <p:cNvSpPr txBox="1"/>
          <p:nvPr>
            <p:ph type="body" sz="quarter" idx="22"/>
          </p:nvPr>
        </p:nvSpPr>
        <p:spPr>
          <a:xfrm>
            <a:off x="4645025" y="1535112"/>
            <a:ext cx="4041775" cy="639763"/>
          </a:xfrm>
          <a:prstGeom prst="rect">
            <a:avLst/>
          </a:prstGeom>
        </p:spPr>
        <p:txBody>
          <a:bodyPr anchor="b"/>
          <a:lstStyle/>
          <a:p>
            <a:pPr marL="228600" indent="0">
              <a:spcBef>
                <a:spcPts val="400"/>
              </a:spcBef>
              <a:buClrTx/>
              <a:buSzTx/>
              <a:buFontTx/>
              <a:buNone/>
              <a:defRPr b="1" sz="2400"/>
            </a:pPr>
          </a:p>
        </p:txBody>
      </p:sp>
      <p:sp>
        <p:nvSpPr>
          <p:cNvPr id="62" name="Google Shape;52;p7"/>
          <p:cNvSpPr txBox="1"/>
          <p:nvPr>
            <p:ph type="body" sz="half" idx="23"/>
          </p:nvPr>
        </p:nvSpPr>
        <p:spPr>
          <a:xfrm>
            <a:off x="4645025" y="2174875"/>
            <a:ext cx="4041775" cy="3951288"/>
          </a:xfrm>
          <a:prstGeom prst="rect">
            <a:avLst/>
          </a:prstGeom>
        </p:spPr>
        <p:txBody>
          <a:bodyPr/>
          <a:lstStyle/>
          <a:p>
            <a:pPr indent="-381000">
              <a:spcBef>
                <a:spcPts val="400"/>
              </a:spcBef>
              <a:buSzPts val="2400"/>
              <a:defRPr sz="2400"/>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7"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8" name="Body Level One…"/>
          <p:cNvSpPr txBox="1"/>
          <p:nvPr>
            <p:ph type="body" idx="1"/>
          </p:nvPr>
        </p:nvSpPr>
        <p:spPr>
          <a:xfrm>
            <a:off x="3575050" y="273050"/>
            <a:ext cx="5111750" cy="5853113"/>
          </a:xfrm>
          <a:prstGeom prst="rect">
            <a:avLst/>
          </a:prstGeom>
        </p:spPr>
        <p:txBody>
          <a:bodyPr/>
          <a:lstStyle>
            <a:lvl1pPr indent="-431800">
              <a:spcBef>
                <a:spcPts val="600"/>
              </a:spcBef>
            </a:lvl1pPr>
            <a:lvl2pPr marL="972457" indent="-464457">
              <a:spcBef>
                <a:spcPts val="600"/>
              </a:spcBef>
            </a:lvl2pPr>
            <a:lvl3pPr marL="1498600" indent="-508000">
              <a:spcBef>
                <a:spcPts val="600"/>
              </a:spcBef>
            </a:lvl3pPr>
            <a:lvl4pPr marL="2042160" indent="-568960">
              <a:spcBef>
                <a:spcPts val="600"/>
              </a:spcBef>
            </a:lvl4pPr>
            <a:lvl5pPr marL="2499360" indent="-568960">
              <a:spcBef>
                <a:spcPts val="600"/>
              </a:spcBef>
            </a:lvl5pPr>
          </a:lstStyle>
          <a:p>
            <a:pPr/>
            <a:r>
              <a:t>Body Level One</a:t>
            </a:r>
          </a:p>
          <a:p>
            <a:pPr lvl="1"/>
            <a:r>
              <a:t>Body Level Two</a:t>
            </a:r>
          </a:p>
          <a:p>
            <a:pPr lvl="2"/>
            <a:r>
              <a:t>Body Level Three</a:t>
            </a:r>
          </a:p>
          <a:p>
            <a:pPr lvl="3"/>
            <a:r>
              <a:t>Body Level Four</a:t>
            </a:r>
          </a:p>
          <a:p>
            <a:pPr lvl="4"/>
            <a:r>
              <a:t>Body Level Five</a:t>
            </a:r>
          </a:p>
        </p:txBody>
      </p:sp>
      <p:sp>
        <p:nvSpPr>
          <p:cNvPr id="79" name="Google Shape;63;p9"/>
          <p:cNvSpPr txBox="1"/>
          <p:nvPr>
            <p:ph type="body" sz="half" idx="21"/>
          </p:nvPr>
        </p:nvSpPr>
        <p:spPr>
          <a:xfrm>
            <a:off x="457199" y="1435100"/>
            <a:ext cx="3008315" cy="4691063"/>
          </a:xfrm>
          <a:prstGeom prst="rect">
            <a:avLst/>
          </a:prstGeom>
        </p:spPr>
        <p:txBody>
          <a:bodyPr/>
          <a:lstStyle/>
          <a:p>
            <a:pPr marL="228600" indent="0">
              <a:spcBef>
                <a:spcPts val="200"/>
              </a:spcBef>
              <a:buClrTx/>
              <a:buSzTx/>
              <a:buFontTx/>
              <a:buNone/>
              <a:defRPr sz="1400"/>
            </a:pPr>
          </a:p>
        </p:txBody>
      </p:sp>
      <p:sp>
        <p:nvSpPr>
          <p:cNvPr id="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7"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8" name="Google Shape;69;p10"/>
          <p:cNvSpPr/>
          <p:nvPr>
            <p:ph type="pic" sz="half" idx="21"/>
          </p:nvPr>
        </p:nvSpPr>
        <p:spPr>
          <a:xfrm>
            <a:off x="1792288" y="612775"/>
            <a:ext cx="5486401" cy="4114800"/>
          </a:xfrm>
          <a:prstGeom prst="rect">
            <a:avLst/>
          </a:prstGeom>
        </p:spPr>
        <p:txBody>
          <a:bodyPr lIns="91439" tIns="45719" rIns="91439" bIns="45719">
            <a:noAutofit/>
          </a:bodyPr>
          <a:lstStyle/>
          <a:p>
            <a:pPr/>
          </a:p>
        </p:txBody>
      </p:sp>
      <p:sp>
        <p:nvSpPr>
          <p:cNvPr id="89" name="Body Level One…"/>
          <p:cNvSpPr txBox="1"/>
          <p:nvPr>
            <p:ph type="body" sz="quarter" idx="1"/>
          </p:nvPr>
        </p:nvSpPr>
        <p:spPr>
          <a:xfrm>
            <a:off x="1792288" y="5367337"/>
            <a:ext cx="5486401" cy="804863"/>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97" name="Title Text"/>
          <p:cNvSpPr txBox="1"/>
          <p:nvPr>
            <p:ph type="title"/>
          </p:nvPr>
        </p:nvSpPr>
        <p:spPr>
          <a:prstGeom prst="rect">
            <a:avLst/>
          </a:prstGeom>
        </p:spPr>
        <p:txBody>
          <a:bodyPr/>
          <a:lstStyle/>
          <a:p>
            <a:pPr/>
            <a:r>
              <a:t>Title Text</a:t>
            </a:r>
          </a:p>
        </p:txBody>
      </p:sp>
      <p:sp>
        <p:nvSpPr>
          <p:cNvPr id="98" name="Body Level One…"/>
          <p:cNvSpPr txBox="1"/>
          <p:nvPr>
            <p:ph type="body" idx="1"/>
          </p:nvPr>
        </p:nvSpPr>
        <p:spPr>
          <a:xfrm rot="5400000">
            <a:off x="2309018" y="-251618"/>
            <a:ext cx="4525964" cy="8229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06" name="Title Text"/>
          <p:cNvSpPr txBox="1"/>
          <p:nvPr>
            <p:ph type="title"/>
          </p:nvPr>
        </p:nvSpPr>
        <p:spPr>
          <a:xfrm rot="5400000">
            <a:off x="4732337" y="2171700"/>
            <a:ext cx="5851526" cy="2057401"/>
          </a:xfrm>
          <a:prstGeom prst="rect">
            <a:avLst/>
          </a:prstGeom>
        </p:spPr>
        <p:txBody>
          <a:bodyPr/>
          <a:lstStyle/>
          <a:p>
            <a:pPr/>
            <a:r>
              <a:t>Title Text</a:t>
            </a:r>
          </a:p>
        </p:txBody>
      </p:sp>
      <p:sp>
        <p:nvSpPr>
          <p:cNvPr id="107" name="Body Level One…"/>
          <p:cNvSpPr txBox="1"/>
          <p:nvPr>
            <p:ph type="body" idx="1"/>
          </p:nvPr>
        </p:nvSpPr>
        <p:spPr>
          <a:xfrm rot="5400000">
            <a:off x="541337" y="190500"/>
            <a:ext cx="5851526" cy="60198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Title and Content">
    <p:spTree>
      <p:nvGrpSpPr>
        <p:cNvPr id="1" name=""/>
        <p:cNvGrpSpPr/>
        <p:nvPr/>
      </p:nvGrpSpPr>
      <p:grpSpPr>
        <a:xfrm>
          <a:off x="0" y="0"/>
          <a:ext cx="0" cy="0"/>
          <a:chOff x="0" y="0"/>
          <a:chExt cx="0" cy="0"/>
        </a:xfrm>
      </p:grpSpPr>
      <p:sp>
        <p:nvSpPr>
          <p:cNvPr id="11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6" name="Slide Number"/>
          <p:cNvSpPr txBox="1"/>
          <p:nvPr>
            <p:ph type="sldNum" sz="quarter" idx="2"/>
          </p:nvPr>
        </p:nvSpPr>
        <p:spPr>
          <a:prstGeom prst="rect">
            <a:avLst/>
          </a:prstGeom>
        </p:spPr>
        <p:txBody>
          <a:bodyPr/>
          <a:lstStyle>
            <a:lvl1pPr>
              <a:defRPr>
                <a:solidFill>
                  <a:srgbClr val="974806"/>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5;p1"/>
          <p:cNvSpPr/>
          <p:nvPr/>
        </p:nvSpPr>
        <p:spPr>
          <a:xfrm>
            <a:off x="298939" y="177143"/>
            <a:ext cx="8610601" cy="6553201"/>
          </a:xfrm>
          <a:prstGeom prst="rect">
            <a:avLst/>
          </a:prstGeom>
          <a:ln w="25400">
            <a:solidFill>
              <a:srgbClr val="395E89"/>
            </a:solidFill>
          </a:ln>
        </p:spPr>
        <p:txBody>
          <a:bodyPr lIns="45719" rIns="45719" anchor="ctr"/>
          <a:lstStyle/>
          <a:p>
            <a:pPr algn="ctr">
              <a:defRPr sz="1800">
                <a:solidFill>
                  <a:srgbClr val="FFFFFF"/>
                </a:solidFill>
                <a:latin typeface="Calibri"/>
                <a:ea typeface="Calibri"/>
                <a:cs typeface="Calibri"/>
                <a:sym typeface="Calibri"/>
              </a:defRPr>
            </a:pPr>
          </a:p>
        </p:txBody>
      </p:sp>
      <p:sp>
        <p:nvSpPr>
          <p:cNvPr id="3" name="Google Shape;16;p1"/>
          <p:cNvSpPr/>
          <p:nvPr/>
        </p:nvSpPr>
        <p:spPr>
          <a:xfrm>
            <a:off x="298939" y="1219200"/>
            <a:ext cx="8610601" cy="1588"/>
          </a:xfrm>
          <a:prstGeom prst="line">
            <a:avLst/>
          </a:prstGeom>
          <a:ln w="25400">
            <a:solidFill>
              <a:srgbClr val="1F497D"/>
            </a:solidFill>
          </a:ln>
        </p:spPr>
        <p:txBody>
          <a:bodyPr lIns="45719" rIns="45719"/>
          <a:lstStyle/>
          <a:p>
            <a:pPr/>
          </a:p>
        </p:txBody>
      </p:sp>
      <p:sp>
        <p:nvSpPr>
          <p:cNvPr id="4" name="Title Text"/>
          <p:cNvSpPr txBox="1"/>
          <p:nvPr>
            <p:ph type="title"/>
          </p:nvPr>
        </p:nvSpPr>
        <p:spPr>
          <a:xfrm>
            <a:off x="298939" y="228600"/>
            <a:ext cx="8229601" cy="11430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8428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1pPr>
      <a:lvl2pPr marL="963385" marR="0" indent="-391885"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2pPr>
      <a:lvl3pPr marL="1485900" marR="0" indent="-45720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3pPr>
      <a:lvl4pPr marL="20345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4pPr>
      <a:lvl5pPr marL="24917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5pPr>
      <a:lvl6pPr marL="29489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6pPr>
      <a:lvl7pPr marL="34061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7pPr>
      <a:lvl8pPr marL="38633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8pPr>
      <a:lvl9pPr marL="43205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Google Shape;99;p14"/>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 - CSE</a:t>
            </a:r>
          </a:p>
        </p:txBody>
      </p:sp>
      <p:sp>
        <p:nvSpPr>
          <p:cNvPr id="126" name="Google Shape;96;p14"/>
          <p:cNvSpPr txBox="1"/>
          <p:nvPr>
            <p:ph type="ctrTitle"/>
          </p:nvPr>
        </p:nvSpPr>
        <p:spPr>
          <a:xfrm>
            <a:off x="571500" y="253796"/>
            <a:ext cx="7772400" cy="799730"/>
          </a:xfrm>
          <a:prstGeom prst="rect">
            <a:avLst/>
          </a:prstGeom>
        </p:spPr>
        <p:txBody>
          <a:bodyPr/>
          <a:lstStyle/>
          <a:p>
            <a:pPr defTabSz="804672">
              <a:defRPr sz="1584">
                <a:solidFill>
                  <a:srgbClr val="244061"/>
                </a:solidFill>
                <a:latin typeface="+mj-lt"/>
                <a:ea typeface="+mj-ea"/>
                <a:cs typeface="+mj-cs"/>
                <a:sym typeface="Arial"/>
              </a:defRPr>
            </a:pPr>
            <a:br/>
            <a:br/>
          </a:p>
        </p:txBody>
      </p:sp>
      <p:sp>
        <p:nvSpPr>
          <p:cNvPr id="127" name="Google Shape;97;p14"/>
          <p:cNvSpPr txBox="1"/>
          <p:nvPr>
            <p:ph type="subTitle" sz="quarter" idx="1"/>
          </p:nvPr>
        </p:nvSpPr>
        <p:spPr>
          <a:xfrm>
            <a:off x="502920" y="2971800"/>
            <a:ext cx="8138160" cy="1371600"/>
          </a:xfrm>
          <a:prstGeom prst="rect">
            <a:avLst/>
          </a:prstGeom>
        </p:spPr>
        <p:txBody>
          <a:bodyPr/>
          <a:lstStyle>
            <a:lvl1pPr marL="0" indent="0">
              <a:lnSpc>
                <a:spcPct val="170000"/>
              </a:lnSpc>
              <a:spcBef>
                <a:spcPts val="0"/>
              </a:spcBef>
              <a:defRPr b="1" sz="2000"/>
            </a:lvl1pPr>
          </a:lstStyle>
          <a:p>
            <a:pPr/>
            <a:r>
              <a:t>Real-Time Fraud Mitigation in UPI Gateways Using Hybrid Machine Learning</a:t>
            </a:r>
          </a:p>
        </p:txBody>
      </p:sp>
      <p:sp>
        <p:nvSpPr>
          <p:cNvPr id="128" name="Google Shape;98;p14"/>
          <p:cNvSpPr txBox="1"/>
          <p:nvPr/>
        </p:nvSpPr>
        <p:spPr>
          <a:xfrm>
            <a:off x="502925" y="6414780"/>
            <a:ext cx="2042150" cy="248265"/>
          </a:xfrm>
          <a:prstGeom prst="rect">
            <a:avLst/>
          </a:prstGeom>
          <a:ln w="12700">
            <a:miter lim="400000"/>
          </a:ln>
          <a:effectLst>
            <a:outerShdw sx="100000" sy="100000" kx="0" ky="0" algn="b" rotWithShape="0" blurRad="50800" dist="50800" dir="5400000">
              <a:srgbClr val="FFFFFF"/>
            </a:outerShdw>
          </a:effectLst>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29" name="Google Shape;100;p14"/>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30" name="Google Shape;102;p14"/>
          <p:cNvSpPr txBox="1"/>
          <p:nvPr/>
        </p:nvSpPr>
        <p:spPr>
          <a:xfrm>
            <a:off x="502924" y="4901084"/>
            <a:ext cx="8290550" cy="148788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defRPr b="1" sz="1800">
                <a:latin typeface="Calibri"/>
                <a:ea typeface="Calibri"/>
                <a:cs typeface="Calibri"/>
                <a:sym typeface="Calibri"/>
              </a:defRPr>
            </a:pPr>
            <a:r>
              <a:t>PROJECT STUDENTS                                                               GUIDE</a:t>
            </a:r>
          </a:p>
          <a:p>
            <a:pPr>
              <a:defRPr b="1" sz="1800">
                <a:latin typeface="Calibri"/>
                <a:ea typeface="Calibri"/>
                <a:cs typeface="Calibri"/>
                <a:sym typeface="Calibri"/>
              </a:defRPr>
            </a:pPr>
            <a:r>
              <a:t>[M Parthasarathy], [43611189.]                                     Ms.R.Sudha M.E</a:t>
            </a:r>
          </a:p>
          <a:p>
            <a:pPr>
              <a:defRPr b="1" sz="1800">
                <a:latin typeface="Calibri"/>
                <a:ea typeface="Calibri"/>
                <a:cs typeface="Calibri"/>
                <a:sym typeface="Calibri"/>
              </a:defRPr>
            </a:pPr>
            <a:r>
              <a:t>[Selvamani M], [43611204.]                                    Assistant Professor, CSE</a:t>
            </a:r>
          </a:p>
        </p:txBody>
      </p:sp>
      <p:sp>
        <p:nvSpPr>
          <p:cNvPr id="131" name="Google Shape;103;p14"/>
          <p:cNvSpPr txBox="1"/>
          <p:nvPr/>
        </p:nvSpPr>
        <p:spPr>
          <a:xfrm>
            <a:off x="369572" y="1369441"/>
            <a:ext cx="8671551" cy="130831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2800">
                <a:latin typeface="Calibri"/>
                <a:ea typeface="Calibri"/>
                <a:cs typeface="Calibri"/>
                <a:sym typeface="Calibri"/>
              </a:defRPr>
            </a:pPr>
            <a:r>
              <a:t>DEPARTMENT OF COMPUTER SCIENCE AND ENGINEERING WITH SPECIALIZATION IN DS/AIML/AIR</a:t>
            </a:r>
          </a:p>
          <a:p>
            <a:pPr algn="ctr">
              <a:defRPr b="1" sz="2800">
                <a:latin typeface="Calibri"/>
                <a:ea typeface="Calibri"/>
                <a:cs typeface="Calibri"/>
                <a:sym typeface="Calibri"/>
              </a:defRPr>
            </a:pPr>
            <a:r>
              <a:t>PROJECT PHASE-I</a:t>
            </a:r>
          </a:p>
        </p:txBody>
      </p:sp>
      <p:pic>
        <p:nvPicPr>
          <p:cNvPr id="132" name="Google Shape;104;p14" descr="Google Shape;104;p14"/>
          <p:cNvPicPr>
            <a:picLocks noChangeAspect="1"/>
          </p:cNvPicPr>
          <p:nvPr/>
        </p:nvPicPr>
        <p:blipFill>
          <a:blip r:embed="rId3">
            <a:extLst/>
          </a:blip>
          <a:stretch>
            <a:fillRect/>
          </a:stretch>
        </p:blipFill>
        <p:spPr>
          <a:xfrm>
            <a:off x="571498" y="253797"/>
            <a:ext cx="8267701" cy="965403"/>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Google Shape;112;p15"/>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 - CSE</a:t>
            </a:r>
          </a:p>
        </p:txBody>
      </p:sp>
      <p:sp>
        <p:nvSpPr>
          <p:cNvPr id="137" name="Google Shape;109;p15"/>
          <p:cNvSpPr txBox="1"/>
          <p:nvPr>
            <p:ph type="title"/>
          </p:nvPr>
        </p:nvSpPr>
        <p:spPr>
          <a:prstGeom prst="rect">
            <a:avLst/>
          </a:prstGeom>
        </p:spPr>
        <p:txBody>
          <a:bodyPr/>
          <a:lstStyle/>
          <a:p>
            <a:pPr/>
            <a:r>
              <a:t>AGENDA</a:t>
            </a:r>
          </a:p>
        </p:txBody>
      </p:sp>
      <p:sp>
        <p:nvSpPr>
          <p:cNvPr id="138" name="Google Shape;110;p15"/>
          <p:cNvSpPr txBox="1"/>
          <p:nvPr>
            <p:ph type="body" idx="1"/>
          </p:nvPr>
        </p:nvSpPr>
        <p:spPr>
          <a:xfrm>
            <a:off x="457200" y="1600993"/>
            <a:ext cx="8229600" cy="4525963"/>
          </a:xfrm>
          <a:prstGeom prst="rect">
            <a:avLst/>
          </a:prstGeom>
        </p:spPr>
        <p:txBody>
          <a:bodyPr/>
          <a:lstStyle/>
          <a:p>
            <a:pPr marL="342900">
              <a:spcBef>
                <a:spcPts val="0"/>
              </a:spcBef>
            </a:pPr>
            <a:r>
              <a:t>Abstract</a:t>
            </a:r>
          </a:p>
          <a:p>
            <a:pPr marL="342900">
              <a:spcBef>
                <a:spcPts val="600"/>
              </a:spcBef>
            </a:pPr>
            <a:r>
              <a:t>Objective(s)</a:t>
            </a:r>
          </a:p>
          <a:p>
            <a:pPr marL="342900">
              <a:spcBef>
                <a:spcPts val="600"/>
              </a:spcBef>
            </a:pPr>
            <a:r>
              <a:t>Literature Survey</a:t>
            </a:r>
          </a:p>
          <a:p>
            <a:pPr marL="342900">
              <a:spcBef>
                <a:spcPts val="600"/>
              </a:spcBef>
            </a:pPr>
            <a:r>
              <a:t>Inferences from Literature Survey</a:t>
            </a:r>
          </a:p>
          <a:p>
            <a:pPr marL="342900">
              <a:spcBef>
                <a:spcPts val="600"/>
              </a:spcBef>
            </a:pPr>
            <a:r>
              <a:t>Proposed System</a:t>
            </a:r>
          </a:p>
          <a:p>
            <a:pPr marL="342900">
              <a:spcBef>
                <a:spcPts val="600"/>
              </a:spcBef>
            </a:pPr>
            <a:r>
              <a:t>References</a:t>
            </a:r>
          </a:p>
        </p:txBody>
      </p:sp>
      <p:sp>
        <p:nvSpPr>
          <p:cNvPr id="139" name="Google Shape;111;p15"/>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40" name="Google Shape;113;p15"/>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Google Shape;121;p16"/>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45" name="Google Shape;118;p16"/>
          <p:cNvSpPr txBox="1"/>
          <p:nvPr>
            <p:ph type="title"/>
          </p:nvPr>
        </p:nvSpPr>
        <p:spPr>
          <a:prstGeom prst="rect">
            <a:avLst/>
          </a:prstGeom>
        </p:spPr>
        <p:txBody>
          <a:bodyPr/>
          <a:lstStyle/>
          <a:p>
            <a:pPr/>
            <a:r>
              <a:t>ABSTRACT</a:t>
            </a:r>
          </a:p>
        </p:txBody>
      </p:sp>
      <p:sp>
        <p:nvSpPr>
          <p:cNvPr id="146" name="Google Shape;119;p16"/>
          <p:cNvSpPr txBox="1"/>
          <p:nvPr>
            <p:ph type="body" idx="1"/>
          </p:nvPr>
        </p:nvSpPr>
        <p:spPr>
          <a:xfrm>
            <a:off x="457200" y="1600200"/>
            <a:ext cx="8229600" cy="4525963"/>
          </a:xfrm>
          <a:prstGeom prst="rect">
            <a:avLst/>
          </a:prstGeom>
        </p:spPr>
        <p:txBody>
          <a:bodyPr/>
          <a:lstStyle>
            <a:lvl1pPr marL="0" indent="0" algn="just">
              <a:lnSpc>
                <a:spcPct val="120000"/>
              </a:lnSpc>
              <a:spcBef>
                <a:spcPts val="0"/>
              </a:spcBef>
              <a:buSzTx/>
              <a:buNone/>
              <a:defRPr sz="1400"/>
            </a:lvl1pPr>
          </a:lstStyle>
          <a:p>
            <a:pPr/>
            <a:r>
              <a:t>Conventional payment fraud systems operate retrospectively: a transaction settles, logs are analysed later, and recovery is attempted after the money has already moved. On real-time rails such as the Unified Payments Interface (UPI), funds are forwarded and withdrawn within minutes, making recovery largely infeasible. This project proposes RT-IIPF, a framework that relocates the fraud decision inside the payment transaction itself. When a payment arrives, the Spring Boot switch acquires pessimistic locks on both ledger rows, applies the debit and credit provisionally without committing, and suspends the executing thread while an isolated Python microservice scores the transaction using an unsupervised Isolation Forest. A clean verdict commits the ledger; a fraudulent verdict triggers an atomic rollback and locks the payer account, while the audit record survives the rollback through an independent transaction. The prototype achieves an end-to-end decision in 11-12 ms, so a blocked transfer never attains durable existence in the ledger and there is nothing to claw back.</a:t>
            </a:r>
          </a:p>
        </p:txBody>
      </p:sp>
      <p:sp>
        <p:nvSpPr>
          <p:cNvPr id="147" name="Google Shape;120;p1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48" name="Google Shape;122;p16"/>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Google Shape;130;p1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53" name="Google Shape;127;p17"/>
          <p:cNvSpPr txBox="1"/>
          <p:nvPr>
            <p:ph type="title"/>
          </p:nvPr>
        </p:nvSpPr>
        <p:spPr>
          <a:prstGeom prst="rect">
            <a:avLst/>
          </a:prstGeom>
        </p:spPr>
        <p:txBody>
          <a:bodyPr/>
          <a:lstStyle/>
          <a:p>
            <a:pPr/>
            <a:r>
              <a:t>OBJECTIVE(S)</a:t>
            </a:r>
          </a:p>
        </p:txBody>
      </p:sp>
      <p:sp>
        <p:nvSpPr>
          <p:cNvPr id="154" name="Google Shape;128;p17"/>
          <p:cNvSpPr txBox="1"/>
          <p:nvPr>
            <p:ph type="body" idx="1"/>
          </p:nvPr>
        </p:nvSpPr>
        <p:spPr>
          <a:xfrm>
            <a:off x="457200" y="1591364"/>
            <a:ext cx="8229600" cy="4603653"/>
          </a:xfrm>
          <a:prstGeom prst="rect">
            <a:avLst/>
          </a:prstGeom>
        </p:spPr>
        <p:txBody>
          <a:bodyPr/>
          <a:lstStyle/>
          <a:p>
            <a:pPr marL="342900" algn="just">
              <a:lnSpc>
                <a:spcPct val="120000"/>
              </a:lnSpc>
              <a:spcBef>
                <a:spcPts val="0"/>
              </a:spcBef>
              <a:buSzPct val="100000"/>
              <a:defRPr sz="1600"/>
            </a:pPr>
            <a:r>
              <a:t>Design an inline interception pipeline that suspends a UPI payment mid-transaction and arbitrates its commit on a machine-learning verdict.</a:t>
            </a:r>
            <a:endParaRPr sz="2900"/>
          </a:p>
          <a:p>
            <a:pPr marL="342900" algn="just">
              <a:lnSpc>
                <a:spcPct val="120000"/>
              </a:lnSpc>
              <a:spcBef>
                <a:spcPts val="0"/>
              </a:spcBef>
              <a:buSzPct val="100000"/>
              <a:defRPr sz="1600"/>
            </a:pPr>
            <a:r>
              <a:t>Implement atomic rollback with a surviving audit trail, so a blocked transfer leaves no ledger effect while the security response persists.</a:t>
            </a:r>
            <a:endParaRPr sz="2900"/>
          </a:p>
          <a:p>
            <a:pPr marL="342900" algn="just">
              <a:lnSpc>
                <a:spcPct val="120000"/>
              </a:lnSpc>
              <a:spcBef>
                <a:spcPts val="0"/>
              </a:spcBef>
              <a:buSzPct val="100000"/>
              <a:defRPr sz="1600"/>
            </a:pPr>
            <a:r>
              <a:t>Train an unsupervised Isolation Forest on 250,000 real UPI transactions that requires no fraud labels and can flag previously unseen patterns.</a:t>
            </a:r>
            <a:endParaRPr sz="2900"/>
          </a:p>
          <a:p>
            <a:pPr marL="342900" algn="just">
              <a:lnSpc>
                <a:spcPct val="120000"/>
              </a:lnSpc>
              <a:spcBef>
                <a:spcPts val="0"/>
              </a:spcBef>
              <a:buSzPct val="100000"/>
              <a:defRPr sz="1600"/>
            </a:pPr>
            <a:r>
              <a:t>Enrich six user-entered fields into a 13-feature vector using client telemetry and server-side data the client cannot forge.</a:t>
            </a:r>
            <a:endParaRPr sz="2900"/>
          </a:p>
          <a:p>
            <a:pPr marL="342900" algn="just">
              <a:lnSpc>
                <a:spcPct val="120000"/>
              </a:lnSpc>
              <a:spcBef>
                <a:spcPts val="0"/>
              </a:spcBef>
              <a:buSzPct val="100000"/>
              <a:defRPr sz="1600"/>
            </a:pPr>
            <a:r>
              <a:t>Validate the sub-50 ms design budget through latency and concurrency benchmarking of the complete three-service system.</a:t>
            </a:r>
          </a:p>
        </p:txBody>
      </p:sp>
      <p:sp>
        <p:nvSpPr>
          <p:cNvPr id="155" name="Google Shape;129;p17"/>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56" name="Google Shape;131;p17"/>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Google Shape;138;p18"/>
          <p:cNvSpPr txBox="1"/>
          <p:nvPr/>
        </p:nvSpPr>
        <p:spPr>
          <a:xfrm>
            <a:off x="3169924" y="6414767"/>
            <a:ext cx="2804151" cy="24826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61" name="Google Shape;136;p18"/>
          <p:cNvSpPr txBox="1"/>
          <p:nvPr>
            <p:ph type="title"/>
          </p:nvPr>
        </p:nvSpPr>
        <p:spPr>
          <a:xfrm>
            <a:off x="381000" y="381000"/>
            <a:ext cx="8229600" cy="655501"/>
          </a:xfrm>
          <a:prstGeom prst="rect">
            <a:avLst/>
          </a:prstGeom>
        </p:spPr>
        <p:txBody>
          <a:bodyPr/>
          <a:lstStyle>
            <a:lvl1pPr>
              <a:defRPr sz="3900">
                <a:latin typeface="+mj-lt"/>
                <a:ea typeface="+mj-ea"/>
                <a:cs typeface="+mj-cs"/>
                <a:sym typeface="Arial"/>
              </a:defRPr>
            </a:lvl1pPr>
          </a:lstStyle>
          <a:p>
            <a:pPr/>
            <a:r>
              <a:t>Base Paper Details</a:t>
            </a:r>
          </a:p>
        </p:txBody>
      </p:sp>
      <p:sp>
        <p:nvSpPr>
          <p:cNvPr id="162" name="Google Shape;137;p18"/>
          <p:cNvSpPr txBox="1"/>
          <p:nvPr/>
        </p:nvSpPr>
        <p:spPr>
          <a:xfrm>
            <a:off x="502925" y="6414767"/>
            <a:ext cx="2042150" cy="24826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63" name="Google Shape;139;p18"/>
          <p:cNvSpPr txBox="1"/>
          <p:nvPr>
            <p:ph type="sldNum" sz="quarter" idx="2"/>
          </p:nvPr>
        </p:nvSpPr>
        <p:spPr>
          <a:xfrm>
            <a:off x="8505458" y="6414767"/>
            <a:ext cx="181343" cy="24826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4" name="Google Shape;140;p18"/>
          <p:cNvSpPr txBox="1"/>
          <p:nvPr/>
        </p:nvSpPr>
        <p:spPr>
          <a:xfrm>
            <a:off x="317108" y="1505441"/>
            <a:ext cx="8509784" cy="503047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spAutoFit/>
          </a:bodyPr>
          <a:lstStyle/>
          <a:p>
            <a:pPr>
              <a:lnSpc>
                <a:spcPct val="115000"/>
              </a:lnSpc>
              <a:spcBef>
                <a:spcPts val="1200"/>
              </a:spcBef>
              <a:defRPr b="1" sz="1500"/>
            </a:pPr>
            <a:r>
              <a:t>Base Paper Title: </a:t>
            </a:r>
            <a:r>
              <a:rPr b="0"/>
              <a:t>Smart UPI Fraud Detect:</a:t>
            </a:r>
            <a:r>
              <a:rPr b="0" sz="1400"/>
              <a:t> Ml-Based Anomaly </a:t>
            </a:r>
            <a:r>
              <a:rPr b="0"/>
              <a:t>Identification in UPI PaymentsYear: 2025</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1A1919"/>
                </a:solidFill>
              </a:defRPr>
            </a:pPr>
          </a:p>
          <a:p>
            <a:pPr>
              <a:lnSpc>
                <a:spcPct val="115000"/>
              </a:lnSpc>
              <a:spcBef>
                <a:spcPts val="1200"/>
              </a:spcBef>
              <a:defRPr b="1" sz="1500"/>
            </a:pPr>
            <a:r>
              <a:t>Journal / Conference: IEEE Xplore Conference Publication</a:t>
            </a:r>
            <a:endParaRPr sz="2400"/>
          </a:p>
          <a:p>
            <a:pPr>
              <a:lnSpc>
                <a:spcPct val="115000"/>
              </a:lnSpc>
              <a:spcBef>
                <a:spcPts val="1200"/>
              </a:spcBef>
              <a:defRPr b="1" sz="1500"/>
            </a:pPr>
            <a:r>
              <a:t>Method: </a:t>
            </a:r>
            <a:r>
              <a:rPr b="0"/>
              <a:t>An Isolation Forest scores the transaction before payment; safe ones go through an OTP check, suspicious ones are blocked</a:t>
            </a:r>
            <a:r>
              <a:t>.</a:t>
            </a:r>
            <a:endParaRPr sz="2400"/>
          </a:p>
          <a:p>
            <a:pPr marL="228600" indent="-228600">
              <a:lnSpc>
                <a:spcPct val="115000"/>
              </a:lnSpc>
              <a:spcBef>
                <a:spcPts val="1200"/>
              </a:spcBef>
              <a:buSzPct val="100000"/>
              <a:buChar char="•"/>
              <a:defRPr b="1" sz="1500"/>
            </a:pPr>
            <a:r>
              <a:t>Identified Gap: </a:t>
            </a:r>
            <a:r>
              <a:rPr b="0"/>
              <a:t>They check for fraud </a:t>
            </a:r>
            <a:r>
              <a:rPr b="0" i="1"/>
              <a:t>before</a:t>
            </a:r>
            <a:r>
              <a:rPr b="0"/>
              <a:t> the payment starts. We check </a:t>
            </a:r>
            <a:r>
              <a:rPr b="0" i="1"/>
              <a:t>during</a:t>
            </a:r>
            <a:r>
              <a:rPr b="0"/>
              <a:t> the payment, while the money is still frozen in our hands — so we can still pull it back.</a:t>
            </a:r>
            <a:endParaRPr b="0"/>
          </a:p>
          <a:p>
            <a:pPr marL="228600" indent="-228600">
              <a:lnSpc>
                <a:spcPct val="115000"/>
              </a:lnSpc>
              <a:spcBef>
                <a:spcPts val="1200"/>
              </a:spcBef>
              <a:buSzPct val="100000"/>
              <a:buChar char="•"/>
              <a:defRPr b="1" sz="1500"/>
            </a:pPr>
            <a:r>
              <a:rPr b="0"/>
              <a:t>They use 600 records,They claim "real-time" but never measure it.</a:t>
            </a:r>
            <a:endParaRPr b="0"/>
          </a:p>
          <a:p>
            <a:pPr marL="228600" indent="-228600">
              <a:lnSpc>
                <a:spcPct val="115000"/>
              </a:lnSpc>
              <a:spcBef>
                <a:spcPts val="1200"/>
              </a:spcBef>
              <a:buSzPct val="100000"/>
              <a:buChar char="•"/>
              <a:defRPr b="1" sz="1500"/>
            </a:pPr>
            <a:r>
              <a:rPr b="0"/>
              <a:t> You measured 11–12 ms end-to-end within the sub-50 ms budget, plus a concurrency study that found a ~95 TPS ceiling and localised the bottleneck to the stateless scoring tier.</a:t>
            </a:r>
            <a:endParaRPr b="0"/>
          </a:p>
          <a:p>
            <a:pPr marL="228600" indent="-228600">
              <a:lnSpc>
                <a:spcPct val="115000"/>
              </a:lnSpc>
              <a:spcBef>
                <a:spcPts val="1200"/>
              </a:spcBef>
              <a:buSzPct val="100000"/>
              <a:buChar char="•"/>
              <a:defRPr b="1" sz="1500"/>
            </a:pPr>
            <a:r>
              <a:rPr b="0"/>
              <a:t>Theirs is a Flask monolith. Yours is three services — Java switch owning the ledger, Python scoring node, React client — which is what makes the transactional separation possible.</a:t>
            </a:r>
            <a:endParaRPr b="0"/>
          </a:p>
          <a:p>
            <a:pPr>
              <a:lnSpc>
                <a:spcPct val="115000"/>
              </a:lnSpc>
              <a:spcBef>
                <a:spcPts val="1200"/>
              </a:spcBef>
              <a:defRPr b="1" sz="1500"/>
            </a:pPr>
            <a:endParaRPr b="0"/>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Footer Placeholder 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69" name="Title 1"/>
          <p:cNvSpPr txBox="1"/>
          <p:nvPr>
            <p:ph type="title"/>
          </p:nvPr>
        </p:nvSpPr>
        <p:spPr>
          <a:xfrm>
            <a:off x="381000" y="380999"/>
            <a:ext cx="8229600" cy="655640"/>
          </a:xfrm>
          <a:prstGeom prst="rect">
            <a:avLst/>
          </a:prstGeom>
        </p:spPr>
        <p:txBody>
          <a:bodyPr/>
          <a:lstStyle>
            <a:lvl1pPr>
              <a:defRPr sz="3900"/>
            </a:lvl1pPr>
          </a:lstStyle>
          <a:p>
            <a:pPr/>
            <a:r>
              <a:t>LITERATURE SURVEY(1/4)</a:t>
            </a:r>
          </a:p>
        </p:txBody>
      </p:sp>
      <p:sp>
        <p:nvSpPr>
          <p:cNvPr id="170" name="Date Placeholder 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71" name="Slide Number Placeholder 8"/>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72" name="Table 11"/>
          <p:cNvGraphicFramePr/>
          <p:nvPr/>
        </p:nvGraphicFramePr>
        <p:xfrm>
          <a:off x="380999" y="1209821"/>
          <a:ext cx="8305801" cy="5008097"/>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046400"/>
                <a:gridCol w="1260767"/>
                <a:gridCol w="1615017"/>
                <a:gridCol w="1636817"/>
                <a:gridCol w="1208689"/>
                <a:gridCol w="1538111"/>
              </a:tblGrid>
              <a:tr h="384048">
                <a:tc>
                  <a:txBody>
                    <a:bodyPr/>
                    <a:lstStyle/>
                    <a:p>
                      <a:pPr algn="l">
                        <a:defRPr b="0" sz="1800"/>
                      </a:pPr>
                      <a:r>
                        <a:rPr b="1" sz="800">
                          <a:sym typeface="Arial"/>
                        </a:rPr>
                        <a:t>AUTHOR</a:t>
                      </a:r>
                    </a:p>
                  </a:txBody>
                  <a:tcPr marL="45720" marR="45720" marT="45720" marB="45720" anchor="ctr" anchorCtr="0" horzOverflow="overflow"/>
                </a:tc>
                <a:tc>
                  <a:txBody>
                    <a:bodyPr/>
                    <a:lstStyle/>
                    <a:p>
                      <a:pPr algn="l">
                        <a:defRPr b="0" sz="1800"/>
                      </a:pPr>
                      <a:r>
                        <a:rPr b="1" sz="800">
                          <a:sym typeface="Arial"/>
                        </a:rPr>
                        <a:t>JOURNAL NAME &amp; YEAR</a:t>
                      </a:r>
                    </a:p>
                  </a:txBody>
                  <a:tcPr marL="45720" marR="45720" marT="45720" marB="45720" anchor="ctr" anchorCtr="0" horzOverflow="overflow"/>
                </a:tc>
                <a:tc>
                  <a:txBody>
                    <a:bodyPr/>
                    <a:lstStyle/>
                    <a:p>
                      <a:pPr algn="l">
                        <a:defRPr b="0" sz="1800"/>
                      </a:pPr>
                      <a:r>
                        <a:rPr b="1" sz="800">
                          <a:sym typeface="Arial"/>
                        </a:rPr>
                        <a:t>TITLE</a:t>
                      </a:r>
                    </a:p>
                  </a:txBody>
                  <a:tcPr marL="45720" marR="45720" marT="45720" marB="45720" anchor="ctr" anchorCtr="0" horzOverflow="overflow"/>
                </a:tc>
                <a:tc>
                  <a:txBody>
                    <a:bodyPr/>
                    <a:lstStyle/>
                    <a:p>
                      <a:pPr algn="l">
                        <a:defRPr b="0" sz="1800"/>
                      </a:pPr>
                      <a:r>
                        <a:rPr b="1" sz="800">
                          <a:sym typeface="Arial"/>
                        </a:rPr>
                        <a:t>DESCRIPTION</a:t>
                      </a:r>
                    </a:p>
                  </a:txBody>
                  <a:tcPr marL="45720" marR="45720" marT="45720" marB="45720" anchor="ctr" anchorCtr="0" horzOverflow="overflow"/>
                </a:tc>
                <a:tc>
                  <a:txBody>
                    <a:bodyPr/>
                    <a:lstStyle/>
                    <a:p>
                      <a:pPr algn="l">
                        <a:defRPr b="0" sz="1800"/>
                      </a:pPr>
                      <a:r>
                        <a:rPr b="1" sz="800">
                          <a:sym typeface="Arial"/>
                        </a:rPr>
                        <a:t>PROS</a:t>
                      </a:r>
                    </a:p>
                  </a:txBody>
                  <a:tcPr marL="45720" marR="45720" marT="45720" marB="45720" anchor="ctr" anchorCtr="0" horzOverflow="overflow"/>
                </a:tc>
                <a:tc>
                  <a:txBody>
                    <a:bodyPr/>
                    <a:lstStyle/>
                    <a:p>
                      <a:pPr algn="l">
                        <a:defRPr b="0" sz="1800"/>
                      </a:pPr>
                      <a:r>
                        <a:rPr b="1" sz="800">
                          <a:sym typeface="Arial"/>
                        </a:rPr>
                        <a:t>CONS</a:t>
                      </a:r>
                    </a:p>
                  </a:txBody>
                  <a:tcPr marL="45720" marR="45720" marT="45720" marB="45720" anchor="ctr" anchorCtr="0" horzOverflow="overflow"/>
                </a:tc>
              </a:tr>
              <a:tr h="1541349">
                <a:tc>
                  <a:txBody>
                    <a:bodyPr/>
                    <a:lstStyle/>
                    <a:p>
                      <a:pPr algn="l">
                        <a:defRPr sz="1800"/>
                      </a:pPr>
                      <a:r>
                        <a:rPr sz="700">
                          <a:sym typeface="Arial"/>
                        </a:rPr>
                        <a:t>Liu, F.T., Ting, K.M., Zhou, Z.-H.</a:t>
                      </a:r>
                    </a:p>
                  </a:txBody>
                  <a:tcPr marL="45720" marR="45720" marT="45720" marB="45720" anchor="ctr" anchorCtr="0" horzOverflow="overflow"/>
                </a:tc>
                <a:tc>
                  <a:txBody>
                    <a:bodyPr/>
                    <a:lstStyle/>
                    <a:p>
                      <a:pPr algn="l">
                        <a:defRPr sz="1800"/>
                      </a:pPr>
                      <a:r>
                        <a:rPr sz="700">
                          <a:sym typeface="Arial"/>
                        </a:rPr>
                        <a:t>IEEE ICDM, 2008</a:t>
                      </a:r>
                    </a:p>
                  </a:txBody>
                  <a:tcPr marL="45720" marR="45720" marT="45720" marB="45720" anchor="ctr" anchorCtr="0" horzOverflow="overflow"/>
                </a:tc>
                <a:tc>
                  <a:txBody>
                    <a:bodyPr/>
                    <a:lstStyle/>
                    <a:p>
                      <a:pPr algn="l">
                        <a:defRPr sz="1800"/>
                      </a:pPr>
                      <a:r>
                        <a:rPr sz="700">
                          <a:sym typeface="Arial"/>
                        </a:rPr>
                        <a:t>Isolation Forest</a:t>
                      </a:r>
                    </a:p>
                  </a:txBody>
                  <a:tcPr marL="45720" marR="45720" marT="45720" marB="45720" anchor="ctr" anchorCtr="0" horzOverflow="overflow"/>
                </a:tc>
                <a:tc>
                  <a:txBody>
                    <a:bodyPr/>
                    <a:lstStyle/>
                    <a:p>
                      <a:pPr algn="l">
                        <a:defRPr sz="1800"/>
                      </a:pPr>
                      <a:r>
                        <a:rPr sz="700">
                          <a:sym typeface="Arial"/>
                        </a:rPr>
                        <a:t>Isolates anomalies by random axis-parallel partitioning; anomaly score derived from average isolation depth.</a:t>
                      </a:r>
                    </a:p>
                  </a:txBody>
                  <a:tcPr marL="45720" marR="45720" marT="45720" marB="45720" anchor="ctr" anchorCtr="0" horzOverflow="overflow"/>
                </a:tc>
                <a:tc>
                  <a:txBody>
                    <a:bodyPr/>
                    <a:lstStyle/>
                    <a:p>
                      <a:pPr algn="l">
                        <a:defRPr sz="1800"/>
                      </a:pPr>
                      <a:r>
                        <a:rPr sz="700">
                          <a:sym typeface="Arial"/>
                        </a:rPr>
                        <a:t>Linear time complexity, low memory, needs no distance or density computation - suited to latency-bound inference.</a:t>
                      </a:r>
                    </a:p>
                  </a:txBody>
                  <a:tcPr marL="45720" marR="45720" marT="45720" marB="45720" anchor="ctr" anchorCtr="0" horzOverflow="overflow"/>
                </a:tc>
                <a:tc>
                  <a:txBody>
                    <a:bodyPr/>
                    <a:lstStyle/>
                    <a:p>
                      <a:pPr algn="l">
                        <a:defRPr sz="1800"/>
                      </a:pPr>
                      <a:r>
                        <a:rPr sz="700">
                          <a:sym typeface="Arial"/>
                        </a:rPr>
                        <a:t>Degrades on sparse one-hot categorical spaces; scores saturate for extreme values; no per-entity context.</a:t>
                      </a:r>
                    </a:p>
                  </a:txBody>
                  <a:tcPr marL="45720" marR="45720" marT="45720" marB="45720" anchor="ctr" anchorCtr="0" horzOverflow="overflow"/>
                </a:tc>
              </a:tr>
              <a:tr h="1541349">
                <a:tc>
                  <a:txBody>
                    <a:bodyPr/>
                    <a:lstStyle/>
                    <a:p>
                      <a:pPr algn="l">
                        <a:defRPr sz="1800"/>
                      </a:pPr>
                      <a:r>
                        <a:rPr sz="700">
                          <a:sym typeface="Arial"/>
                        </a:rPr>
                        <a:t>Breunig, M.M., Kriegel, H.-P., Ng, R.T., Sander, J.</a:t>
                      </a:r>
                    </a:p>
                  </a:txBody>
                  <a:tcPr marL="45720" marR="45720" marT="45720" marB="45720" anchor="ctr" anchorCtr="0" horzOverflow="overflow">
                    <a:noFill/>
                  </a:tcPr>
                </a:tc>
                <a:tc>
                  <a:txBody>
                    <a:bodyPr/>
                    <a:lstStyle/>
                    <a:p>
                      <a:pPr algn="l">
                        <a:defRPr sz="1800"/>
                      </a:pPr>
                      <a:r>
                        <a:rPr sz="700">
                          <a:sym typeface="Arial"/>
                        </a:rPr>
                        <a:t>ACM SIGMOD, 2000</a:t>
                      </a:r>
                    </a:p>
                  </a:txBody>
                  <a:tcPr marL="45720" marR="45720" marT="45720" marB="45720" anchor="ctr" anchorCtr="0" horzOverflow="overflow">
                    <a:noFill/>
                  </a:tcPr>
                </a:tc>
                <a:tc>
                  <a:txBody>
                    <a:bodyPr/>
                    <a:lstStyle/>
                    <a:p>
                      <a:pPr algn="l">
                        <a:defRPr sz="1800"/>
                      </a:pPr>
                      <a:r>
                        <a:rPr sz="700">
                          <a:sym typeface="Arial"/>
                        </a:rPr>
                        <a:t>LOF: Identifying Density-Based Local Outliers</a:t>
                      </a:r>
                    </a:p>
                  </a:txBody>
                  <a:tcPr marL="45720" marR="45720" marT="45720" marB="45720" anchor="ctr" anchorCtr="0" horzOverflow="overflow">
                    <a:noFill/>
                  </a:tcPr>
                </a:tc>
                <a:tc>
                  <a:txBody>
                    <a:bodyPr/>
                    <a:lstStyle/>
                    <a:p>
                      <a:pPr algn="l">
                        <a:defRPr sz="1800"/>
                      </a:pPr>
                      <a:r>
                        <a:rPr sz="700">
                          <a:sym typeface="Arial"/>
                        </a:rPr>
                        <a:t>Assigns outlierness by comparing a point's local reachability density with that of its neighbours.</a:t>
                      </a:r>
                    </a:p>
                  </a:txBody>
                  <a:tcPr marL="45720" marR="45720" marT="45720" marB="45720" anchor="ctr" anchorCtr="0" horzOverflow="overflow">
                    <a:noFill/>
                  </a:tcPr>
                </a:tc>
                <a:tc>
                  <a:txBody>
                    <a:bodyPr/>
                    <a:lstStyle/>
                    <a:p>
                      <a:pPr algn="l">
                        <a:defRPr sz="1800"/>
                      </a:pPr>
                      <a:r>
                        <a:rPr sz="700">
                          <a:sym typeface="Arial"/>
                        </a:rPr>
                        <a:t>Detects local outliers that global methods miss; strong recall in our own comparative evaluation.</a:t>
                      </a:r>
                    </a:p>
                  </a:txBody>
                  <a:tcPr marL="45720" marR="45720" marT="45720" marB="45720" anchor="ctr" anchorCtr="0" horzOverflow="overflow">
                    <a:noFill/>
                  </a:tcPr>
                </a:tc>
                <a:tc>
                  <a:txBody>
                    <a:bodyPr/>
                    <a:lstStyle/>
                    <a:p>
                      <a:pPr algn="l">
                        <a:defRPr sz="1800"/>
                      </a:pPr>
                      <a:r>
                        <a:rPr sz="700">
                          <a:sym typeface="Arial"/>
                        </a:rPr>
                        <a:t>Requires a reference set resident in memory; neighbour search cost grows with reference size.</a:t>
                      </a:r>
                    </a:p>
                  </a:txBody>
                  <a:tcPr marL="45720" marR="45720" marT="45720" marB="45720" anchor="ctr" anchorCtr="0" horzOverflow="overflow">
                    <a:noFill/>
                  </a:tcPr>
                </a:tc>
              </a:tr>
              <a:tr h="1541349">
                <a:tc>
                  <a:txBody>
                    <a:bodyPr/>
                    <a:lstStyle/>
                    <a:p>
                      <a:pPr algn="l">
                        <a:defRPr sz="1800"/>
                      </a:pPr>
                      <a:r>
                        <a:rPr sz="700">
                          <a:sym typeface="Arial"/>
                        </a:rPr>
                        <a:t>Scholkopf, B., Platt, J.C., Shawe-Taylor, J., et al.</a:t>
                      </a:r>
                    </a:p>
                  </a:txBody>
                  <a:tcPr marL="45720" marR="45720" marT="45720" marB="45720" anchor="ctr" anchorCtr="0" horzOverflow="overflow"/>
                </a:tc>
                <a:tc>
                  <a:txBody>
                    <a:bodyPr/>
                    <a:lstStyle/>
                    <a:p>
                      <a:pPr algn="l">
                        <a:defRPr sz="1800"/>
                      </a:pPr>
                      <a:r>
                        <a:rPr sz="700">
                          <a:sym typeface="Arial"/>
                        </a:rPr>
                        <a:t>Neural Computation, 2001</a:t>
                      </a:r>
                    </a:p>
                  </a:txBody>
                  <a:tcPr marL="45720" marR="45720" marT="45720" marB="45720" anchor="ctr" anchorCtr="0" horzOverflow="overflow"/>
                </a:tc>
                <a:tc>
                  <a:txBody>
                    <a:bodyPr/>
                    <a:lstStyle/>
                    <a:p>
                      <a:pPr algn="l">
                        <a:defRPr sz="1800"/>
                      </a:pPr>
                      <a:r>
                        <a:rPr sz="700">
                          <a:sym typeface="Arial"/>
                        </a:rPr>
                        <a:t>Estimating the Support of a High-Dimensional Distribution</a:t>
                      </a:r>
                    </a:p>
                  </a:txBody>
                  <a:tcPr marL="45720" marR="45720" marT="45720" marB="45720" anchor="ctr" anchorCtr="0" horzOverflow="overflow"/>
                </a:tc>
                <a:tc>
                  <a:txBody>
                    <a:bodyPr/>
                    <a:lstStyle/>
                    <a:p>
                      <a:pPr algn="l">
                        <a:defRPr sz="1800"/>
                      </a:pPr>
                      <a:r>
                        <a:rPr sz="700">
                          <a:sym typeface="Arial"/>
                        </a:rPr>
                        <a:t>One-Class SVM estimates a support boundary enclosing the normal class in kernel space.</a:t>
                      </a:r>
                    </a:p>
                  </a:txBody>
                  <a:tcPr marL="45720" marR="45720" marT="45720" marB="45720" anchor="ctr" anchorCtr="0" horzOverflow="overflow"/>
                </a:tc>
                <a:tc>
                  <a:txBody>
                    <a:bodyPr/>
                    <a:lstStyle/>
                    <a:p>
                      <a:pPr algn="l">
                        <a:defRPr sz="1800"/>
                      </a:pPr>
                      <a:r>
                        <a:rPr sz="700">
                          <a:sym typeface="Arial"/>
                        </a:rPr>
                        <a:t>Principled support estimation; kernel choice allows non-linear decision boundaries.</a:t>
                      </a:r>
                    </a:p>
                  </a:txBody>
                  <a:tcPr marL="45720" marR="45720" marT="45720" marB="45720" anchor="ctr" anchorCtr="0" horzOverflow="overflow"/>
                </a:tc>
                <a:tc>
                  <a:txBody>
                    <a:bodyPr/>
                    <a:lstStyle/>
                    <a:p>
                      <a:pPr algn="l">
                        <a:defRPr sz="1800"/>
                      </a:pPr>
                      <a:r>
                        <a:rPr sz="700">
                          <a:sym typeface="Arial"/>
                        </a:rPr>
                        <a:t>Training cost is quadratic in sample size; performance sensitive to kernel and nu selection.</a:t>
                      </a:r>
                    </a:p>
                  </a:txBody>
                  <a:tcPr marL="45720" marR="45720" marT="45720" marB="45720" anchor="ctr" anchorCtr="0" horzOverflow="overflow"/>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Footer Placeholder 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77" name="Title 1"/>
          <p:cNvSpPr txBox="1"/>
          <p:nvPr>
            <p:ph type="title"/>
          </p:nvPr>
        </p:nvSpPr>
        <p:spPr>
          <a:xfrm>
            <a:off x="381000" y="380999"/>
            <a:ext cx="8229600" cy="655640"/>
          </a:xfrm>
          <a:prstGeom prst="rect">
            <a:avLst/>
          </a:prstGeom>
        </p:spPr>
        <p:txBody>
          <a:bodyPr/>
          <a:lstStyle>
            <a:lvl1pPr>
              <a:defRPr sz="3900"/>
            </a:lvl1pPr>
          </a:lstStyle>
          <a:p>
            <a:pPr/>
            <a:r>
              <a:t>LITERATURE SURVEY(2/4)</a:t>
            </a:r>
          </a:p>
        </p:txBody>
      </p:sp>
      <p:sp>
        <p:nvSpPr>
          <p:cNvPr id="178" name="Date Placeholder 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79" name="Slide Number Placeholder 8"/>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80" name="Table 11"/>
          <p:cNvGraphicFramePr/>
          <p:nvPr/>
        </p:nvGraphicFramePr>
        <p:xfrm>
          <a:off x="380999" y="1209821"/>
          <a:ext cx="8305801" cy="5008097"/>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046400"/>
                <a:gridCol w="1260767"/>
                <a:gridCol w="1615017"/>
                <a:gridCol w="1636817"/>
                <a:gridCol w="1208689"/>
                <a:gridCol w="1538111"/>
              </a:tblGrid>
              <a:tr h="384048">
                <a:tc>
                  <a:txBody>
                    <a:bodyPr/>
                    <a:lstStyle/>
                    <a:p>
                      <a:pPr algn="l">
                        <a:defRPr b="0" sz="1800"/>
                      </a:pPr>
                      <a:r>
                        <a:rPr b="1" sz="800">
                          <a:sym typeface="Arial"/>
                        </a:rPr>
                        <a:t>AUTHOR</a:t>
                      </a:r>
                    </a:p>
                  </a:txBody>
                  <a:tcPr marL="45720" marR="45720" marT="45720" marB="45720" anchor="ctr" anchorCtr="0" horzOverflow="overflow"/>
                </a:tc>
                <a:tc>
                  <a:txBody>
                    <a:bodyPr/>
                    <a:lstStyle/>
                    <a:p>
                      <a:pPr algn="l">
                        <a:defRPr b="0" sz="1800"/>
                      </a:pPr>
                      <a:r>
                        <a:rPr b="1" sz="800">
                          <a:sym typeface="Arial"/>
                        </a:rPr>
                        <a:t>JOURNAL NAME &amp; YEAR</a:t>
                      </a:r>
                    </a:p>
                  </a:txBody>
                  <a:tcPr marL="45720" marR="45720" marT="45720" marB="45720" anchor="ctr" anchorCtr="0" horzOverflow="overflow"/>
                </a:tc>
                <a:tc>
                  <a:txBody>
                    <a:bodyPr/>
                    <a:lstStyle/>
                    <a:p>
                      <a:pPr algn="l">
                        <a:defRPr b="0" sz="1800"/>
                      </a:pPr>
                      <a:r>
                        <a:rPr b="1" sz="800">
                          <a:sym typeface="Arial"/>
                        </a:rPr>
                        <a:t>TITLE</a:t>
                      </a:r>
                    </a:p>
                  </a:txBody>
                  <a:tcPr marL="45720" marR="45720" marT="45720" marB="45720" anchor="ctr" anchorCtr="0" horzOverflow="overflow"/>
                </a:tc>
                <a:tc>
                  <a:txBody>
                    <a:bodyPr/>
                    <a:lstStyle/>
                    <a:p>
                      <a:pPr algn="l">
                        <a:defRPr b="0" sz="1800"/>
                      </a:pPr>
                      <a:r>
                        <a:rPr b="1" sz="800">
                          <a:sym typeface="Arial"/>
                        </a:rPr>
                        <a:t>DESCRIPTION</a:t>
                      </a:r>
                    </a:p>
                  </a:txBody>
                  <a:tcPr marL="45720" marR="45720" marT="45720" marB="45720" anchor="ctr" anchorCtr="0" horzOverflow="overflow"/>
                </a:tc>
                <a:tc>
                  <a:txBody>
                    <a:bodyPr/>
                    <a:lstStyle/>
                    <a:p>
                      <a:pPr algn="l">
                        <a:defRPr b="0" sz="1800"/>
                      </a:pPr>
                      <a:r>
                        <a:rPr b="1" sz="800">
                          <a:sym typeface="Arial"/>
                        </a:rPr>
                        <a:t>PROS</a:t>
                      </a:r>
                    </a:p>
                  </a:txBody>
                  <a:tcPr marL="45720" marR="45720" marT="45720" marB="45720" anchor="ctr" anchorCtr="0" horzOverflow="overflow"/>
                </a:tc>
                <a:tc>
                  <a:txBody>
                    <a:bodyPr/>
                    <a:lstStyle/>
                    <a:p>
                      <a:pPr algn="l">
                        <a:defRPr b="0" sz="1800"/>
                      </a:pPr>
                      <a:r>
                        <a:rPr b="1" sz="800">
                          <a:sym typeface="Arial"/>
                        </a:rPr>
                        <a:t>CONS</a:t>
                      </a:r>
                    </a:p>
                  </a:txBody>
                  <a:tcPr marL="45720" marR="45720" marT="45720" marB="45720" anchor="ctr" anchorCtr="0" horzOverflow="overflow"/>
                </a:tc>
              </a:tr>
              <a:tr h="1541349">
                <a:tc>
                  <a:txBody>
                    <a:bodyPr/>
                    <a:lstStyle/>
                    <a:p>
                      <a:pPr algn="l">
                        <a:defRPr sz="1800"/>
                      </a:pPr>
                      <a:r>
                        <a:rPr sz="700">
                          <a:sym typeface="Arial"/>
                        </a:rPr>
                        <a:t>Campos, G.O., Zimek, A., Sander, J., et al.</a:t>
                      </a:r>
                    </a:p>
                  </a:txBody>
                  <a:tcPr marL="45720" marR="45720" marT="45720" marB="45720" anchor="ctr" anchorCtr="0" horzOverflow="overflow"/>
                </a:tc>
                <a:tc>
                  <a:txBody>
                    <a:bodyPr/>
                    <a:lstStyle/>
                    <a:p>
                      <a:pPr algn="l">
                        <a:defRPr sz="1800"/>
                      </a:pPr>
                      <a:r>
                        <a:rPr sz="700">
                          <a:sym typeface="Arial"/>
                        </a:rPr>
                        <a:t>Data Mining and Knowledge Discovery, 2016</a:t>
                      </a:r>
                    </a:p>
                  </a:txBody>
                  <a:tcPr marL="45720" marR="45720" marT="45720" marB="45720" anchor="ctr" anchorCtr="0" horzOverflow="overflow"/>
                </a:tc>
                <a:tc>
                  <a:txBody>
                    <a:bodyPr/>
                    <a:lstStyle/>
                    <a:p>
                      <a:pPr algn="l">
                        <a:defRPr sz="1800"/>
                      </a:pPr>
                      <a:r>
                        <a:rPr sz="700">
                          <a:sym typeface="Arial"/>
                        </a:rPr>
                        <a:t>On the Evaluation of Unsupervised Outlier Detection</a:t>
                      </a:r>
                    </a:p>
                  </a:txBody>
                  <a:tcPr marL="45720" marR="45720" marT="45720" marB="45720" anchor="ctr" anchorCtr="0" horzOverflow="overflow"/>
                </a:tc>
                <a:tc>
                  <a:txBody>
                    <a:bodyPr/>
                    <a:lstStyle/>
                    <a:p>
                      <a:pPr algn="l">
                        <a:defRPr sz="1800"/>
                      </a:pPr>
                      <a:r>
                        <a:rPr sz="700">
                          <a:sym typeface="Arial"/>
                        </a:rPr>
                        <a:t>Systematic comparison of unsupervised detectors across measures and benchmark datasets.</a:t>
                      </a:r>
                    </a:p>
                  </a:txBody>
                  <a:tcPr marL="45720" marR="45720" marT="45720" marB="45720" anchor="ctr" anchorCtr="0" horzOverflow="overflow"/>
                </a:tc>
                <a:tc>
                  <a:txBody>
                    <a:bodyPr/>
                    <a:lstStyle/>
                    <a:p>
                      <a:pPr algn="l">
                        <a:defRPr sz="1800"/>
                      </a:pPr>
                      <a:r>
                        <a:rPr sz="700">
                          <a:sym typeface="Arial"/>
                        </a:rPr>
                        <a:t>Establishes evaluation pitfalls and standardised benchmarking practice for unsupervised detection.</a:t>
                      </a:r>
                    </a:p>
                  </a:txBody>
                  <a:tcPr marL="45720" marR="45720" marT="45720" marB="45720" anchor="ctr" anchorCtr="0" horzOverflow="overflow"/>
                </a:tc>
                <a:tc>
                  <a:txBody>
                    <a:bodyPr/>
                    <a:lstStyle/>
                    <a:p>
                      <a:pPr algn="l">
                        <a:defRPr sz="1800"/>
                      </a:pPr>
                      <a:r>
                        <a:rPr sz="700">
                          <a:sym typeface="Arial"/>
                        </a:rPr>
                        <a:t>Does not address deployment constraints such as inference latency or false-positive budgets.</a:t>
                      </a:r>
                    </a:p>
                  </a:txBody>
                  <a:tcPr marL="45720" marR="45720" marT="45720" marB="45720" anchor="ctr" anchorCtr="0" horzOverflow="overflow"/>
                </a:tc>
              </a:tr>
              <a:tr h="1541349">
                <a:tc>
                  <a:txBody>
                    <a:bodyPr/>
                    <a:lstStyle/>
                    <a:p>
                      <a:pPr algn="l">
                        <a:defRPr sz="1800"/>
                      </a:pPr>
                      <a:r>
                        <a:rPr sz="700">
                          <a:sym typeface="Arial"/>
                        </a:rPr>
                        <a:t>Abdallah, A., Maarof, M.A., Zainal, A.</a:t>
                      </a:r>
                    </a:p>
                  </a:txBody>
                  <a:tcPr marL="45720" marR="45720" marT="45720" marB="45720" anchor="ctr" anchorCtr="0" horzOverflow="overflow">
                    <a:noFill/>
                  </a:tcPr>
                </a:tc>
                <a:tc>
                  <a:txBody>
                    <a:bodyPr/>
                    <a:lstStyle/>
                    <a:p>
                      <a:pPr algn="l">
                        <a:defRPr sz="1800"/>
                      </a:pPr>
                      <a:r>
                        <a:rPr sz="700">
                          <a:sym typeface="Arial"/>
                        </a:rPr>
                        <a:t>Journal of Network and Computer Applications, 2016</a:t>
                      </a:r>
                    </a:p>
                  </a:txBody>
                  <a:tcPr marL="45720" marR="45720" marT="45720" marB="45720" anchor="ctr" anchorCtr="0" horzOverflow="overflow">
                    <a:noFill/>
                  </a:tcPr>
                </a:tc>
                <a:tc>
                  <a:txBody>
                    <a:bodyPr/>
                    <a:lstStyle/>
                    <a:p>
                      <a:pPr algn="l">
                        <a:defRPr sz="1800"/>
                      </a:pPr>
                      <a:r>
                        <a:rPr sz="700">
                          <a:sym typeface="Arial"/>
                        </a:rPr>
                        <a:t>Fraud Detection System: A Survey</a:t>
                      </a:r>
                    </a:p>
                  </a:txBody>
                  <a:tcPr marL="45720" marR="45720" marT="45720" marB="45720" anchor="ctr" anchorCtr="0" horzOverflow="overflow">
                    <a:noFill/>
                  </a:tcPr>
                </a:tc>
                <a:tc>
                  <a:txBody>
                    <a:bodyPr/>
                    <a:lstStyle/>
                    <a:p>
                      <a:pPr algn="l">
                        <a:defRPr sz="1800"/>
                      </a:pPr>
                      <a:r>
                        <a:rPr sz="700">
                          <a:sym typeface="Arial"/>
                        </a:rPr>
                        <a:t>Surveys fraud detection systems across credit card, telecommunication and insurance domains.</a:t>
                      </a:r>
                    </a:p>
                  </a:txBody>
                  <a:tcPr marL="45720" marR="45720" marT="45720" marB="45720" anchor="ctr" anchorCtr="0" horzOverflow="overflow">
                    <a:noFill/>
                  </a:tcPr>
                </a:tc>
                <a:tc>
                  <a:txBody>
                    <a:bodyPr/>
                    <a:lstStyle/>
                    <a:p>
                      <a:pPr algn="l">
                        <a:defRPr sz="1800"/>
                      </a:pPr>
                      <a:r>
                        <a:rPr sz="700">
                          <a:sym typeface="Arial"/>
                        </a:rPr>
                        <a:t>Broad taxonomy of fraud types, detection techniques and evaluation criteria.</a:t>
                      </a:r>
                    </a:p>
                  </a:txBody>
                  <a:tcPr marL="45720" marR="45720" marT="45720" marB="45720" anchor="ctr" anchorCtr="0" horzOverflow="overflow">
                    <a:noFill/>
                  </a:tcPr>
                </a:tc>
                <a:tc>
                  <a:txBody>
                    <a:bodyPr/>
                    <a:lstStyle/>
                    <a:p>
                      <a:pPr algn="l">
                        <a:defRPr sz="1800"/>
                      </a:pPr>
                      <a:r>
                        <a:rPr sz="700">
                          <a:sym typeface="Arial"/>
                        </a:rPr>
                        <a:t>Predates modern real-time rails; no treatment of transactional integration or rollback semantics.</a:t>
                      </a:r>
                    </a:p>
                  </a:txBody>
                  <a:tcPr marL="45720" marR="45720" marT="45720" marB="45720" anchor="ctr" anchorCtr="0" horzOverflow="overflow">
                    <a:noFill/>
                  </a:tcPr>
                </a:tc>
              </a:tr>
              <a:tr h="1541349">
                <a:tc>
                  <a:txBody>
                    <a:bodyPr/>
                    <a:lstStyle/>
                    <a:p>
                      <a:pPr algn="l">
                        <a:defRPr sz="1800"/>
                      </a:pPr>
                      <a:r>
                        <a:rPr sz="700">
                          <a:sym typeface="Arial"/>
                        </a:rPr>
                        <a:t>Adewumi, A.O., Akinyelu, A.A.</a:t>
                      </a:r>
                    </a:p>
                  </a:txBody>
                  <a:tcPr marL="45720" marR="45720" marT="45720" marB="45720" anchor="ctr" anchorCtr="0" horzOverflow="overflow"/>
                </a:tc>
                <a:tc>
                  <a:txBody>
                    <a:bodyPr/>
                    <a:lstStyle/>
                    <a:p>
                      <a:pPr algn="l">
                        <a:defRPr sz="1800"/>
                      </a:pPr>
                      <a:r>
                        <a:rPr sz="700">
                          <a:sym typeface="Arial"/>
                        </a:rPr>
                        <a:t>Int. J. of System Assurance Engineering and Management, 2017</a:t>
                      </a:r>
                    </a:p>
                  </a:txBody>
                  <a:tcPr marL="45720" marR="45720" marT="45720" marB="45720" anchor="ctr" anchorCtr="0" horzOverflow="overflow"/>
                </a:tc>
                <a:tc>
                  <a:txBody>
                    <a:bodyPr/>
                    <a:lstStyle/>
                    <a:p>
                      <a:pPr algn="l">
                        <a:defRPr sz="1800"/>
                      </a:pPr>
                      <a:r>
                        <a:rPr sz="700">
                          <a:sym typeface="Arial"/>
                        </a:rPr>
                        <a:t>A Survey of ML and Nature-Inspired Credit Card Fraud Detection Techniques</a:t>
                      </a:r>
                    </a:p>
                  </a:txBody>
                  <a:tcPr marL="45720" marR="45720" marT="45720" marB="45720" anchor="ctr" anchorCtr="0" horzOverflow="overflow"/>
                </a:tc>
                <a:tc>
                  <a:txBody>
                    <a:bodyPr/>
                    <a:lstStyle/>
                    <a:p>
                      <a:pPr algn="l">
                        <a:defRPr sz="1800"/>
                      </a:pPr>
                      <a:r>
                        <a:rPr sz="700">
                          <a:sym typeface="Arial"/>
                        </a:rPr>
                        <a:t>Reviews machine-learning and nature-inspired algorithms applied to card fraud detection.</a:t>
                      </a:r>
                    </a:p>
                  </a:txBody>
                  <a:tcPr marL="45720" marR="45720" marT="45720" marB="45720" anchor="ctr" anchorCtr="0" horzOverflow="overflow"/>
                </a:tc>
                <a:tc>
                  <a:txBody>
                    <a:bodyPr/>
                    <a:lstStyle/>
                    <a:p>
                      <a:pPr algn="l">
                        <a:defRPr sz="1800"/>
                      </a:pPr>
                      <a:r>
                        <a:rPr sz="700">
                          <a:sym typeface="Arial"/>
                        </a:rPr>
                        <a:t>Comparative view of algorithm families with reported accuracy ranges.</a:t>
                      </a:r>
                    </a:p>
                  </a:txBody>
                  <a:tcPr marL="45720" marR="45720" marT="45720" marB="45720" anchor="ctr" anchorCtr="0" horzOverflow="overflow"/>
                </a:tc>
                <a:tc>
                  <a:txBody>
                    <a:bodyPr/>
                    <a:lstStyle/>
                    <a:p>
                      <a:pPr algn="l">
                        <a:defRPr sz="1800"/>
                      </a:pPr>
                      <a:r>
                        <a:rPr sz="700">
                          <a:sym typeface="Arial"/>
                        </a:rPr>
                        <a:t>Card-centric; does not cover UPI or any sub-second real-time payment rail.</a:t>
                      </a:r>
                    </a:p>
                  </a:txBody>
                  <a:tcPr marL="45720" marR="45720" marT="45720" marB="45720" anchor="ctr" anchorCtr="0" horzOverflow="overflow"/>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Footer Placeholder 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85" name="Title 1"/>
          <p:cNvSpPr txBox="1"/>
          <p:nvPr>
            <p:ph type="title"/>
          </p:nvPr>
        </p:nvSpPr>
        <p:spPr>
          <a:xfrm>
            <a:off x="381000" y="380999"/>
            <a:ext cx="8229600" cy="655640"/>
          </a:xfrm>
          <a:prstGeom prst="rect">
            <a:avLst/>
          </a:prstGeom>
        </p:spPr>
        <p:txBody>
          <a:bodyPr/>
          <a:lstStyle>
            <a:lvl1pPr>
              <a:defRPr sz="3900"/>
            </a:lvl1pPr>
          </a:lstStyle>
          <a:p>
            <a:pPr/>
            <a:r>
              <a:t>LITERATURE SURVEY(3/4)</a:t>
            </a:r>
          </a:p>
        </p:txBody>
      </p:sp>
      <p:sp>
        <p:nvSpPr>
          <p:cNvPr id="186" name="Date Placeholder 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87" name="Slide Number Placeholder 8"/>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88" name="Table 11"/>
          <p:cNvGraphicFramePr/>
          <p:nvPr/>
        </p:nvGraphicFramePr>
        <p:xfrm>
          <a:off x="380999" y="1209821"/>
          <a:ext cx="8305801" cy="5008097"/>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046400"/>
                <a:gridCol w="1260767"/>
                <a:gridCol w="1615017"/>
                <a:gridCol w="1636817"/>
                <a:gridCol w="1208689"/>
                <a:gridCol w="1538111"/>
              </a:tblGrid>
              <a:tr h="384048">
                <a:tc>
                  <a:txBody>
                    <a:bodyPr/>
                    <a:lstStyle/>
                    <a:p>
                      <a:pPr algn="l">
                        <a:defRPr b="0" sz="1800"/>
                      </a:pPr>
                      <a:r>
                        <a:rPr b="1" sz="800">
                          <a:sym typeface="Arial"/>
                        </a:rPr>
                        <a:t>AUTHOR</a:t>
                      </a:r>
                    </a:p>
                  </a:txBody>
                  <a:tcPr marL="45720" marR="45720" marT="45720" marB="45720" anchor="ctr" anchorCtr="0" horzOverflow="overflow"/>
                </a:tc>
                <a:tc>
                  <a:txBody>
                    <a:bodyPr/>
                    <a:lstStyle/>
                    <a:p>
                      <a:pPr algn="l">
                        <a:defRPr b="0" sz="1800"/>
                      </a:pPr>
                      <a:r>
                        <a:rPr b="1" sz="800">
                          <a:sym typeface="Arial"/>
                        </a:rPr>
                        <a:t>JOURNAL NAME &amp; YEAR</a:t>
                      </a:r>
                    </a:p>
                  </a:txBody>
                  <a:tcPr marL="45720" marR="45720" marT="45720" marB="45720" anchor="ctr" anchorCtr="0" horzOverflow="overflow"/>
                </a:tc>
                <a:tc>
                  <a:txBody>
                    <a:bodyPr/>
                    <a:lstStyle/>
                    <a:p>
                      <a:pPr algn="l">
                        <a:defRPr b="0" sz="1800"/>
                      </a:pPr>
                      <a:r>
                        <a:rPr b="1" sz="800">
                          <a:sym typeface="Arial"/>
                        </a:rPr>
                        <a:t>TITLE</a:t>
                      </a:r>
                    </a:p>
                  </a:txBody>
                  <a:tcPr marL="45720" marR="45720" marT="45720" marB="45720" anchor="ctr" anchorCtr="0" horzOverflow="overflow"/>
                </a:tc>
                <a:tc>
                  <a:txBody>
                    <a:bodyPr/>
                    <a:lstStyle/>
                    <a:p>
                      <a:pPr algn="l">
                        <a:defRPr b="0" sz="1800"/>
                      </a:pPr>
                      <a:r>
                        <a:rPr b="1" sz="800">
                          <a:sym typeface="Arial"/>
                        </a:rPr>
                        <a:t>DESCRIPTION</a:t>
                      </a:r>
                    </a:p>
                  </a:txBody>
                  <a:tcPr marL="45720" marR="45720" marT="45720" marB="45720" anchor="ctr" anchorCtr="0" horzOverflow="overflow"/>
                </a:tc>
                <a:tc>
                  <a:txBody>
                    <a:bodyPr/>
                    <a:lstStyle/>
                    <a:p>
                      <a:pPr algn="l">
                        <a:defRPr b="0" sz="1800"/>
                      </a:pPr>
                      <a:r>
                        <a:rPr b="1" sz="800">
                          <a:sym typeface="Arial"/>
                        </a:rPr>
                        <a:t>PROS</a:t>
                      </a:r>
                    </a:p>
                  </a:txBody>
                  <a:tcPr marL="45720" marR="45720" marT="45720" marB="45720" anchor="ctr" anchorCtr="0" horzOverflow="overflow"/>
                </a:tc>
                <a:tc>
                  <a:txBody>
                    <a:bodyPr/>
                    <a:lstStyle/>
                    <a:p>
                      <a:pPr algn="l">
                        <a:defRPr b="0" sz="1800"/>
                      </a:pPr>
                      <a:r>
                        <a:rPr b="1" sz="800">
                          <a:sym typeface="Arial"/>
                        </a:rPr>
                        <a:t>CONS</a:t>
                      </a:r>
                    </a:p>
                  </a:txBody>
                  <a:tcPr marL="45720" marR="45720" marT="45720" marB="45720" anchor="ctr" anchorCtr="0" horzOverflow="overflow"/>
                </a:tc>
              </a:tr>
              <a:tr h="1541349">
                <a:tc>
                  <a:txBody>
                    <a:bodyPr/>
                    <a:lstStyle/>
                    <a:p>
                      <a:pPr algn="l">
                        <a:defRPr sz="1800"/>
                      </a:pPr>
                      <a:r>
                        <a:rPr sz="700">
                          <a:sym typeface="Arial"/>
                        </a:rPr>
                        <a:t>Thayanidhi, V., Srivarshan, M., Shalini, M.</a:t>
                      </a:r>
                    </a:p>
                  </a:txBody>
                  <a:tcPr marL="45720" marR="45720" marT="45720" marB="45720" anchor="ctr" anchorCtr="0" horzOverflow="overflow"/>
                </a:tc>
                <a:tc>
                  <a:txBody>
                    <a:bodyPr/>
                    <a:lstStyle/>
                    <a:p>
                      <a:pPr algn="l">
                        <a:defRPr sz="1800"/>
                      </a:pPr>
                      <a:r>
                        <a:rPr sz="700">
                          <a:sym typeface="Arial"/>
                        </a:rPr>
                        <a:t>Springer, ICSMDI 2025 (pub. 2026)</a:t>
                      </a:r>
                    </a:p>
                  </a:txBody>
                  <a:tcPr marL="45720" marR="45720" marT="45720" marB="45720" anchor="ctr" anchorCtr="0" horzOverflow="overflow"/>
                </a:tc>
                <a:tc>
                  <a:txBody>
                    <a:bodyPr/>
                    <a:lstStyle/>
                    <a:p>
                      <a:pPr algn="l">
                        <a:defRPr sz="1800"/>
                      </a:pPr>
                      <a:r>
                        <a:rPr sz="700">
                          <a:sym typeface="Arial"/>
                        </a:rPr>
                        <a:t>UPI Fraud Detection Using Machine Learning</a:t>
                      </a:r>
                    </a:p>
                  </a:txBody>
                  <a:tcPr marL="45720" marR="45720" marT="45720" marB="45720" anchor="ctr" anchorCtr="0" horzOverflow="overflow"/>
                </a:tc>
                <a:tc>
                  <a:txBody>
                    <a:bodyPr/>
                    <a:lstStyle/>
                    <a:p>
                      <a:pPr algn="l">
                        <a:defRPr sz="1800"/>
                      </a:pPr>
                      <a:r>
                        <a:rPr sz="700">
                          <a:sym typeface="Arial"/>
                        </a:rPr>
                        <a:t>Analyses UPI transaction patterns and user behaviour using decision trees, random forests and neural networks.</a:t>
                      </a:r>
                    </a:p>
                  </a:txBody>
                  <a:tcPr marL="45720" marR="45720" marT="45720" marB="45720" anchor="ctr" anchorCtr="0" horzOverflow="overflow"/>
                </a:tc>
                <a:tc>
                  <a:txBody>
                    <a:bodyPr/>
                    <a:lstStyle/>
                    <a:p>
                      <a:pPr algn="l">
                        <a:defRPr sz="1800"/>
                      </a:pPr>
                      <a:r>
                        <a:rPr sz="700">
                          <a:sym typeface="Arial"/>
                        </a:rPr>
                        <a:t>Directly targets the UPI rail; reports real-time analysis of behavioural patterns.</a:t>
                      </a:r>
                    </a:p>
                  </a:txBody>
                  <a:tcPr marL="45720" marR="45720" marT="45720" marB="45720" anchor="ctr" anchorCtr="0" horzOverflow="overflow"/>
                </a:tc>
                <a:tc>
                  <a:txBody>
                    <a:bodyPr/>
                    <a:lstStyle/>
                    <a:p>
                      <a:pPr algn="l">
                        <a:defRPr sz="1800"/>
                      </a:pPr>
                      <a:r>
                        <a:rPr sz="700">
                          <a:sym typeface="Arial"/>
                        </a:rPr>
                        <a:t>Supervised approach requiring labelled fraud data; detection is post-transaction rather than inline.</a:t>
                      </a:r>
                    </a:p>
                  </a:txBody>
                  <a:tcPr marL="45720" marR="45720" marT="45720" marB="45720" anchor="ctr" anchorCtr="0" horzOverflow="overflow"/>
                </a:tc>
              </a:tr>
              <a:tr h="1541349">
                <a:tc>
                  <a:txBody>
                    <a:bodyPr/>
                    <a:lstStyle/>
                    <a:p>
                      <a:pPr algn="l">
                        <a:defRPr sz="1800"/>
                      </a:pPr>
                      <a:r>
                        <a:rPr sz="700">
                          <a:sym typeface="Arial"/>
                        </a:rPr>
                        <a:t>Jani, R., Kumar, M.R., Gumasthi, N., Singla, S., Kailasam, T.</a:t>
                      </a:r>
                    </a:p>
                  </a:txBody>
                  <a:tcPr marL="45720" marR="45720" marT="45720" marB="45720" anchor="ctr" anchorCtr="0" horzOverflow="overflow">
                    <a:noFill/>
                  </a:tcPr>
                </a:tc>
                <a:tc>
                  <a:txBody>
                    <a:bodyPr/>
                    <a:lstStyle/>
                    <a:p>
                      <a:pPr algn="l">
                        <a:defRPr sz="1800"/>
                      </a:pPr>
                      <a:r>
                        <a:rPr sz="700">
                          <a:sym typeface="Arial"/>
                        </a:rPr>
                        <a:t>Springer, AIAI 2025</a:t>
                      </a:r>
                    </a:p>
                  </a:txBody>
                  <a:tcPr marL="45720" marR="45720" marT="45720" marB="45720" anchor="ctr" anchorCtr="0" horzOverflow="overflow">
                    <a:noFill/>
                  </a:tcPr>
                </a:tc>
                <a:tc>
                  <a:txBody>
                    <a:bodyPr/>
                    <a:lstStyle/>
                    <a:p>
                      <a:pPr algn="l">
                        <a:defRPr sz="1800"/>
                      </a:pPr>
                      <a:r>
                        <a:rPr sz="700">
                          <a:sym typeface="Arial"/>
                        </a:rPr>
                        <a:t>Reinforcement Learning for UPI Fraud Detection: Actor Critic Optimization Approach</a:t>
                      </a:r>
                    </a:p>
                  </a:txBody>
                  <a:tcPr marL="45720" marR="45720" marT="45720" marB="45720" anchor="ctr" anchorCtr="0" horzOverflow="overflow">
                    <a:noFill/>
                  </a:tcPr>
                </a:tc>
                <a:tc>
                  <a:txBody>
                    <a:bodyPr/>
                    <a:lstStyle/>
                    <a:p>
                      <a:pPr algn="l">
                        <a:defRPr sz="1800"/>
                      </a:pPr>
                      <a:r>
                        <a:rPr sz="700">
                          <a:sym typeface="Arial"/>
                        </a:rPr>
                        <a:t>Applies actor-critic reinforcement learning to adapt the fraud decision policy over time.</a:t>
                      </a:r>
                    </a:p>
                  </a:txBody>
                  <a:tcPr marL="45720" marR="45720" marT="45720" marB="45720" anchor="ctr" anchorCtr="0" horzOverflow="overflow">
                    <a:noFill/>
                  </a:tcPr>
                </a:tc>
                <a:tc>
                  <a:txBody>
                    <a:bodyPr/>
                    <a:lstStyle/>
                    <a:p>
                      <a:pPr algn="l">
                        <a:defRPr sz="1800"/>
                      </a:pPr>
                      <a:r>
                        <a:rPr sz="700">
                          <a:sym typeface="Arial"/>
                        </a:rPr>
                        <a:t>Adapts to evolving fraud strategies without full retraining.</a:t>
                      </a:r>
                    </a:p>
                  </a:txBody>
                  <a:tcPr marL="45720" marR="45720" marT="45720" marB="45720" anchor="ctr" anchorCtr="0" horzOverflow="overflow">
                    <a:noFill/>
                  </a:tcPr>
                </a:tc>
                <a:tc>
                  <a:txBody>
                    <a:bodyPr/>
                    <a:lstStyle/>
                    <a:p>
                      <a:pPr algn="l">
                        <a:defRPr sz="1800"/>
                      </a:pPr>
                      <a:r>
                        <a:rPr sz="700">
                          <a:sym typeface="Arial"/>
                        </a:rPr>
                        <a:t>Training complexity and reward-design sensitivity; no ledger-level enforcement mechanism.</a:t>
                      </a:r>
                    </a:p>
                  </a:txBody>
                  <a:tcPr marL="45720" marR="45720" marT="45720" marB="45720" anchor="ctr" anchorCtr="0" horzOverflow="overflow">
                    <a:noFill/>
                  </a:tcPr>
                </a:tc>
              </a:tr>
              <a:tr h="1541349">
                <a:tc>
                  <a:txBody>
                    <a:bodyPr/>
                    <a:lstStyle/>
                    <a:p>
                      <a:pPr algn="l">
                        <a:defRPr sz="1800"/>
                      </a:pPr>
                      <a:r>
                        <a:rPr sz="700">
                          <a:sym typeface="Arial"/>
                        </a:rPr>
                        <a:t>[Verify authors on IEEE Xplore]</a:t>
                      </a:r>
                    </a:p>
                  </a:txBody>
                  <a:tcPr marL="45720" marR="45720" marT="45720" marB="45720" anchor="ctr" anchorCtr="0" horzOverflow="overflow"/>
                </a:tc>
                <a:tc>
                  <a:txBody>
                    <a:bodyPr/>
                    <a:lstStyle/>
                    <a:p>
                      <a:pPr algn="l">
                        <a:defRPr sz="1800"/>
                      </a:pPr>
                      <a:r>
                        <a:rPr sz="700">
                          <a:sym typeface="Arial"/>
                        </a:rPr>
                        <a:t>IEEE Conference Publication, 2025</a:t>
                      </a:r>
                    </a:p>
                  </a:txBody>
                  <a:tcPr marL="45720" marR="45720" marT="45720" marB="45720" anchor="ctr" anchorCtr="0" horzOverflow="overflow"/>
                </a:tc>
                <a:tc>
                  <a:txBody>
                    <a:bodyPr/>
                    <a:lstStyle/>
                    <a:p>
                      <a:pPr algn="l">
                        <a:defRPr sz="1800"/>
                      </a:pPr>
                      <a:r>
                        <a:rPr sz="700">
                          <a:sym typeface="Arial"/>
                        </a:rPr>
                        <a:t>Enhancing Digital Payment Security: UPI Fraud Detection with Advanced Machine Learning Algorithms</a:t>
                      </a:r>
                    </a:p>
                  </a:txBody>
                  <a:tcPr marL="45720" marR="45720" marT="45720" marB="45720" anchor="ctr" anchorCtr="0" horzOverflow="overflow"/>
                </a:tc>
                <a:tc>
                  <a:txBody>
                    <a:bodyPr/>
                    <a:lstStyle/>
                    <a:p>
                      <a:pPr algn="l">
                        <a:defRPr sz="1800"/>
                      </a:pPr>
                      <a:r>
                        <a:rPr sz="700">
                          <a:sym typeface="Arial"/>
                        </a:rPr>
                        <a:t>Hybrid Deep Q-Network with XGBoost combining adaptive learning and gradient-boosted tabular classification.</a:t>
                      </a:r>
                    </a:p>
                  </a:txBody>
                  <a:tcPr marL="45720" marR="45720" marT="45720" marB="45720" anchor="ctr" anchorCtr="0" horzOverflow="overflow"/>
                </a:tc>
                <a:tc>
                  <a:txBody>
                    <a:bodyPr/>
                    <a:lstStyle/>
                    <a:p>
                      <a:pPr algn="l">
                        <a:defRPr sz="1800"/>
                      </a:pPr>
                      <a:r>
                        <a:rPr sz="700">
                          <a:sym typeface="Arial"/>
                        </a:rPr>
                        <a:t>Strong reported accuracy on tabular UPI data; adaptive to drift.</a:t>
                      </a:r>
                    </a:p>
                  </a:txBody>
                  <a:tcPr marL="45720" marR="45720" marT="45720" marB="45720" anchor="ctr" anchorCtr="0" horzOverflow="overflow"/>
                </a:tc>
                <a:tc>
                  <a:txBody>
                    <a:bodyPr/>
                    <a:lstStyle/>
                    <a:p>
                      <a:pPr algn="l">
                        <a:defRPr sz="1800"/>
                      </a:pPr>
                      <a:r>
                        <a:rPr sz="700">
                          <a:sym typeface="Arial"/>
                        </a:rPr>
                        <a:t>Advisory scoring only - not integrated into the transaction boundary; no rollback or account-lock mechanism.</a:t>
                      </a:r>
                    </a:p>
                  </a:txBody>
                  <a:tcPr marL="45720" marR="45720" marT="45720" marB="45720" anchor="ctr" anchorCtr="0" horzOverflow="overflow"/>
                </a:tc>
              </a:tr>
            </a:tbl>
          </a:graphicData>
        </a:graphic>
      </p:graphicFrame>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Footer Placeholder 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193" name="Title 1"/>
          <p:cNvSpPr txBox="1"/>
          <p:nvPr>
            <p:ph type="title"/>
          </p:nvPr>
        </p:nvSpPr>
        <p:spPr>
          <a:xfrm>
            <a:off x="381000" y="380999"/>
            <a:ext cx="8229600" cy="655640"/>
          </a:xfrm>
          <a:prstGeom prst="rect">
            <a:avLst/>
          </a:prstGeom>
        </p:spPr>
        <p:txBody>
          <a:bodyPr/>
          <a:lstStyle>
            <a:lvl1pPr>
              <a:defRPr sz="3900"/>
            </a:lvl1pPr>
          </a:lstStyle>
          <a:p>
            <a:pPr/>
            <a:r>
              <a:t>LITERATURE SURVEY(4/4)</a:t>
            </a:r>
          </a:p>
        </p:txBody>
      </p:sp>
      <p:sp>
        <p:nvSpPr>
          <p:cNvPr id="194" name="Date Placeholder 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195" name="Slide Number Placeholder 8"/>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96" name="Table 11"/>
          <p:cNvGraphicFramePr/>
          <p:nvPr/>
        </p:nvGraphicFramePr>
        <p:xfrm>
          <a:off x="380999" y="1209821"/>
          <a:ext cx="8305801" cy="5008097"/>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046400"/>
                <a:gridCol w="1260767"/>
                <a:gridCol w="1615017"/>
                <a:gridCol w="1636817"/>
                <a:gridCol w="1208689"/>
                <a:gridCol w="1538111"/>
              </a:tblGrid>
              <a:tr h="384048">
                <a:tc>
                  <a:txBody>
                    <a:bodyPr/>
                    <a:lstStyle/>
                    <a:p>
                      <a:pPr algn="l">
                        <a:defRPr b="0" sz="1800"/>
                      </a:pPr>
                      <a:r>
                        <a:rPr b="1" sz="800">
                          <a:sym typeface="Arial"/>
                        </a:rPr>
                        <a:t>AUTHOR</a:t>
                      </a:r>
                    </a:p>
                  </a:txBody>
                  <a:tcPr marL="45720" marR="45720" marT="45720" marB="45720" anchor="ctr" anchorCtr="0" horzOverflow="overflow"/>
                </a:tc>
                <a:tc>
                  <a:txBody>
                    <a:bodyPr/>
                    <a:lstStyle/>
                    <a:p>
                      <a:pPr algn="l">
                        <a:defRPr b="0" sz="1800"/>
                      </a:pPr>
                      <a:r>
                        <a:rPr b="1" sz="800">
                          <a:sym typeface="Arial"/>
                        </a:rPr>
                        <a:t>JOURNAL NAME &amp; YEAR</a:t>
                      </a:r>
                    </a:p>
                  </a:txBody>
                  <a:tcPr marL="45720" marR="45720" marT="45720" marB="45720" anchor="ctr" anchorCtr="0" horzOverflow="overflow"/>
                </a:tc>
                <a:tc>
                  <a:txBody>
                    <a:bodyPr/>
                    <a:lstStyle/>
                    <a:p>
                      <a:pPr algn="l">
                        <a:defRPr b="0" sz="1800"/>
                      </a:pPr>
                      <a:r>
                        <a:rPr b="1" sz="800">
                          <a:sym typeface="Arial"/>
                        </a:rPr>
                        <a:t>TITLE</a:t>
                      </a:r>
                    </a:p>
                  </a:txBody>
                  <a:tcPr marL="45720" marR="45720" marT="45720" marB="45720" anchor="ctr" anchorCtr="0" horzOverflow="overflow"/>
                </a:tc>
                <a:tc>
                  <a:txBody>
                    <a:bodyPr/>
                    <a:lstStyle/>
                    <a:p>
                      <a:pPr algn="l">
                        <a:defRPr b="0" sz="1800"/>
                      </a:pPr>
                      <a:r>
                        <a:rPr b="1" sz="800">
                          <a:sym typeface="Arial"/>
                        </a:rPr>
                        <a:t>DESCRIPTION</a:t>
                      </a:r>
                    </a:p>
                  </a:txBody>
                  <a:tcPr marL="45720" marR="45720" marT="45720" marB="45720" anchor="ctr" anchorCtr="0" horzOverflow="overflow"/>
                </a:tc>
                <a:tc>
                  <a:txBody>
                    <a:bodyPr/>
                    <a:lstStyle/>
                    <a:p>
                      <a:pPr algn="l">
                        <a:defRPr b="0" sz="1800"/>
                      </a:pPr>
                      <a:r>
                        <a:rPr b="1" sz="800">
                          <a:sym typeface="Arial"/>
                        </a:rPr>
                        <a:t>PROS</a:t>
                      </a:r>
                    </a:p>
                  </a:txBody>
                  <a:tcPr marL="45720" marR="45720" marT="45720" marB="45720" anchor="ctr" anchorCtr="0" horzOverflow="overflow"/>
                </a:tc>
                <a:tc>
                  <a:txBody>
                    <a:bodyPr/>
                    <a:lstStyle/>
                    <a:p>
                      <a:pPr algn="l">
                        <a:defRPr b="0" sz="1800"/>
                      </a:pPr>
                      <a:r>
                        <a:rPr b="1" sz="800">
                          <a:sym typeface="Arial"/>
                        </a:rPr>
                        <a:t>CONS</a:t>
                      </a:r>
                    </a:p>
                  </a:txBody>
                  <a:tcPr marL="45720" marR="45720" marT="45720" marB="45720" anchor="ctr" anchorCtr="0" horzOverflow="overflow"/>
                </a:tc>
              </a:tr>
              <a:tr h="1541349">
                <a:tc>
                  <a:txBody>
                    <a:bodyPr/>
                    <a:lstStyle/>
                    <a:p>
                      <a:pPr algn="l">
                        <a:defRPr sz="1800"/>
                      </a:pPr>
                      <a:r>
                        <a:rPr sz="700">
                          <a:sym typeface="Arial"/>
                        </a:rPr>
                        <a:t>[Verify authors on IEEE Xplore]</a:t>
                      </a:r>
                    </a:p>
                  </a:txBody>
                  <a:tcPr marL="45720" marR="45720" marT="45720" marB="45720" anchor="ctr" anchorCtr="0" horzOverflow="overflow"/>
                </a:tc>
                <a:tc>
                  <a:txBody>
                    <a:bodyPr/>
                    <a:lstStyle/>
                    <a:p>
                      <a:pPr algn="l">
                        <a:defRPr sz="1800"/>
                      </a:pPr>
                      <a:r>
                        <a:rPr sz="700">
                          <a:sym typeface="Arial"/>
                        </a:rPr>
                        <a:t>IEEE Conference Publication, 2025</a:t>
                      </a:r>
                    </a:p>
                  </a:txBody>
                  <a:tcPr marL="45720" marR="45720" marT="45720" marB="45720" anchor="ctr" anchorCtr="0" horzOverflow="overflow"/>
                </a:tc>
                <a:tc>
                  <a:txBody>
                    <a:bodyPr/>
                    <a:lstStyle/>
                    <a:p>
                      <a:pPr algn="l">
                        <a:defRPr sz="1800"/>
                      </a:pPr>
                      <a:r>
                        <a:rPr sz="700">
                          <a:sym typeface="Arial"/>
                        </a:rPr>
                        <a:t>PaySafe AI: Intelligent Fraud Detection for UPI Transactions using Machine Learning</a:t>
                      </a:r>
                    </a:p>
                  </a:txBody>
                  <a:tcPr marL="45720" marR="45720" marT="45720" marB="45720" anchor="ctr" anchorCtr="0" horzOverflow="overflow"/>
                </a:tc>
                <a:tc>
                  <a:txBody>
                    <a:bodyPr/>
                    <a:lstStyle/>
                    <a:p>
                      <a:pPr algn="l">
                        <a:defRPr sz="1800"/>
                      </a:pPr>
                      <a:r>
                        <a:rPr sz="700">
                          <a:sym typeface="Arial"/>
                        </a:rPr>
                        <a:t>Normalises typical account activity and classifies sequences of transactions as fraudulent or genuine.</a:t>
                      </a:r>
                    </a:p>
                  </a:txBody>
                  <a:tcPr marL="45720" marR="45720" marT="45720" marB="45720" anchor="ctr" anchorCtr="0" horzOverflow="overflow"/>
                </a:tc>
                <a:tc>
                  <a:txBody>
                    <a:bodyPr/>
                    <a:lstStyle/>
                    <a:p>
                      <a:pPr algn="l">
                        <a:defRPr sz="1800"/>
                      </a:pPr>
                      <a:r>
                        <a:rPr sz="700">
                          <a:sym typeface="Arial"/>
                        </a:rPr>
                        <a:t>Sequence-aware modelling captures behavioural drift over time.</a:t>
                      </a:r>
                    </a:p>
                  </a:txBody>
                  <a:tcPr marL="45720" marR="45720" marT="45720" marB="45720" anchor="ctr" anchorCtr="0" horzOverflow="overflow"/>
                </a:tc>
                <a:tc>
                  <a:txBody>
                    <a:bodyPr/>
                    <a:lstStyle/>
                    <a:p>
                      <a:pPr algn="l">
                        <a:defRPr sz="1800"/>
                      </a:pPr>
                      <a:r>
                        <a:rPr sz="700">
                          <a:sym typeface="Arial"/>
                        </a:rPr>
                        <a:t>No inline commit/rollback integration; sequence features require history unavailable at first transaction.</a:t>
                      </a:r>
                    </a:p>
                  </a:txBody>
                  <a:tcPr marL="45720" marR="45720" marT="45720" marB="45720" anchor="ctr" anchorCtr="0" horzOverflow="overflow"/>
                </a:tc>
              </a:tr>
              <a:tr h="1541349">
                <a:tc>
                  <a:txBody>
                    <a:bodyPr/>
                    <a:lstStyle/>
                    <a:p>
                      <a:pPr algn="l">
                        <a:defRPr sz="1800"/>
                      </a:pPr>
                      <a:r>
                        <a:rPr sz="700">
                          <a:sym typeface="Arial"/>
                        </a:rPr>
                        <a:t>[Verify authors on IEEE Xplore]</a:t>
                      </a:r>
                    </a:p>
                  </a:txBody>
                  <a:tcPr marL="45720" marR="45720" marT="45720" marB="45720" anchor="ctr" anchorCtr="0" horzOverflow="overflow">
                    <a:noFill/>
                  </a:tcPr>
                </a:tc>
                <a:tc>
                  <a:txBody>
                    <a:bodyPr/>
                    <a:lstStyle/>
                    <a:p>
                      <a:pPr algn="l">
                        <a:defRPr sz="1800"/>
                      </a:pPr>
                      <a:r>
                        <a:rPr sz="700">
                          <a:sym typeface="Arial"/>
                        </a:rPr>
                        <a:t>IEEE Conference Publication, 2025</a:t>
                      </a:r>
                    </a:p>
                  </a:txBody>
                  <a:tcPr marL="45720" marR="45720" marT="45720" marB="45720" anchor="ctr" anchorCtr="0" horzOverflow="overflow">
                    <a:noFill/>
                  </a:tcPr>
                </a:tc>
                <a:tc>
                  <a:txBody>
                    <a:bodyPr/>
                    <a:lstStyle/>
                    <a:p>
                      <a:pPr algn="l">
                        <a:defRPr sz="1800"/>
                      </a:pPr>
                      <a:r>
                        <a:rPr sz="700">
                          <a:sym typeface="Arial"/>
                        </a:rPr>
                        <a:t>Machine Learning-Driven Detection of UPI Fraudulent Activities</a:t>
                      </a:r>
                    </a:p>
                  </a:txBody>
                  <a:tcPr marL="45720" marR="45720" marT="45720" marB="45720" anchor="ctr" anchorCtr="0" horzOverflow="overflow">
                    <a:noFill/>
                  </a:tcPr>
                </a:tc>
                <a:tc>
                  <a:txBody>
                    <a:bodyPr/>
                    <a:lstStyle/>
                    <a:p>
                      <a:pPr algn="l">
                        <a:defRPr sz="1800"/>
                      </a:pPr>
                      <a:r>
                        <a:rPr sz="700">
                          <a:sym typeface="Arial"/>
                        </a:rPr>
                        <a:t>Multimodal pipeline processing transaction records, QR-code images and audio from vishing attempts.</a:t>
                      </a:r>
                    </a:p>
                  </a:txBody>
                  <a:tcPr marL="45720" marR="45720" marT="45720" marB="45720" anchor="ctr" anchorCtr="0" horzOverflow="overflow">
                    <a:noFill/>
                  </a:tcPr>
                </a:tc>
                <a:tc>
                  <a:txBody>
                    <a:bodyPr/>
                    <a:lstStyle/>
                    <a:p>
                      <a:pPr algn="l">
                        <a:defRPr sz="1800"/>
                      </a:pPr>
                      <a:r>
                        <a:rPr sz="700">
                          <a:sym typeface="Arial"/>
                        </a:rPr>
                        <a:t>Covers a broad attack surface beyond the transaction record itself.</a:t>
                      </a:r>
                    </a:p>
                  </a:txBody>
                  <a:tcPr marL="45720" marR="45720" marT="45720" marB="45720" anchor="ctr" anchorCtr="0" horzOverflow="overflow">
                    <a:noFill/>
                  </a:tcPr>
                </a:tc>
                <a:tc>
                  <a:txBody>
                    <a:bodyPr/>
                    <a:lstStyle/>
                    <a:p>
                      <a:pPr algn="l">
                        <a:defRPr sz="1800"/>
                      </a:pPr>
                      <a:r>
                        <a:rPr sz="700">
                          <a:sym typeface="Arial"/>
                        </a:rPr>
                        <a:t>Heavy multimodal pipeline unsuitable for a sub-50 ms inline decision path.</a:t>
                      </a:r>
                    </a:p>
                  </a:txBody>
                  <a:tcPr marL="45720" marR="45720" marT="45720" marB="45720" anchor="ctr" anchorCtr="0" horzOverflow="overflow">
                    <a:noFill/>
                  </a:tcPr>
                </a:tc>
              </a:tr>
              <a:tr h="1541349">
                <a:tc>
                  <a:txBody>
                    <a:bodyPr/>
                    <a:lstStyle/>
                    <a:p>
                      <a:pPr algn="l">
                        <a:defRPr sz="1800"/>
                      </a:pPr>
                      <a:r>
                        <a:rPr sz="700">
                          <a:sym typeface="Arial"/>
                        </a:rPr>
                        <a:t>[Verify authors on IEEE Xplore]</a:t>
                      </a:r>
                    </a:p>
                  </a:txBody>
                  <a:tcPr marL="45720" marR="45720" marT="45720" marB="45720" anchor="ctr" anchorCtr="0" horzOverflow="overflow"/>
                </a:tc>
                <a:tc>
                  <a:txBody>
                    <a:bodyPr/>
                    <a:lstStyle/>
                    <a:p>
                      <a:pPr algn="l">
                        <a:defRPr sz="1800"/>
                      </a:pPr>
                      <a:r>
                        <a:rPr sz="700">
                          <a:sym typeface="Arial"/>
                        </a:rPr>
                        <a:t>IEEE Conference Publication, 2022</a:t>
                      </a:r>
                    </a:p>
                  </a:txBody>
                  <a:tcPr marL="45720" marR="45720" marT="45720" marB="45720" anchor="ctr" anchorCtr="0" horzOverflow="overflow"/>
                </a:tc>
                <a:tc>
                  <a:txBody>
                    <a:bodyPr/>
                    <a:lstStyle/>
                    <a:p>
                      <a:pPr algn="l">
                        <a:defRPr sz="1800"/>
                      </a:pPr>
                      <a:r>
                        <a:rPr sz="700">
                          <a:sym typeface="Arial"/>
                        </a:rPr>
                        <a:t>Degree of Accuracy in Credit Card Fraud Detection Using LOF and Isolation Forest</a:t>
                      </a:r>
                    </a:p>
                  </a:txBody>
                  <a:tcPr marL="45720" marR="45720" marT="45720" marB="45720" anchor="ctr" anchorCtr="0" horzOverflow="overflow"/>
                </a:tc>
                <a:tc>
                  <a:txBody>
                    <a:bodyPr/>
                    <a:lstStyle/>
                    <a:p>
                      <a:pPr algn="l">
                        <a:defRPr sz="1800"/>
                      </a:pPr>
                      <a:r>
                        <a:rPr sz="700">
                          <a:sym typeface="Arial"/>
                        </a:rPr>
                        <a:t>Comparative evaluation of LOF and Isolation Forest on credit card transaction data.</a:t>
                      </a:r>
                    </a:p>
                  </a:txBody>
                  <a:tcPr marL="45720" marR="45720" marT="45720" marB="45720" anchor="ctr" anchorCtr="0" horzOverflow="overflow"/>
                </a:tc>
                <a:tc>
                  <a:txBody>
                    <a:bodyPr/>
                    <a:lstStyle/>
                    <a:p>
                      <a:pPr algn="l">
                        <a:defRPr sz="1800"/>
                      </a:pPr>
                      <a:r>
                        <a:rPr sz="700">
                          <a:sym typeface="Arial"/>
                        </a:rPr>
                        <a:t>Direct empirical comparison of the two detectors central to this work.</a:t>
                      </a:r>
                    </a:p>
                  </a:txBody>
                  <a:tcPr marL="45720" marR="45720" marT="45720" marB="45720" anchor="ctr" anchorCtr="0" horzOverflow="overflow"/>
                </a:tc>
                <a:tc>
                  <a:txBody>
                    <a:bodyPr/>
                    <a:lstStyle/>
                    <a:p>
                      <a:pPr algn="l">
                        <a:defRPr sz="1800"/>
                      </a:pPr>
                      <a:r>
                        <a:rPr sz="700">
                          <a:sym typeface="Arial"/>
                        </a:rPr>
                        <a:t>Card dataset only; no deployment architecture, latency measurement or concurrency analysis.</a:t>
                      </a:r>
                    </a:p>
                  </a:txBody>
                  <a:tcPr marL="45720" marR="45720" marT="45720" marB="45720" anchor="ctr" anchorCtr="0" horzOverflow="overflow"/>
                </a:tc>
              </a:tr>
            </a:tbl>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Google Shape;202;p25"/>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01" name="Google Shape;199;p25"/>
          <p:cNvSpPr txBox="1"/>
          <p:nvPr>
            <p:ph type="title"/>
          </p:nvPr>
        </p:nvSpPr>
        <p:spPr>
          <a:prstGeom prst="rect">
            <a:avLst/>
          </a:prstGeom>
        </p:spPr>
        <p:txBody>
          <a:bodyPr/>
          <a:lstStyle>
            <a:lvl1pPr>
              <a:defRPr sz="3600"/>
            </a:lvl1pPr>
          </a:lstStyle>
          <a:p>
            <a:pPr/>
            <a:r>
              <a:t>INFERENCES FROM LITERATURE SURVEY</a:t>
            </a:r>
          </a:p>
        </p:txBody>
      </p:sp>
      <p:sp>
        <p:nvSpPr>
          <p:cNvPr id="202" name="Google Shape;200;p25"/>
          <p:cNvSpPr txBox="1"/>
          <p:nvPr>
            <p:ph type="body" idx="1"/>
          </p:nvPr>
        </p:nvSpPr>
        <p:spPr>
          <a:xfrm>
            <a:off x="457200" y="1600200"/>
            <a:ext cx="8229600" cy="4525963"/>
          </a:xfrm>
          <a:prstGeom prst="rect">
            <a:avLst/>
          </a:prstGeom>
        </p:spPr>
        <p:txBody>
          <a:bodyPr/>
          <a:lstStyle/>
          <a:p>
            <a:pPr marL="342900" algn="just">
              <a:spcBef>
                <a:spcPts val="0"/>
              </a:spcBef>
              <a:buSzPct val="100000"/>
              <a:defRPr sz="1600"/>
            </a:pPr>
            <a:r>
              <a:t>Existing UPI fraud research is overwhelmingly post-transaction: models score a payment after it settles, leaving recovery as the only remedy.</a:t>
            </a:r>
          </a:p>
          <a:p>
            <a:pPr marL="342900" algn="just">
              <a:spcBef>
                <a:spcPts val="0"/>
              </a:spcBef>
              <a:buSzPct val="100000"/>
              <a:defRPr sz="1600"/>
            </a:pPr>
            <a:r>
              <a:t>Supervised approaches dominate, yet real fraud labels are scarce, delayed and unable to describe novel attack patterns.</a:t>
            </a:r>
          </a:p>
          <a:p>
            <a:pPr marL="342900" algn="just">
              <a:spcBef>
                <a:spcPts val="0"/>
              </a:spcBef>
              <a:buSzPct val="100000"/>
              <a:defRPr sz="1600"/>
            </a:pPr>
            <a:r>
              <a:t>No reviewed work integrates the fraud verdict with database transaction semantics - none provides atomic rollback of a flagged transfer.</a:t>
            </a:r>
          </a:p>
          <a:p>
            <a:pPr marL="342900" algn="just">
              <a:spcBef>
                <a:spcPts val="0"/>
              </a:spcBef>
              <a:buSzPct val="100000"/>
              <a:defRPr sz="1600"/>
            </a:pPr>
            <a:r>
              <a:t>Reported accuracy is rarely paired with latency measurement, so the feasibility of inline deployment remains unestablished.</a:t>
            </a:r>
          </a:p>
          <a:p>
            <a:pPr marL="342900" algn="just">
              <a:spcBef>
                <a:spcPts val="0"/>
              </a:spcBef>
              <a:buSzPct val="100000"/>
              <a:defRPr sz="1600"/>
            </a:pPr>
            <a:r>
              <a:t>Evaluation typically reports ROC-AUC alone, which is misleading for a blocker constrained by an operational false-positive budget.</a:t>
            </a:r>
          </a:p>
        </p:txBody>
      </p:sp>
      <p:sp>
        <p:nvSpPr>
          <p:cNvPr id="203" name="Google Shape;201;p25"/>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04" name="Google Shape;203;p25"/>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Google Shape;210;p26"/>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 - CSE</a:t>
            </a:r>
          </a:p>
        </p:txBody>
      </p:sp>
      <p:sp>
        <p:nvSpPr>
          <p:cNvPr id="209" name="Google Shape;208;p26"/>
          <p:cNvSpPr txBox="1"/>
          <p:nvPr>
            <p:ph type="title"/>
          </p:nvPr>
        </p:nvSpPr>
        <p:spPr>
          <a:xfrm>
            <a:off x="495300" y="380999"/>
            <a:ext cx="8229600" cy="655640"/>
          </a:xfrm>
          <a:prstGeom prst="rect">
            <a:avLst/>
          </a:prstGeom>
        </p:spPr>
        <p:txBody>
          <a:bodyPr/>
          <a:lstStyle>
            <a:lvl1pPr>
              <a:defRPr sz="4000"/>
            </a:lvl1pPr>
          </a:lstStyle>
          <a:p>
            <a:pPr/>
            <a:r>
              <a:t>PROPOSED SYSTEM (1/4)</a:t>
            </a:r>
          </a:p>
        </p:txBody>
      </p:sp>
      <p:sp>
        <p:nvSpPr>
          <p:cNvPr id="210" name="Google Shape;209;p26"/>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11" name="Google Shape;211;p26"/>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2" name="Google Shape;212;p26"/>
          <p:cNvSpPr txBox="1"/>
          <p:nvPr>
            <p:ph type="body" idx="1"/>
          </p:nvPr>
        </p:nvSpPr>
        <p:spPr>
          <a:xfrm>
            <a:off x="489439" y="1525694"/>
            <a:ext cx="8229601" cy="4984751"/>
          </a:xfrm>
          <a:prstGeom prst="rect">
            <a:avLst/>
          </a:prstGeom>
        </p:spPr>
        <p:txBody>
          <a:bodyPr/>
          <a:lstStyle/>
          <a:p>
            <a:pPr marL="342900" algn="just">
              <a:spcBef>
                <a:spcPts val="0"/>
              </a:spcBef>
              <a:buSzPct val="100000"/>
              <a:defRPr sz="1400"/>
            </a:pPr>
            <a:r>
              <a:t>The React client captures payment inputs (payee VPA, amount, transaction type, merchant category, MPIN) together with silent device telemetry, and posts them to the Spring Boot switch.</a:t>
            </a:r>
          </a:p>
          <a:p>
            <a:pPr marL="342900" algn="just">
              <a:spcBef>
                <a:spcPts val="0"/>
              </a:spcBef>
              <a:buSzPct val="100000"/>
              <a:defRPr sz="1400"/>
            </a:pPr>
            <a:r>
              <a:t>The switch authenticates the MPIN, acquires PESSIMISTIC_WRITE locks on the payer and payee ledger rows in ascending id order, and applies the debit and credit without committing them.</a:t>
            </a:r>
          </a:p>
          <a:p>
            <a:pPr marL="342900" algn="just">
              <a:spcBef>
                <a:spcPts val="0"/>
              </a:spcBef>
              <a:buSzPct val="100000"/>
              <a:defRPr sz="1400"/>
            </a:pPr>
            <a:r>
              <a:t>The request thread is suspended while the FastAPI microservice scores a 13-feature vector with an Isolation Forest and returns a normalised anomaly score with a binary verdict.</a:t>
            </a:r>
          </a:p>
          <a:p>
            <a:pPr marL="342900" algn="just">
              <a:spcBef>
                <a:spcPts val="0"/>
              </a:spcBef>
              <a:buSzPct val="100000"/>
              <a:defRPr sz="1400"/>
            </a:pPr>
            <a:r>
              <a:t>A clean verdict commits the ledger; a fraudulent verdict writes the audit row and account lock in an independent transaction, then throws an exception that rolls the money movement back atomically.</a:t>
            </a:r>
          </a:p>
          <a:p>
            <a:pPr marL="342900" algn="just">
              <a:spcBef>
                <a:spcPts val="0"/>
              </a:spcBef>
              <a:buSzTx/>
              <a:buNone/>
              <a:defRPr b="1" sz="1400"/>
            </a:pPr>
            <a:r>
              <a:t>Advantages of the Proposed System</a:t>
            </a:r>
          </a:p>
          <a:p>
            <a:pPr marL="342900" algn="just">
              <a:spcBef>
                <a:spcPts val="0"/>
              </a:spcBef>
              <a:buSzPct val="100000"/>
              <a:defRPr sz="1400"/>
            </a:pPr>
            <a:r>
              <a:t>Blocks fraud before settlement rather than detecting it afterwards.</a:t>
            </a:r>
          </a:p>
          <a:p>
            <a:pPr marL="342900" algn="just">
              <a:spcBef>
                <a:spcPts val="0"/>
              </a:spcBef>
              <a:buSzPct val="100000"/>
              <a:defRPr sz="1400"/>
            </a:pPr>
            <a:r>
              <a:t>Guarantees ledger integrity through ACID rollback with a surviving audit trail.</a:t>
            </a:r>
          </a:p>
          <a:p>
            <a:pPr marL="342900" algn="just">
              <a:spcBef>
                <a:spcPts val="0"/>
              </a:spcBef>
              <a:buSzPct val="100000"/>
              <a:defRPr sz="1400"/>
            </a:pPr>
            <a:r>
              <a:t>Requires no fraud labels, so novel attack patterns can be flagged.</a:t>
            </a:r>
          </a:p>
          <a:p>
            <a:pPr marL="342900" algn="just">
              <a:spcBef>
                <a:spcPts val="0"/>
              </a:spcBef>
              <a:buSzPct val="100000"/>
              <a:defRPr sz="1400"/>
            </a:pPr>
            <a:r>
              <a:t>Fails closed: an unreachable scoring node rejects payments rather than admitting them unscored.</a:t>
            </a:r>
          </a:p>
          <a:p>
            <a:pPr marL="342900" algn="just">
              <a:spcBef>
                <a:spcPts val="0"/>
              </a:spcBef>
              <a:buSzPct val="100000"/>
              <a:defRPr sz="1400"/>
            </a:pPr>
            <a:r>
              <a:t>Achieves an end-to-end decision in 11-12 ms, within the sub-50 ms budget.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Google Shape;221;p27"/>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17" name="Google Shape;218;p27"/>
          <p:cNvSpPr txBox="1"/>
          <p:nvPr>
            <p:ph type="title"/>
          </p:nvPr>
        </p:nvSpPr>
        <p:spPr>
          <a:xfrm>
            <a:off x="381000" y="381000"/>
            <a:ext cx="8229600" cy="609600"/>
          </a:xfrm>
          <a:prstGeom prst="rect">
            <a:avLst/>
          </a:prstGeom>
        </p:spPr>
        <p:txBody>
          <a:bodyPr/>
          <a:lstStyle>
            <a:lvl1pPr>
              <a:defRPr sz="3900"/>
            </a:lvl1pPr>
          </a:lstStyle>
          <a:p>
            <a:pPr/>
            <a:r>
              <a:t>PROPOSED SYSTEM(2/4)</a:t>
            </a:r>
          </a:p>
        </p:txBody>
      </p:sp>
      <p:sp>
        <p:nvSpPr>
          <p:cNvPr id="218" name="Google Shape;219;p27"/>
          <p:cNvSpPr txBox="1"/>
          <p:nvPr>
            <p:ph type="body" sz="quarter" idx="1"/>
          </p:nvPr>
        </p:nvSpPr>
        <p:spPr>
          <a:xfrm>
            <a:off x="1295400" y="2971800"/>
            <a:ext cx="5410200" cy="762000"/>
          </a:xfrm>
          <a:prstGeom prst="rect">
            <a:avLst/>
          </a:prstGeom>
        </p:spPr>
        <p:txBody>
          <a:bodyPr/>
          <a:lstStyle>
            <a:lvl1pPr marL="0" indent="0" algn="just">
              <a:lnSpc>
                <a:spcPct val="80000"/>
              </a:lnSpc>
              <a:spcBef>
                <a:spcPts val="0"/>
              </a:spcBef>
              <a:buSzTx/>
              <a:buNone/>
              <a:defRPr sz="2800"/>
            </a:lvl1pPr>
          </a:lstStyle>
          <a:p>
            <a:pPr/>
            <a:r>
              <a:t>             </a:t>
            </a:r>
          </a:p>
        </p:txBody>
      </p:sp>
      <p:sp>
        <p:nvSpPr>
          <p:cNvPr id="219" name="Google Shape;220;p27"/>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20" name="Google Shape;222;p27"/>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21" name="pasted-movie.png" descr="pasted-movie.png"/>
          <p:cNvPicPr>
            <a:picLocks noChangeAspect="1"/>
          </p:cNvPicPr>
          <p:nvPr/>
        </p:nvPicPr>
        <p:blipFill>
          <a:blip r:embed="rId3">
            <a:extLst/>
          </a:blip>
          <a:stretch>
            <a:fillRect/>
          </a:stretch>
        </p:blipFill>
        <p:spPr>
          <a:xfrm>
            <a:off x="380999" y="1449388"/>
            <a:ext cx="8229601" cy="441415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Google Shape;230;p28"/>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26" name="Google Shape;228;p28"/>
          <p:cNvSpPr txBox="1"/>
          <p:nvPr>
            <p:ph type="title"/>
          </p:nvPr>
        </p:nvSpPr>
        <p:spPr>
          <a:prstGeom prst="rect">
            <a:avLst/>
          </a:prstGeom>
        </p:spPr>
        <p:txBody>
          <a:bodyPr/>
          <a:lstStyle/>
          <a:p>
            <a:pPr/>
            <a:r>
              <a:t>PROPOSED SYSTEM(3/4)</a:t>
            </a:r>
          </a:p>
        </p:txBody>
      </p:sp>
      <p:sp>
        <p:nvSpPr>
          <p:cNvPr id="227" name="Google Shape;229;p28"/>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28" name="Google Shape;231;p28"/>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229" name="Google Shape;232;p28"/>
          <p:cNvGraphicFramePr/>
          <p:nvPr/>
        </p:nvGraphicFramePr>
        <p:xfrm>
          <a:off x="800363" y="1600200"/>
          <a:ext cx="7543251" cy="461771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95225"/>
                <a:gridCol w="5448025"/>
              </a:tblGrid>
              <a:tr h="384048">
                <a:tc>
                  <a:txBody>
                    <a:bodyPr/>
                    <a:lstStyle/>
                    <a:p>
                      <a:pPr algn="l">
                        <a:defRPr sz="1800"/>
                      </a:pPr>
                      <a:r>
                        <a:rPr b="1" sz="1100">
                          <a:latin typeface="Calibri"/>
                          <a:ea typeface="Calibri"/>
                          <a:cs typeface="Calibri"/>
                        </a:rPr>
                        <a:t>Modules</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b="1" sz="1100">
                          <a:latin typeface="Calibri"/>
                          <a:ea typeface="Calibri"/>
                          <a:cs typeface="Calibri"/>
                        </a:rPr>
                        <a:t>Activities</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Requirement Analysis</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Study UPI transaction flows and fraud patterns; define the sub-50 ms inline decision budget and the fail-closed safety policy.</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Data Preparation</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Ingest 250,000 UPI transactions; clean and encode 13 pre-settlement features; exclude post-settlement fields that would leak the outcome.</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Model Development</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Train the unsupervised Isolation Forest, calibrate scores to [0,1] with a winsorised ceiling, and serialise the model bundle to .joblib.</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Backend &amp; Ledger Development</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Build the Spring Boot switch with H2 ledger, pessimistic row locking, MPIN authentication, and the rollback-with-surviving-audit pattern.</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Service Integration</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Connect the React client, Spring Boot switch and FastAPI scoring node over REST with bounded timeouts and fail-closed error handling.</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r h="705611">
                <a:tc>
                  <a:txBody>
                    <a:bodyPr/>
                    <a:lstStyle/>
                    <a:p>
                      <a:pPr algn="l">
                        <a:defRPr sz="1800"/>
                      </a:pPr>
                      <a:r>
                        <a:rPr sz="1000">
                          <a:latin typeface="Calibri"/>
                          <a:ea typeface="Calibri"/>
                          <a:cs typeface="Calibri"/>
                        </a:rPr>
                        <a:t>Testing &amp; Evaluation</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sz="1000">
                          <a:latin typeface="Calibri"/>
                          <a:ea typeface="Calibri"/>
                          <a:cs typeface="Calibri"/>
                        </a:rPr>
                        <a:t>Verify commit, rollback, account-lock and fail-closed paths; benchmark latency, concurrency and detection under synthetic fraud injection.</a:t>
                      </a:r>
                    </a:p>
                  </a:txBody>
                  <a:tcPr marL="41900" marR="41900" marT="41900" marB="4190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r>
            </a:tbl>
          </a:graphicData>
        </a:graphic>
      </p:graphicFrame>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Google Shape;240;p29"/>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34" name="Google Shape;237;p29"/>
          <p:cNvSpPr txBox="1"/>
          <p:nvPr>
            <p:ph type="title"/>
          </p:nvPr>
        </p:nvSpPr>
        <p:spPr>
          <a:xfrm>
            <a:off x="495300" y="380999"/>
            <a:ext cx="8229600" cy="655640"/>
          </a:xfrm>
          <a:prstGeom prst="rect">
            <a:avLst/>
          </a:prstGeom>
        </p:spPr>
        <p:txBody>
          <a:bodyPr/>
          <a:lstStyle>
            <a:lvl1pPr>
              <a:defRPr sz="3900"/>
            </a:lvl1pPr>
          </a:lstStyle>
          <a:p>
            <a:pPr/>
            <a:r>
              <a:t>PROPOSED SYSTEM-Algorithm(4/4)</a:t>
            </a:r>
          </a:p>
        </p:txBody>
      </p:sp>
      <p:sp>
        <p:nvSpPr>
          <p:cNvPr id="235" name="Google Shape;238;p29"/>
          <p:cNvSpPr txBox="1"/>
          <p:nvPr>
            <p:ph type="body" idx="1"/>
          </p:nvPr>
        </p:nvSpPr>
        <p:spPr>
          <a:xfrm>
            <a:off x="533400" y="1505243"/>
            <a:ext cx="8001000" cy="4590757"/>
          </a:xfrm>
          <a:prstGeom prst="rect">
            <a:avLst/>
          </a:prstGeom>
        </p:spPr>
        <p:txBody>
          <a:bodyPr/>
          <a:lstStyle/>
          <a:p>
            <a:pPr marL="342900" indent="-406400" algn="just">
              <a:lnSpc>
                <a:spcPct val="110000"/>
              </a:lnSpc>
              <a:spcBef>
                <a:spcPts val="400"/>
              </a:spcBef>
              <a:buSzPts val="1500"/>
              <a:defRPr sz="1500"/>
            </a:pPr>
            <a:r>
              <a:t>Feature Assembly: 6 user inputs enriched to a 13-dimensional vector using client telemetry and server-resolved account and temporal data</a:t>
            </a:r>
            <a:endParaRPr sz="2800"/>
          </a:p>
          <a:p>
            <a:pPr marL="342900" indent="-406400" algn="just">
              <a:lnSpc>
                <a:spcPct val="110000"/>
              </a:lnSpc>
              <a:spcBef>
                <a:spcPts val="400"/>
              </a:spcBef>
              <a:buSzPts val="1500"/>
              <a:defRPr sz="1500"/>
            </a:pPr>
            <a:r>
              <a:t>Preprocessing: standard scaling of numeric features and one-hot encoding of categorical features (unknown categories handled safely)</a:t>
            </a:r>
            <a:endParaRPr sz="2800"/>
          </a:p>
          <a:p>
            <a:pPr marL="342900" indent="-406400" algn="just">
              <a:lnSpc>
                <a:spcPct val="110000"/>
              </a:lnSpc>
              <a:spcBef>
                <a:spcPts val="400"/>
              </a:spcBef>
              <a:buSzPts val="1500"/>
              <a:defRPr sz="1500"/>
            </a:pPr>
            <a:r>
              <a:t>Unsupervised Isolation Forest (200 estimators) for anomaly scoring</a:t>
            </a:r>
            <a:endParaRPr sz="2800"/>
          </a:p>
          <a:p>
            <a:pPr marL="342900" indent="-406400" algn="just">
              <a:lnSpc>
                <a:spcPct val="110000"/>
              </a:lnSpc>
              <a:spcBef>
                <a:spcPts val="400"/>
              </a:spcBef>
              <a:buSzPts val="1500"/>
              <a:defRPr sz="1500"/>
            </a:pPr>
            <a:r>
              <a:t>Score Calibration: min-max normalisation to [0,1] with the ceiling winsorised at the 99.95th percentile of the training distribution</a:t>
            </a:r>
            <a:endParaRPr sz="2800"/>
          </a:p>
          <a:p>
            <a:pPr marL="342900" indent="-406400" algn="just">
              <a:lnSpc>
                <a:spcPct val="110000"/>
              </a:lnSpc>
              <a:spcBef>
                <a:spcPts val="400"/>
              </a:spcBef>
              <a:buSzPts val="1500"/>
              <a:defRPr sz="1500"/>
            </a:pPr>
            <a:r>
              <a:t>Threshold Decision Rule: is_fraud = 1 when score &gt;= 0.85, else 0</a:t>
            </a:r>
            <a:endParaRPr sz="2800"/>
          </a:p>
          <a:p>
            <a:pPr marL="342900" indent="-406400" algn="just">
              <a:lnSpc>
                <a:spcPct val="110000"/>
              </a:lnSpc>
              <a:spcBef>
                <a:spcPts val="400"/>
              </a:spcBef>
              <a:buSzPts val="1500"/>
              <a:defRPr sz="1500"/>
            </a:pPr>
            <a:r>
              <a:t>Concurrency Control: PESSIMISTIC_WRITE row locking in ascending account-id order to prevent deadlock during the scoring hop</a:t>
            </a:r>
            <a:endParaRPr sz="2800"/>
          </a:p>
          <a:p>
            <a:pPr marL="342900" indent="-406400" algn="just">
              <a:lnSpc>
                <a:spcPct val="110000"/>
              </a:lnSpc>
              <a:spcBef>
                <a:spcPts val="400"/>
              </a:spcBef>
              <a:buSzPts val="1500"/>
              <a:defRPr sz="1500"/>
            </a:pPr>
            <a:r>
              <a:t>Atomic Rollback: FraudulentTransactionException triggers ledger rollback while REQUIRES_NEW propagation preserves the audit row and account lock</a:t>
            </a:r>
            <a:endParaRPr sz="2800"/>
          </a:p>
          <a:p>
            <a:pPr marL="342900" indent="-406400" algn="just">
              <a:lnSpc>
                <a:spcPct val="110000"/>
              </a:lnSpc>
              <a:spcBef>
                <a:spcPts val="400"/>
              </a:spcBef>
              <a:buSzPts val="1500"/>
              <a:defRPr sz="1500"/>
            </a:pPr>
            <a:r>
              <a:t>*The inline interception and rollback mechanism overcomes the key limitation of existing work, in which fraud is scored only after the transaction has already settled.</a:t>
            </a:r>
          </a:p>
        </p:txBody>
      </p:sp>
      <p:sp>
        <p:nvSpPr>
          <p:cNvPr id="236" name="Google Shape;239;p29"/>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37" name="Google Shape;241;p29"/>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Google Shape;248;p30"/>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42" name="Google Shape;246;p30"/>
          <p:cNvSpPr txBox="1"/>
          <p:nvPr>
            <p:ph type="title"/>
          </p:nvPr>
        </p:nvSpPr>
        <p:spPr>
          <a:prstGeom prst="rect">
            <a:avLst/>
          </a:prstGeom>
        </p:spPr>
        <p:txBody>
          <a:bodyPr/>
          <a:lstStyle/>
          <a:p>
            <a:pPr/>
            <a:r>
              <a:t>References</a:t>
            </a:r>
          </a:p>
        </p:txBody>
      </p:sp>
      <p:sp>
        <p:nvSpPr>
          <p:cNvPr id="243" name="Google Shape;247;p30"/>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44" name="Google Shape;249;p30"/>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45" name="Google Shape;250;p30"/>
          <p:cNvSpPr txBox="1"/>
          <p:nvPr/>
        </p:nvSpPr>
        <p:spPr>
          <a:xfrm>
            <a:off x="655325" y="1828800"/>
            <a:ext cx="7376150" cy="464526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defTabSz="457200">
              <a:spcBef>
                <a:spcPts val="1200"/>
              </a:spcBef>
              <a:defRPr sz="1200">
                <a:latin typeface="Times Roman"/>
                <a:ea typeface="Times Roman"/>
                <a:cs typeface="Times Roman"/>
                <a:sym typeface="Times Roman"/>
              </a:defRPr>
            </a:pPr>
            <a:r>
              <a:t>[1] A. Abdallah, M. A. Maarof, and A. Zainal, "Fraud detection system: A survey," </a:t>
            </a:r>
            <a:r>
              <a:rPr i="1"/>
              <a:t>Journal of Network and Computer Applications</a:t>
            </a:r>
            <a:r>
              <a:t>, vol. 68, pp. 90–113, Jun. 2016.</a:t>
            </a:r>
          </a:p>
          <a:p>
            <a:pPr defTabSz="457200">
              <a:spcBef>
                <a:spcPts val="1200"/>
              </a:spcBef>
              <a:defRPr sz="1200">
                <a:latin typeface="Times Roman"/>
                <a:ea typeface="Times Roman"/>
                <a:cs typeface="Times Roman"/>
                <a:sym typeface="Times Roman"/>
              </a:defRPr>
            </a:pPr>
            <a:r>
              <a:t>[2] A. O. Adewumi and A. A. Akinyelu, "A survey of machine-learning and nature-inspired based credit card fraud detection techniques," </a:t>
            </a:r>
            <a:r>
              <a:rPr i="1"/>
              <a:t>International Journal of System Assurance Engineering and Management</a:t>
            </a:r>
            <a:r>
              <a:t>, vol. 8, no. 2, pp. 937–953, Jun. 2017.</a:t>
            </a:r>
          </a:p>
          <a:p>
            <a:pPr defTabSz="457200">
              <a:spcBef>
                <a:spcPts val="1200"/>
              </a:spcBef>
              <a:defRPr sz="1200">
                <a:latin typeface="Times Roman"/>
                <a:ea typeface="Times Roman"/>
                <a:cs typeface="Times Roman"/>
                <a:sym typeface="Times Roman"/>
              </a:defRPr>
            </a:pPr>
            <a:r>
              <a:t>[3] M. M. Breunig, H.-P. Kriegel, R. T. Ng, and J. Sander, "LOF: Identifying density-based local outliers," in </a:t>
            </a:r>
            <a:r>
              <a:rPr i="1"/>
              <a:t>Proc. ACM SIGMOD Int. Conf. Management of Data</a:t>
            </a:r>
            <a:r>
              <a:t>, May 2000, pp. 93–104.</a:t>
            </a:r>
          </a:p>
          <a:p>
            <a:pPr defTabSz="457200">
              <a:spcBef>
                <a:spcPts val="1200"/>
              </a:spcBef>
              <a:defRPr sz="1200">
                <a:latin typeface="Times Roman"/>
                <a:ea typeface="Times Roman"/>
                <a:cs typeface="Times Roman"/>
                <a:sym typeface="Times Roman"/>
              </a:defRPr>
            </a:pPr>
            <a:r>
              <a:t>[4] G. O. Campos, A. Zimek, J. Sander, </a:t>
            </a:r>
            <a:r>
              <a:rPr i="1"/>
              <a:t>et al.</a:t>
            </a:r>
            <a:r>
              <a:t>, "On the evaluation of unsupervised outlier detection: Measures, datasets, and an empirical study," </a:t>
            </a:r>
            <a:r>
              <a:rPr i="1"/>
              <a:t>Data Mining and Knowledge Discovery</a:t>
            </a:r>
            <a:r>
              <a:t>, vol. 30, no. 4, pp. 891–927, Jul. 2016.</a:t>
            </a:r>
          </a:p>
          <a:p>
            <a:pPr defTabSz="457200">
              <a:spcBef>
                <a:spcPts val="1200"/>
              </a:spcBef>
              <a:defRPr sz="1200">
                <a:latin typeface="Times Roman"/>
                <a:ea typeface="Times Roman"/>
                <a:cs typeface="Times Roman"/>
                <a:sym typeface="Times Roman"/>
              </a:defRPr>
            </a:pPr>
            <a:r>
              <a:t>[5] R. Jani, M. R. Kumar, N. Gumasthi, S. Singla, and T. Kailasam, "Reinforcement learning for UPI fraud detection: Actor critic optimization approach," in </a:t>
            </a:r>
            <a:r>
              <a:rPr i="1"/>
              <a:t>Artificial Intelligence Applications and Innovations (AIAI 2025)</a:t>
            </a:r>
            <a:r>
              <a:t>, Cham, Switzerland: Springer, 2025.</a:t>
            </a:r>
          </a:p>
          <a:p>
            <a:pPr defTabSz="457200">
              <a:spcBef>
                <a:spcPts val="1200"/>
              </a:spcBef>
              <a:defRPr sz="1200">
                <a:latin typeface="Times Roman"/>
                <a:ea typeface="Times Roman"/>
                <a:cs typeface="Times Roman"/>
                <a:sym typeface="Times Roman"/>
              </a:defRPr>
            </a:pPr>
            <a:r>
              <a:t>[6] F. T. Liu, K. M. Ting, and Z.-H. Zhou, "Isolation forest," in </a:t>
            </a:r>
            <a:r>
              <a:rPr i="1"/>
              <a:t>Proc. 8th IEEE Int. Conf. Data Mining</a:t>
            </a:r>
            <a:r>
              <a:t>, Dec. 2008, pp. 413–422.</a:t>
            </a:r>
          </a:p>
          <a:p>
            <a:pPr defTabSz="457200">
              <a:spcBef>
                <a:spcPts val="1200"/>
              </a:spcBef>
              <a:defRPr sz="1200">
                <a:latin typeface="Times Roman"/>
                <a:ea typeface="Times Roman"/>
                <a:cs typeface="Times Roman"/>
                <a:sym typeface="Times Roman"/>
              </a:defRPr>
            </a:pPr>
            <a:r>
              <a:t>[7] B. Schölkopf, J. C. Platt, J. Shawe-Taylor, A. J. Smola, and R. C. Williamson, "Estimating the support of a high-dimensional distribution," </a:t>
            </a:r>
            <a:r>
              <a:rPr i="1"/>
              <a:t>Neural Computation</a:t>
            </a:r>
            <a:r>
              <a:t>, vol. 13, no. 7, pp. 1443–1471, Jul. 2001.</a:t>
            </a:r>
          </a:p>
          <a:p>
            <a:pPr defTabSz="457200">
              <a:spcBef>
                <a:spcPts val="1200"/>
              </a:spcBef>
              <a:defRPr sz="1200">
                <a:latin typeface="Times Roman"/>
                <a:ea typeface="Times Roman"/>
                <a:cs typeface="Times Roman"/>
                <a:sym typeface="Times Roman"/>
              </a:defRPr>
            </a:pPr>
            <a:r>
              <a:t>[8] V. Thayanidhi, M. Srivarshan, and M. Shalini, "UPI fraud detection using machine learning," in </a:t>
            </a:r>
            <a:r>
              <a:rPr i="1"/>
              <a:t>Proc. Int. Conf. Smart Data Intelligence (ICSMDI 2025)</a:t>
            </a:r>
            <a:r>
              <a:t>, Cham, Switzerland: Springer, 2026.</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References"/>
          <p:cNvSpPr txBox="1"/>
          <p:nvPr>
            <p:ph type="title"/>
          </p:nvPr>
        </p:nvSpPr>
        <p:spPr>
          <a:prstGeom prst="rect">
            <a:avLst/>
          </a:prstGeom>
        </p:spPr>
        <p:txBody>
          <a:bodyPr/>
          <a:lstStyle/>
          <a:p>
            <a:pPr/>
            <a:r>
              <a:t>References</a:t>
            </a:r>
          </a:p>
        </p:txBody>
      </p:sp>
      <p:sp>
        <p:nvSpPr>
          <p:cNvPr id="25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1" name="[9] R. Jani, M. R. Kumar, N. Gumasthi, S. Singla, and T. Kailasam, &quot;Reinforcement learning for UPI fraud detection: Actor critic optimization approach,&quot; in Artificial Intelligence Applications and Innovations (AIAI 2025), Cham, Switzerland: Springer, 202"/>
          <p:cNvSpPr txBox="1"/>
          <p:nvPr/>
        </p:nvSpPr>
        <p:spPr>
          <a:xfrm>
            <a:off x="493059" y="1452223"/>
            <a:ext cx="7619256" cy="400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1200">
                <a:latin typeface="Times Roman"/>
                <a:ea typeface="Times Roman"/>
                <a:cs typeface="Times Roman"/>
                <a:sym typeface="Times Roman"/>
              </a:defRPr>
            </a:pPr>
            <a:r>
              <a:t>[9] R. Jani, M. R. Kumar, N. Gumasthi, S. Singla, and T. Kailasam, "Reinforcement learning for UPI fraud detection: Actor critic optimization approach," in </a:t>
            </a:r>
            <a:r>
              <a:rPr i="1"/>
              <a:t>Artificial Intelligence Applications and Innovations (AIAI 2025)</a:t>
            </a:r>
            <a:r>
              <a:t>, Cham, Switzerland: Springer, 2025.</a:t>
            </a:r>
          </a:p>
          <a:p>
            <a:pPr defTabSz="457200">
              <a:spcBef>
                <a:spcPts val="1200"/>
              </a:spcBef>
              <a:defRPr sz="1200">
                <a:latin typeface="Times Roman"/>
                <a:ea typeface="Times Roman"/>
                <a:cs typeface="Times Roman"/>
                <a:sym typeface="Times Roman"/>
              </a:defRPr>
            </a:pPr>
            <a:r>
              <a:t>[10] F. T. Liu, K. M. Ting, and Z.-H. Zhou, "Isolation forest," in </a:t>
            </a:r>
            <a:r>
              <a:rPr i="1"/>
              <a:t>Proc. 8th IEEE Int. Conf. Data Mining</a:t>
            </a:r>
            <a:r>
              <a:t>, Dec. 2008, pp. 413–422.</a:t>
            </a:r>
          </a:p>
          <a:p>
            <a:pPr defTabSz="457200">
              <a:spcBef>
                <a:spcPts val="1200"/>
              </a:spcBef>
              <a:defRPr sz="1200">
                <a:latin typeface="Times Roman"/>
                <a:ea typeface="Times Roman"/>
                <a:cs typeface="Times Roman"/>
                <a:sym typeface="Times Roman"/>
              </a:defRPr>
            </a:pPr>
            <a:r>
              <a:t>[11] R. Rani, A. Alam, and A. Javed, "Secure UPI: Machine learning-driven fraud detection system for UPI transactions," in </a:t>
            </a:r>
            <a:r>
              <a:rPr i="1"/>
              <a:t>Proc. 2nd Int. Conf. Device Intelligence and Microelectronics (ICDT)</a:t>
            </a:r>
            <a:r>
              <a:t>, Feb. 2024, pp. 1–6.</a:t>
            </a:r>
          </a:p>
          <a:p>
            <a:pPr defTabSz="457200">
              <a:spcBef>
                <a:spcPts val="1200"/>
              </a:spcBef>
              <a:defRPr sz="1200">
                <a:latin typeface="Times Roman"/>
                <a:ea typeface="Times Roman"/>
                <a:cs typeface="Times Roman"/>
                <a:sym typeface="Times Roman"/>
              </a:defRPr>
            </a:pPr>
            <a:r>
              <a:t>[12] B. Schölkopf, J. C. Platt, J. Shawe-Taylor, A. J. Smola, and R. C. Williamson, "Estimating the support of a high-dimensional distribution," </a:t>
            </a:r>
            <a:r>
              <a:rPr i="1"/>
              <a:t>Neural Computation</a:t>
            </a:r>
            <a:r>
              <a:t>, vol. 13, no. 7, pp. 1443–1471, Jul. 2001.</a:t>
            </a:r>
          </a:p>
          <a:p>
            <a:pPr defTabSz="457200">
              <a:spcBef>
                <a:spcPts val="1200"/>
              </a:spcBef>
              <a:defRPr sz="1200">
                <a:latin typeface="Times Roman"/>
                <a:ea typeface="Times Roman"/>
                <a:cs typeface="Times Roman"/>
                <a:sym typeface="Times Roman"/>
              </a:defRPr>
            </a:pPr>
            <a:r>
              <a:t>[13] V. Thayanidhi, M. Srivarshan, and M. Shalini, "UPI fraud detection using machine learning," in </a:t>
            </a:r>
            <a:r>
              <a:rPr i="1"/>
              <a:t>Proc. Int. Conf. Smart Data Intelligence (ICSMDI 2025)</a:t>
            </a:r>
            <a:r>
              <a:t>, Cham, Switzerland: Springer, 2026.</a:t>
            </a:r>
          </a:p>
          <a:p>
            <a:pPr defTabSz="457200">
              <a:spcBef>
                <a:spcPts val="1200"/>
              </a:spcBef>
              <a:defRPr sz="1200">
                <a:latin typeface="Times Roman"/>
                <a:ea typeface="Times Roman"/>
                <a:cs typeface="Times Roman"/>
                <a:sym typeface="Times Roman"/>
              </a:defRPr>
            </a:pPr>
            <a:r>
              <a:t>[14] D. Wang, J. Lin, P. Cui, </a:t>
            </a:r>
            <a:r>
              <a:rPr i="1"/>
              <a:t>et al.</a:t>
            </a:r>
            <a:r>
              <a:t>, "A semi-supervised graph attentive network for financial fraud detection," in </a:t>
            </a:r>
            <a:r>
              <a:rPr i="1"/>
              <a:t>Proc. IEEE Int. Conf. Data Mining (ICDM)</a:t>
            </a:r>
            <a:r>
              <a:t>, Nov. 2019, pp. 598–607.</a:t>
            </a:r>
          </a:p>
          <a:p>
            <a:pPr defTabSz="457200">
              <a:spcBef>
                <a:spcPts val="1200"/>
              </a:spcBef>
              <a:defRPr sz="1200">
                <a:latin typeface="Times Roman"/>
                <a:ea typeface="Times Roman"/>
                <a:cs typeface="Times Roman"/>
                <a:sym typeface="Times Roman"/>
              </a:defRPr>
            </a:pPr>
            <a:r>
              <a:t>[15] Z. Zheng, Y. Liu, X. Li, and Z. Zhang, "Heterogeneous graph neural networks for fraud detection in mobile payment," in </a:t>
            </a:r>
            <a:r>
              <a:rPr i="1"/>
              <a:t>Proc. IEEE Int. Conf. Big Data</a:t>
            </a:r>
            <a:r>
              <a:t>, Dec. 2021, pp. 1120–1127.</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3" name="Google Shape;266;p32"/>
          <p:cNvSpPr txBox="1"/>
          <p:nvPr/>
        </p:nvSpPr>
        <p:spPr>
          <a:xfrm>
            <a:off x="3169924" y="6414780"/>
            <a:ext cx="2804151"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School of Computing</a:t>
            </a:r>
          </a:p>
        </p:txBody>
      </p:sp>
      <p:sp>
        <p:nvSpPr>
          <p:cNvPr id="254" name="Google Shape;264;p32"/>
          <p:cNvSpPr txBox="1"/>
          <p:nvPr>
            <p:ph type="title"/>
          </p:nvPr>
        </p:nvSpPr>
        <p:spPr>
          <a:prstGeom prst="rect">
            <a:avLst/>
          </a:prstGeom>
        </p:spPr>
        <p:txBody>
          <a:bodyPr/>
          <a:lstStyle/>
          <a:p>
            <a:pPr/>
            <a:r>
              <a:t>THANK YOU</a:t>
            </a:r>
          </a:p>
        </p:txBody>
      </p:sp>
      <p:sp>
        <p:nvSpPr>
          <p:cNvPr id="255" name="Google Shape;265;p32"/>
          <p:cNvSpPr txBox="1"/>
          <p:nvPr/>
        </p:nvSpPr>
        <p:spPr>
          <a:xfrm>
            <a:off x="502925" y="6414780"/>
            <a:ext cx="2042150"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23 July 2026</a:t>
            </a:r>
          </a:p>
        </p:txBody>
      </p:sp>
      <p:sp>
        <p:nvSpPr>
          <p:cNvPr id="256" name="Google Shape;267;p32"/>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7" name="Google Shape;268;p32"/>
          <p:cNvSpPr txBox="1"/>
          <p:nvPr/>
        </p:nvSpPr>
        <p:spPr>
          <a:xfrm>
            <a:off x="769469" y="2736501"/>
            <a:ext cx="7827490" cy="130831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just">
              <a:defRPr sz="2800">
                <a:latin typeface="Calibri"/>
                <a:ea typeface="Calibri"/>
                <a:cs typeface="Calibri"/>
                <a:sym typeface="Calibri"/>
              </a:defRPr>
            </a:lvl1pPr>
          </a:lstStyle>
          <a:p>
            <a:pPr/>
            <a:r>
              <a:t>We thank God, Our Department, Guide, Panel Members, Supportive Professors and all Technical and non Technical staff who helped us in our Project.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ustom Design">
      <a:majorFont>
        <a:latin typeface="Arial"/>
        <a:ea typeface="Arial"/>
        <a:cs typeface="Arial"/>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ustom Design">
      <a:majorFont>
        <a:latin typeface="Arial"/>
        <a:ea typeface="Arial"/>
        <a:cs typeface="Arial"/>
      </a:majorFont>
      <a:minorFont>
        <a:latin typeface="Helvetica"/>
        <a:ea typeface="Helvetica"/>
        <a:cs typeface="Helvetica"/>
      </a:minorFont>
    </a:fontScheme>
    <a:fmtScheme name="Custom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